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everything on the next 12 slides answers one question — for a given agent, who pays, and when does the meter start. Note the verification date: this area is moving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new to the term: a harness is not a model and not a product. It is the runtime loop. Analogy that lands well — the instructions are the recipe, the harness is the cook. Same recipe, different cook, different dinner. The four boxes at the bottom are the whole deck in miniature: plan, reach, publish,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is the runtime between your design and the model. One-way door: an agent built on one harness cannot be moved to another — you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column their current backlog falls into. Most teams find that eighty per cent of what they want sits in the first two columns, which is the cheap answer — worth saying out loud before anyone reaches for the GitHub Copilot harness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conditions. Condition 3 sets up the autonomous-actions slide that follows — an unattended trigger has no signed-in user, so there is no identity for the licence to attach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finance team needs. Microsoft Learn, "Billing rates and management": footnote 1 restricts the no-charge inclusion to flows triggered by "When an agent calls the flow"; footnote 4 excludes Computer-Using Agents outright. The order-processing example on that same page is internal-facing and still costed in credits, because the trigger is autonomous.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highlighted rows carry the message. Agent flows are only free on one specific trigger. CUA is excluded outright. Everything else is free only while all four fair-use conditions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nothing about the agent itself changed — same harness, same knowledge, same tenant. Only the trigger changed, and that is enough to move it onto the 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reach is the fastest disqualifier. People discover it late because it is a deployment property, not an authoring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4 is the new one — autonomous triggers are credits on every harness, including the two that are otherwise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1 and 3 are deliberately the same harness and the same tenant. The only difference is who — or what — starts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per-agent hard stop is the only precise stop available. Azure budgets warn; they do not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three is the one to repeat. It is the correction most teams need to make to their cost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people at the first source in particular — it carries both the rate card and the footnotes that make the autonomous-actions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three-line summary. If they take nothing else away, it should be that the trigger decides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30352"/>
            <a:ext cx="10789920" cy="640080"/>
          </a:xfrm>
          <a:prstGeom prst="rect">
            <a:avLst/>
          </a:prstGeom>
          <a:noFill/>
          <a:ln/>
        </p:spPr>
        <p:txBody>
          <a:bodyPr wrap="square" lIns="0" tIns="0" rIns="0" bIns="0" rtlCol="0" anchor="ctr"/>
          <a:lstStyle/>
          <a:p>
            <a:pPr indent="0" marL="0">
              <a:buNone/>
            </a:pPr>
            <a:r>
              <a:rPr lang="en-US" sz="3200" b="1" dirty="0">
                <a:solidFill>
                  <a:srgbClr val="0078D4"/>
                </a:solidFill>
                <a:latin typeface="Segoe Sans Display Semibold" pitchFamily="34" charset="0"/>
                <a:ea typeface="Segoe Sans Display Semibold" pitchFamily="34" charset="-122"/>
                <a:cs typeface="Segoe Sans Display Semibold" pitchFamily="34" charset="-120"/>
              </a:rPr>
              <a:t>Harnesses, Licensing &amp; Copilot Credits</a:t>
            </a:r>
            <a:endParaRPr lang="en-US" sz="3200" dirty="0"/>
          </a:p>
        </p:txBody>
      </p:sp>
      <p:sp>
        <p:nvSpPr>
          <p:cNvPr id="3" name="Text 1"/>
          <p:cNvSpPr txBox="1"/>
          <p:nvPr/>
        </p:nvSpPr>
        <p:spPr>
          <a:xfrm>
            <a:off x="713232" y="1261872"/>
            <a:ext cx="10789920" cy="310896"/>
          </a:xfrm>
          <a:prstGeom prst="rect">
            <a:avLst/>
          </a:prstGeom>
          <a:noFill/>
          <a:ln/>
        </p:spPr>
        <p:txBody>
          <a:bodyPr wrap="square" lIns="0" tIns="0" rIns="0" bIns="0" rtlCol="0" anchor="ctr"/>
          <a:lstStyle/>
          <a:p>
            <a:pPr indent="0" marL="0">
              <a:buNone/>
            </a:pPr>
            <a:r>
              <a:rPr lang="en-US" sz="1550" dirty="0">
                <a:solidFill>
                  <a:srgbClr val="091F2C"/>
                </a:solidFill>
                <a:latin typeface="Segoe Sans Display" pitchFamily="34" charset="0"/>
                <a:ea typeface="Segoe Sans Display" pitchFamily="34" charset="-122"/>
                <a:cs typeface="Segoe Sans Display" pitchFamily="34" charset="-120"/>
              </a:rPr>
              <a:t>What Microsoft 365 Copilot covers — and what it never has</a:t>
            </a:r>
            <a:endParaRPr lang="en-US" sz="1550" dirty="0"/>
          </a:p>
        </p:txBody>
      </p:sp>
      <p:sp>
        <p:nvSpPr>
          <p:cNvPr id="4" name="Text 2"/>
          <p:cNvSpPr txBox="1"/>
          <p:nvPr/>
        </p:nvSpPr>
        <p:spPr>
          <a:xfrm>
            <a:off x="713232" y="1700784"/>
            <a:ext cx="10789920" cy="256032"/>
          </a:xfrm>
          <a:prstGeom prst="rect">
            <a:avLst/>
          </a:prstGeom>
          <a:noFill/>
          <a:ln/>
        </p:spPr>
        <p:txBody>
          <a:bodyPr wrap="square" lIns="0" tIns="0" rIns="0" bIns="0" rtlCol="0" anchor="ctr"/>
          <a:lstStyle/>
          <a:p>
            <a:pPr indent="0" marL="0">
              <a:buNone/>
            </a:pPr>
            <a:r>
              <a:rPr lang="en-US" sz="1200" b="1" dirty="0">
                <a:solidFill>
                  <a:srgbClr val="091F2C"/>
                </a:solidFill>
                <a:latin typeface="Segoe Sans Display" pitchFamily="34" charset="0"/>
                <a:ea typeface="Segoe Sans Display" pitchFamily="34" charset="-122"/>
                <a:cs typeface="Segoe Sans Display" pitchFamily="34" charset="-120"/>
              </a:rPr>
              <a:t>Vinod Dhanwe</a:t>
            </a:r>
            <a:pPr indent="0" marL="0">
              <a:buNone/>
            </a:pPr>
            <a:r>
              <a:rPr lang="en-US" sz="1200" dirty="0">
                <a:solidFill>
                  <a:srgbClr val="8DC8E8"/>
                </a:solidFill>
                <a:latin typeface="Segoe Sans Display" pitchFamily="34" charset="0"/>
                <a:ea typeface="Segoe Sans Display" pitchFamily="34" charset="-122"/>
                <a:cs typeface="Segoe Sans Display" pitchFamily="34" charset="-120"/>
              </a:rPr>
              <a:t>   |   </a:t>
            </a:r>
            <a:pPr indent="0" marL="0">
              <a:buNone/>
            </a:pPr>
            <a:r>
              <a:rPr lang="en-US" sz="1200" dirty="0">
                <a:solidFill>
                  <a:srgbClr val="3B4A54"/>
                </a:solidFill>
                <a:latin typeface="Segoe Sans Display" pitchFamily="34" charset="0"/>
                <a:ea typeface="Segoe Sans Display" pitchFamily="34" charset="-122"/>
                <a:cs typeface="Segoe Sans Display" pitchFamily="34" charset="-120"/>
              </a:rPr>
              <a:t>Snr Solutions Architect</a:t>
            </a:r>
            <a:endParaRPr lang="en-US" sz="1200" dirty="0"/>
          </a:p>
        </p:txBody>
      </p:sp>
      <p:sp>
        <p:nvSpPr>
          <p:cNvPr id="5" name="Text 3"/>
          <p:cNvSpPr txBox="1"/>
          <p:nvPr/>
        </p:nvSpPr>
        <p:spPr>
          <a:xfrm>
            <a:off x="713232" y="1975104"/>
            <a:ext cx="10789920" cy="256032"/>
          </a:xfrm>
          <a:prstGeom prst="rect">
            <a:avLst/>
          </a:prstGeom>
          <a:noFill/>
          <a:ln/>
        </p:spPr>
        <p:txBody>
          <a:bodyPr wrap="square" lIns="0" tIns="0" rIns="0" bIns="0" rtlCol="0" anchor="ctr"/>
          <a:lstStyle/>
          <a:p>
            <a:pPr indent="0" marL="0">
              <a:buNone/>
            </a:pPr>
            <a:r>
              <a:rPr lang="en-US" sz="950" dirty="0">
                <a:solidFill>
                  <a:srgbClr val="6E7B85"/>
                </a:solidFill>
                <a:latin typeface="Segoe Sans Display" pitchFamily="34" charset="0"/>
                <a:ea typeface="Segoe Sans Display" pitchFamily="34" charset="-122"/>
                <a:cs typeface="Segoe Sans Display" pitchFamily="34" charset="-120"/>
              </a:rPr>
              <a:t>Verified against Microsoft Learn documentation, August 2026</a:t>
            </a:r>
            <a:endParaRPr lang="en-US" sz="950" dirty="0"/>
          </a:p>
        </p:txBody>
      </p:sp>
      <p:pic>
        <p:nvPicPr>
          <p:cNvPr id="6" name="Image 0" descr="preencoded.png">    </p:cNvPr>
          <p:cNvPicPr>
            <a:picLocks noChangeAspect="1"/>
          </p:cNvPicPr>
          <p:nvPr/>
        </p:nvPicPr>
        <p:blipFill>
          <a:blip r:embed="rId1"/>
          <a:stretch>
            <a:fillRect/>
          </a:stretch>
        </p:blipFill>
        <p:spPr>
          <a:xfrm>
            <a:off x="2164385" y="2286000"/>
            <a:ext cx="7863840" cy="4167835"/>
          </a:xfrm>
          <a:prstGeom prst="rect">
            <a:avLst/>
          </a:prstGeom>
        </p:spPr>
      </p:pic>
      <p:sp>
        <p:nvSpPr>
          <p:cNvPr id="7" name="Text 4"/>
          <p:cNvSpPr txBox="1"/>
          <p:nvPr/>
        </p:nvSpPr>
        <p:spPr>
          <a:xfrm>
            <a:off x="4907585" y="2399386"/>
            <a:ext cx="2377440" cy="310896"/>
          </a:xfrm>
          <a:prstGeom prst="rect">
            <a:avLst/>
          </a:prstGeom>
          <a:noFill/>
          <a:ln/>
        </p:spPr>
        <p:txBody>
          <a:bodyPr wrap="square" lIns="0" tIns="0" rIns="0" bIns="0" rtlCol="0" anchor="ctr"/>
          <a:lstStyle/>
          <a:p>
            <a:pPr algn="ctr"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AI POWERED</a:t>
            </a:r>
            <a:endParaRPr lang="en-US" sz="850" dirty="0"/>
          </a:p>
        </p:txBody>
      </p:sp>
      <p:sp>
        <p:nvSpPr>
          <p:cNvPr id="8" name="Text 5"/>
          <p:cNvSpPr txBox="1"/>
          <p:nvPr/>
        </p:nvSpPr>
        <p:spPr>
          <a:xfrm>
            <a:off x="3013862" y="3074213"/>
            <a:ext cx="1005840" cy="310896"/>
          </a:xfrm>
          <a:prstGeom prst="rect">
            <a:avLst/>
          </a:prstGeom>
          <a:noFill/>
          <a:ln/>
        </p:spPr>
        <p:txBody>
          <a:bodyPr wrap="square" lIns="0" tIns="0" rIns="0" bIns="0" rtlCol="0" anchor="ctr"/>
          <a:lstStyle/>
          <a:p>
            <a:pPr algn="l"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SECURE &amp;</a:t>
            </a:r>
            <a:endParaRPr lang="en-US" sz="850" dirty="0"/>
          </a:p>
          <a:p>
            <a:pPr algn="l"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COMPLIANT</a:t>
            </a:r>
            <a:endParaRPr lang="en-US" sz="850" dirty="0"/>
          </a:p>
        </p:txBody>
      </p:sp>
      <p:sp>
        <p:nvSpPr>
          <p:cNvPr id="9" name="Text 6"/>
          <p:cNvSpPr txBox="1"/>
          <p:nvPr/>
        </p:nvSpPr>
        <p:spPr>
          <a:xfrm>
            <a:off x="8172907" y="3074213"/>
            <a:ext cx="1005840" cy="310896"/>
          </a:xfrm>
          <a:prstGeom prst="rect">
            <a:avLst/>
          </a:prstGeom>
          <a:noFill/>
          <a:ln/>
        </p:spPr>
        <p:txBody>
          <a:bodyPr wrap="square" lIns="0" tIns="0" rIns="0" bIns="0" rtlCol="0" anchor="ctr"/>
          <a:lstStyle/>
          <a:p>
            <a:pPr algn="r"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ENTERPRISE</a:t>
            </a:r>
            <a:endParaRPr lang="en-US" sz="850" dirty="0"/>
          </a:p>
          <a:p>
            <a:pPr algn="r"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READY</a:t>
            </a:r>
            <a:endParaRPr lang="en-US" sz="850" dirty="0"/>
          </a:p>
        </p:txBody>
      </p:sp>
      <p:sp>
        <p:nvSpPr>
          <p:cNvPr id="10" name="Text 7"/>
          <p:cNvSpPr txBox="1"/>
          <p:nvPr/>
        </p:nvSpPr>
        <p:spPr>
          <a:xfrm>
            <a:off x="3013862" y="5763463"/>
            <a:ext cx="1005840" cy="310896"/>
          </a:xfrm>
          <a:prstGeom prst="rect">
            <a:avLst/>
          </a:prstGeom>
          <a:noFill/>
          <a:ln/>
        </p:spPr>
        <p:txBody>
          <a:bodyPr wrap="square" lIns="0" tIns="0" rIns="0" bIns="0" rtlCol="0" anchor="ctr"/>
          <a:lstStyle/>
          <a:p>
            <a:pPr algn="l"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CONNECTED</a:t>
            </a:r>
            <a:endParaRPr lang="en-US" sz="850" dirty="0"/>
          </a:p>
          <a:p>
            <a:pPr algn="l"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EXPERIENCES</a:t>
            </a:r>
            <a:endParaRPr lang="en-US" sz="850" dirty="0"/>
          </a:p>
        </p:txBody>
      </p:sp>
      <p:sp>
        <p:nvSpPr>
          <p:cNvPr id="11" name="Text 8"/>
          <p:cNvSpPr txBox="1"/>
          <p:nvPr/>
        </p:nvSpPr>
        <p:spPr>
          <a:xfrm>
            <a:off x="8172907" y="5763463"/>
            <a:ext cx="1005840" cy="310896"/>
          </a:xfrm>
          <a:prstGeom prst="rect">
            <a:avLst/>
          </a:prstGeom>
          <a:noFill/>
          <a:ln/>
        </p:spPr>
        <p:txBody>
          <a:bodyPr wrap="square" lIns="0" tIns="0" rIns="0" bIns="0" rtlCol="0" anchor="ctr"/>
          <a:lstStyle/>
          <a:p>
            <a:pPr algn="r"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MEASURABLE</a:t>
            </a:r>
            <a:endParaRPr lang="en-US" sz="850" dirty="0"/>
          </a:p>
          <a:p>
            <a:pPr algn="r" indent="0" marL="0">
              <a:lnSpc>
                <a:spcPts val="1100"/>
              </a:lnSpc>
              <a:buNone/>
            </a:pPr>
            <a:r>
              <a:rPr lang="en-US" sz="850" b="1" spc="40" kern="0" dirty="0">
                <a:solidFill>
                  <a:srgbClr val="091F2C"/>
                </a:solidFill>
                <a:latin typeface="Segoe Sans Display Semibold" pitchFamily="34" charset="0"/>
                <a:ea typeface="Segoe Sans Display Semibold" pitchFamily="34" charset="-122"/>
                <a:cs typeface="Segoe Sans Display Semibold" pitchFamily="34" charset="-120"/>
              </a:rPr>
              <a:t>IMPACT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START HERE</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What a harness is, and what it does for you</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2</a:t>
            </a:r>
            <a:endParaRPr lang="en-US" sz="800" dirty="0"/>
          </a:p>
        </p:txBody>
      </p:sp>
      <p:sp>
        <p:nvSpPr>
          <p:cNvPr id="6" name="Shape 4"/>
          <p:cNvSpPr/>
          <p:nvPr/>
        </p:nvSpPr>
        <p:spPr>
          <a:xfrm>
            <a:off x="713232" y="1568196"/>
            <a:ext cx="10250424" cy="1083564"/>
          </a:xfrm>
          <a:prstGeom prst="rect">
            <a:avLst/>
          </a:prstGeom>
          <a:solidFill>
            <a:srgbClr val="EFF7FD"/>
          </a:solidFill>
          <a:ln w="12700">
            <a:solidFill>
              <a:srgbClr val="0078D4"/>
            </a:solidFill>
            <a:prstDash val="solid"/>
          </a:ln>
        </p:spPr>
      </p:sp>
      <p:sp>
        <p:nvSpPr>
          <p:cNvPr id="7" name="Shape 5"/>
          <p:cNvSpPr/>
          <p:nvPr/>
        </p:nvSpPr>
        <p:spPr>
          <a:xfrm>
            <a:off x="713232" y="1517904"/>
            <a:ext cx="10250424" cy="50292"/>
          </a:xfrm>
          <a:prstGeom prst="rect">
            <a:avLst/>
          </a:prstGeom>
          <a:solidFill>
            <a:srgbClr val="0078D4"/>
          </a:solidFill>
          <a:ln/>
        </p:spPr>
      </p:sp>
      <p:sp>
        <p:nvSpPr>
          <p:cNvPr id="8" name="Text 6"/>
          <p:cNvSpPr txBox="1"/>
          <p:nvPr/>
        </p:nvSpPr>
        <p:spPr>
          <a:xfrm>
            <a:off x="969264" y="1700784"/>
            <a:ext cx="9784080" cy="256032"/>
          </a:xfrm>
          <a:prstGeom prst="rect">
            <a:avLst/>
          </a:prstGeom>
          <a:noFill/>
          <a:ln/>
        </p:spPr>
        <p:txBody>
          <a:bodyPr wrap="square" lIns="0" tIns="0" rIns="0" bIns="0" rtlCol="0" anchor="ctr"/>
          <a:lstStyle/>
          <a:p>
            <a:pPr indent="0" marL="0">
              <a:buNone/>
            </a:pPr>
            <a:r>
              <a:rPr lang="en-US" sz="1500" b="1" dirty="0">
                <a:solidFill>
                  <a:srgbClr val="091F2C"/>
                </a:solidFill>
                <a:latin typeface="Segoe Sans Display Semibold" pitchFamily="34" charset="0"/>
                <a:ea typeface="Segoe Sans Display Semibold" pitchFamily="34" charset="-122"/>
                <a:cs typeface="Segoe Sans Display Semibold" pitchFamily="34" charset="-120"/>
              </a:rPr>
              <a:t>A harness is the runtime your agent runs on.</a:t>
            </a:r>
            <a:endParaRPr lang="en-US" sz="1500" dirty="0"/>
          </a:p>
        </p:txBody>
      </p:sp>
      <p:sp>
        <p:nvSpPr>
          <p:cNvPr id="9" name="Text 7"/>
          <p:cNvSpPr txBox="1"/>
          <p:nvPr/>
        </p:nvSpPr>
        <p:spPr>
          <a:xfrm>
            <a:off x="969264" y="1993392"/>
            <a:ext cx="9784080" cy="603504"/>
          </a:xfrm>
          <a:prstGeom prst="rect">
            <a:avLst/>
          </a:prstGeom>
          <a:noFill/>
          <a:ln/>
        </p:spPr>
        <p:txBody>
          <a:bodyPr wrap="square" lIns="0" tIns="0" rIns="0" bIns="0" rtlCol="0" anchor="ctr"/>
          <a:lstStyle/>
          <a:p>
            <a:pPr indent="0" marL="0">
              <a:lnSpc>
                <a:spcPts val="1450"/>
              </a:lnSpc>
              <a:buNone/>
            </a:pPr>
            <a:r>
              <a:rPr lang="en-US" sz="1100" dirty="0">
                <a:solidFill>
                  <a:srgbClr val="3B4A54"/>
                </a:solidFill>
                <a:latin typeface="Segoe Sans Display" pitchFamily="34" charset="0"/>
                <a:ea typeface="Segoe Sans Display" pitchFamily="34" charset="-122"/>
                <a:cs typeface="Segoe Sans Display" pitchFamily="34" charset="-120"/>
              </a:rPr>
              <a:t>You author the instructions, the knowledge and the tools. The harness is what reads them while the agent is running — deciding when to call the model, what context to send it, which tool to reach for next, and how to turn the result into an answer. Give two agents identical instructions on different harnesses and they will not behave the same way.</a:t>
            </a:r>
            <a:endParaRPr lang="en-US" sz="1100" dirty="0"/>
          </a:p>
        </p:txBody>
      </p:sp>
      <p:sp>
        <p:nvSpPr>
          <p:cNvPr id="10" name="Shape 8"/>
          <p:cNvSpPr/>
          <p:nvPr/>
        </p:nvSpPr>
        <p:spPr>
          <a:xfrm>
            <a:off x="713232" y="2830068"/>
            <a:ext cx="2253996" cy="790956"/>
          </a:xfrm>
          <a:prstGeom prst="rect">
            <a:avLst/>
          </a:prstGeom>
          <a:solidFill>
            <a:srgbClr val="FFF8F5"/>
          </a:solidFill>
          <a:ln w="12700">
            <a:solidFill>
              <a:srgbClr val="E3E8EB"/>
            </a:solidFill>
            <a:prstDash val="solid"/>
          </a:ln>
        </p:spPr>
      </p:sp>
      <p:sp>
        <p:nvSpPr>
          <p:cNvPr id="11" name="Shape 9"/>
          <p:cNvSpPr/>
          <p:nvPr/>
        </p:nvSpPr>
        <p:spPr>
          <a:xfrm>
            <a:off x="713232" y="2779776"/>
            <a:ext cx="2253996" cy="50292"/>
          </a:xfrm>
          <a:prstGeom prst="rect">
            <a:avLst/>
          </a:prstGeom>
          <a:solidFill>
            <a:srgbClr val="E3E8EB"/>
          </a:solidFill>
          <a:ln/>
        </p:spPr>
      </p:sp>
      <p:sp>
        <p:nvSpPr>
          <p:cNvPr id="12" name="Text 10"/>
          <p:cNvSpPr txBox="1"/>
          <p:nvPr/>
        </p:nvSpPr>
        <p:spPr>
          <a:xfrm>
            <a:off x="859536" y="2944368"/>
            <a:ext cx="1965960" cy="219456"/>
          </a:xfrm>
          <a:prstGeom prst="rect">
            <a:avLst/>
          </a:prstGeom>
          <a:noFill/>
          <a:ln/>
        </p:spPr>
        <p:txBody>
          <a:bodyPr wrap="square" lIns="0" tIns="0" rIns="0" bIns="0" rtlCol="0" anchor="ctr"/>
          <a:lstStyle/>
          <a:p>
            <a:pPr algn="ctr" indent="0" marL="0">
              <a:buNone/>
            </a:pPr>
            <a:r>
              <a:rPr lang="en-US" sz="1150" b="1" dirty="0">
                <a:solidFill>
                  <a:srgbClr val="091F2C"/>
                </a:solidFill>
                <a:latin typeface="Segoe Sans Display Semibold" pitchFamily="34" charset="0"/>
                <a:ea typeface="Segoe Sans Display Semibold" pitchFamily="34" charset="-122"/>
                <a:cs typeface="Segoe Sans Display Semibold" pitchFamily="34" charset="-120"/>
              </a:rPr>
              <a:t>What you author</a:t>
            </a:r>
            <a:endParaRPr lang="en-US" sz="1150" dirty="0"/>
          </a:p>
        </p:txBody>
      </p:sp>
      <p:sp>
        <p:nvSpPr>
          <p:cNvPr id="13" name="Text 11"/>
          <p:cNvSpPr txBox="1"/>
          <p:nvPr/>
        </p:nvSpPr>
        <p:spPr>
          <a:xfrm>
            <a:off x="859536" y="3200400"/>
            <a:ext cx="1965960" cy="347472"/>
          </a:xfrm>
          <a:prstGeom prst="rect">
            <a:avLst/>
          </a:prstGeom>
          <a:noFill/>
          <a:ln/>
        </p:spPr>
        <p:txBody>
          <a:bodyPr wrap="square" lIns="0" tIns="0" rIns="0" bIns="0" rtlCol="0" anchor="ctr"/>
          <a:lstStyle/>
          <a:p>
            <a:pPr algn="ct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Instructions, knowledge, tools, topics</a:t>
            </a:r>
            <a:endParaRPr lang="en-US" sz="900" dirty="0"/>
          </a:p>
        </p:txBody>
      </p:sp>
      <p:sp>
        <p:nvSpPr>
          <p:cNvPr id="14" name="Text 12"/>
          <p:cNvSpPr txBox="1"/>
          <p:nvPr/>
        </p:nvSpPr>
        <p:spPr>
          <a:xfrm>
            <a:off x="2967228" y="3054096"/>
            <a:ext cx="411480" cy="274320"/>
          </a:xfrm>
          <a:prstGeom prst="rect">
            <a:avLst/>
          </a:prstGeom>
          <a:noFill/>
          <a:ln/>
        </p:spPr>
        <p:txBody>
          <a:bodyPr wrap="square" lIns="0" tIns="0" rIns="0" bIns="0" rtlCol="0" anchor="ctr"/>
          <a:lstStyle/>
          <a:p>
            <a:pPr algn="ctr" indent="0" marL="0">
              <a:buNone/>
            </a:pPr>
            <a:r>
              <a:rPr lang="en-US" sz="1600" dirty="0">
                <a:solidFill>
                  <a:srgbClr val="6E7B85"/>
                </a:solidFill>
                <a:latin typeface="Segoe Sans Display" pitchFamily="34" charset="0"/>
                <a:ea typeface="Segoe Sans Display" pitchFamily="34" charset="-122"/>
                <a:cs typeface="Segoe Sans Display" pitchFamily="34" charset="-120"/>
              </a:rPr>
              <a:t>→</a:t>
            </a:r>
            <a:endParaRPr lang="en-US" sz="1600" dirty="0"/>
          </a:p>
        </p:txBody>
      </p:sp>
      <p:sp>
        <p:nvSpPr>
          <p:cNvPr id="15" name="Shape 13"/>
          <p:cNvSpPr/>
          <p:nvPr/>
        </p:nvSpPr>
        <p:spPr>
          <a:xfrm>
            <a:off x="3378708" y="2830068"/>
            <a:ext cx="2253996" cy="790956"/>
          </a:xfrm>
          <a:prstGeom prst="rect">
            <a:avLst/>
          </a:prstGeom>
          <a:solidFill>
            <a:srgbClr val="EFF7FD"/>
          </a:solidFill>
          <a:ln w="12700">
            <a:solidFill>
              <a:srgbClr val="0078D4"/>
            </a:solidFill>
            <a:prstDash val="solid"/>
          </a:ln>
        </p:spPr>
      </p:sp>
      <p:sp>
        <p:nvSpPr>
          <p:cNvPr id="16" name="Shape 14"/>
          <p:cNvSpPr/>
          <p:nvPr/>
        </p:nvSpPr>
        <p:spPr>
          <a:xfrm>
            <a:off x="3378708" y="2779776"/>
            <a:ext cx="2253996" cy="50292"/>
          </a:xfrm>
          <a:prstGeom prst="rect">
            <a:avLst/>
          </a:prstGeom>
          <a:solidFill>
            <a:srgbClr val="0078D4"/>
          </a:solidFill>
          <a:ln/>
        </p:spPr>
      </p:sp>
      <p:sp>
        <p:nvSpPr>
          <p:cNvPr id="17" name="Text 15"/>
          <p:cNvSpPr txBox="1"/>
          <p:nvPr/>
        </p:nvSpPr>
        <p:spPr>
          <a:xfrm>
            <a:off x="3525012" y="2944368"/>
            <a:ext cx="1965960" cy="219456"/>
          </a:xfrm>
          <a:prstGeom prst="rect">
            <a:avLst/>
          </a:prstGeom>
          <a:noFill/>
          <a:ln/>
        </p:spPr>
        <p:txBody>
          <a:bodyPr wrap="square" lIns="0" tIns="0" rIns="0" bIns="0" rtlCol="0" anchor="ctr"/>
          <a:lstStyle/>
          <a:p>
            <a:pPr algn="ctr" indent="0" marL="0">
              <a:buNone/>
            </a:pPr>
            <a:r>
              <a:rPr lang="en-US" sz="1150" b="1" dirty="0">
                <a:solidFill>
                  <a:srgbClr val="0078D4"/>
                </a:solidFill>
                <a:latin typeface="Segoe Sans Display Semibold" pitchFamily="34" charset="0"/>
                <a:ea typeface="Segoe Sans Display Semibold" pitchFamily="34" charset="-122"/>
                <a:cs typeface="Segoe Sans Display Semibold" pitchFamily="34" charset="-120"/>
              </a:rPr>
              <a:t>The harness</a:t>
            </a:r>
            <a:endParaRPr lang="en-US" sz="1150" dirty="0"/>
          </a:p>
        </p:txBody>
      </p:sp>
      <p:sp>
        <p:nvSpPr>
          <p:cNvPr id="18" name="Text 16"/>
          <p:cNvSpPr txBox="1"/>
          <p:nvPr/>
        </p:nvSpPr>
        <p:spPr>
          <a:xfrm>
            <a:off x="3525012" y="3200400"/>
            <a:ext cx="1965960" cy="347472"/>
          </a:xfrm>
          <a:prstGeom prst="rect">
            <a:avLst/>
          </a:prstGeom>
          <a:noFill/>
          <a:ln/>
        </p:spPr>
        <p:txBody>
          <a:bodyPr wrap="square" lIns="0" tIns="0" rIns="0" bIns="0" rtlCol="0" anchor="ctr"/>
          <a:lstStyle/>
          <a:p>
            <a:pPr algn="ct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Reads them and decides what happens next</a:t>
            </a:r>
            <a:endParaRPr lang="en-US" sz="900" dirty="0"/>
          </a:p>
        </p:txBody>
      </p:sp>
      <p:sp>
        <p:nvSpPr>
          <p:cNvPr id="19" name="Text 17"/>
          <p:cNvSpPr txBox="1"/>
          <p:nvPr/>
        </p:nvSpPr>
        <p:spPr>
          <a:xfrm>
            <a:off x="5632704" y="3054096"/>
            <a:ext cx="411480" cy="274320"/>
          </a:xfrm>
          <a:prstGeom prst="rect">
            <a:avLst/>
          </a:prstGeom>
          <a:noFill/>
          <a:ln/>
        </p:spPr>
        <p:txBody>
          <a:bodyPr wrap="square" lIns="0" tIns="0" rIns="0" bIns="0" rtlCol="0" anchor="ctr"/>
          <a:lstStyle/>
          <a:p>
            <a:pPr algn="ctr" indent="0" marL="0">
              <a:buNone/>
            </a:pPr>
            <a:r>
              <a:rPr lang="en-US" sz="1600" dirty="0">
                <a:solidFill>
                  <a:srgbClr val="6E7B85"/>
                </a:solidFill>
                <a:latin typeface="Segoe Sans Display" pitchFamily="34" charset="0"/>
                <a:ea typeface="Segoe Sans Display" pitchFamily="34" charset="-122"/>
                <a:cs typeface="Segoe Sans Display" pitchFamily="34" charset="-120"/>
              </a:rPr>
              <a:t>→</a:t>
            </a:r>
            <a:endParaRPr lang="en-US" sz="1600" dirty="0"/>
          </a:p>
        </p:txBody>
      </p:sp>
      <p:sp>
        <p:nvSpPr>
          <p:cNvPr id="20" name="Shape 18"/>
          <p:cNvSpPr/>
          <p:nvPr/>
        </p:nvSpPr>
        <p:spPr>
          <a:xfrm>
            <a:off x="6044184" y="2830068"/>
            <a:ext cx="2253996" cy="790956"/>
          </a:xfrm>
          <a:prstGeom prst="rect">
            <a:avLst/>
          </a:prstGeom>
          <a:solidFill>
            <a:srgbClr val="FFF8F5"/>
          </a:solidFill>
          <a:ln w="12700">
            <a:solidFill>
              <a:srgbClr val="E3E8EB"/>
            </a:solidFill>
            <a:prstDash val="solid"/>
          </a:ln>
        </p:spPr>
      </p:sp>
      <p:sp>
        <p:nvSpPr>
          <p:cNvPr id="21" name="Shape 19"/>
          <p:cNvSpPr/>
          <p:nvPr/>
        </p:nvSpPr>
        <p:spPr>
          <a:xfrm>
            <a:off x="6044184" y="2779776"/>
            <a:ext cx="2253996" cy="50292"/>
          </a:xfrm>
          <a:prstGeom prst="rect">
            <a:avLst/>
          </a:prstGeom>
          <a:solidFill>
            <a:srgbClr val="E3E8EB"/>
          </a:solidFill>
          <a:ln/>
        </p:spPr>
      </p:sp>
      <p:sp>
        <p:nvSpPr>
          <p:cNvPr id="22" name="Text 20"/>
          <p:cNvSpPr txBox="1"/>
          <p:nvPr/>
        </p:nvSpPr>
        <p:spPr>
          <a:xfrm>
            <a:off x="6190488" y="2944368"/>
            <a:ext cx="1965960" cy="219456"/>
          </a:xfrm>
          <a:prstGeom prst="rect">
            <a:avLst/>
          </a:prstGeom>
          <a:noFill/>
          <a:ln/>
        </p:spPr>
        <p:txBody>
          <a:bodyPr wrap="square" lIns="0" tIns="0" rIns="0" bIns="0" rtlCol="0" anchor="ctr"/>
          <a:lstStyle/>
          <a:p>
            <a:pPr algn="ctr" indent="0" marL="0">
              <a:buNone/>
            </a:pPr>
            <a:r>
              <a:rPr lang="en-US" sz="1150" b="1" dirty="0">
                <a:solidFill>
                  <a:srgbClr val="091F2C"/>
                </a:solidFill>
                <a:latin typeface="Segoe Sans Display Semibold" pitchFamily="34" charset="0"/>
                <a:ea typeface="Segoe Sans Display Semibold" pitchFamily="34" charset="-122"/>
                <a:cs typeface="Segoe Sans Display Semibold" pitchFamily="34" charset="-120"/>
              </a:rPr>
              <a:t>Model and tools</a:t>
            </a:r>
            <a:endParaRPr lang="en-US" sz="1150" dirty="0"/>
          </a:p>
        </p:txBody>
      </p:sp>
      <p:sp>
        <p:nvSpPr>
          <p:cNvPr id="23" name="Text 21"/>
          <p:cNvSpPr txBox="1"/>
          <p:nvPr/>
        </p:nvSpPr>
        <p:spPr>
          <a:xfrm>
            <a:off x="6190488" y="3200400"/>
            <a:ext cx="1965960" cy="347472"/>
          </a:xfrm>
          <a:prstGeom prst="rect">
            <a:avLst/>
          </a:prstGeom>
          <a:noFill/>
          <a:ln/>
        </p:spPr>
        <p:txBody>
          <a:bodyPr wrap="square" lIns="0" tIns="0" rIns="0" bIns="0" rtlCol="0" anchor="ctr"/>
          <a:lstStyle/>
          <a:p>
            <a:pPr algn="ct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Called only when the harness calls them</a:t>
            </a:r>
            <a:endParaRPr lang="en-US" sz="900" dirty="0"/>
          </a:p>
        </p:txBody>
      </p:sp>
      <p:sp>
        <p:nvSpPr>
          <p:cNvPr id="24" name="Text 22"/>
          <p:cNvSpPr txBox="1"/>
          <p:nvPr/>
        </p:nvSpPr>
        <p:spPr>
          <a:xfrm>
            <a:off x="8298180" y="3054096"/>
            <a:ext cx="411480" cy="274320"/>
          </a:xfrm>
          <a:prstGeom prst="rect">
            <a:avLst/>
          </a:prstGeom>
          <a:noFill/>
          <a:ln/>
        </p:spPr>
        <p:txBody>
          <a:bodyPr wrap="square" lIns="0" tIns="0" rIns="0" bIns="0" rtlCol="0" anchor="ctr"/>
          <a:lstStyle/>
          <a:p>
            <a:pPr algn="ctr" indent="0" marL="0">
              <a:buNone/>
            </a:pPr>
            <a:r>
              <a:rPr lang="en-US" sz="1600" dirty="0">
                <a:solidFill>
                  <a:srgbClr val="6E7B85"/>
                </a:solidFill>
                <a:latin typeface="Segoe Sans Display" pitchFamily="34" charset="0"/>
                <a:ea typeface="Segoe Sans Display" pitchFamily="34" charset="-122"/>
                <a:cs typeface="Segoe Sans Display" pitchFamily="34" charset="-120"/>
              </a:rPr>
              <a:t>→</a:t>
            </a:r>
            <a:endParaRPr lang="en-US" sz="1600" dirty="0"/>
          </a:p>
        </p:txBody>
      </p:sp>
      <p:sp>
        <p:nvSpPr>
          <p:cNvPr id="25" name="Shape 23"/>
          <p:cNvSpPr/>
          <p:nvPr/>
        </p:nvSpPr>
        <p:spPr>
          <a:xfrm>
            <a:off x="8709660" y="2830068"/>
            <a:ext cx="2253996" cy="790956"/>
          </a:xfrm>
          <a:prstGeom prst="rect">
            <a:avLst/>
          </a:prstGeom>
          <a:solidFill>
            <a:srgbClr val="FFF8F5"/>
          </a:solidFill>
          <a:ln w="12700">
            <a:solidFill>
              <a:srgbClr val="E3E8EB"/>
            </a:solidFill>
            <a:prstDash val="solid"/>
          </a:ln>
        </p:spPr>
      </p:sp>
      <p:sp>
        <p:nvSpPr>
          <p:cNvPr id="26" name="Shape 24"/>
          <p:cNvSpPr/>
          <p:nvPr/>
        </p:nvSpPr>
        <p:spPr>
          <a:xfrm>
            <a:off x="8709660" y="2779776"/>
            <a:ext cx="2253996" cy="50292"/>
          </a:xfrm>
          <a:prstGeom prst="rect">
            <a:avLst/>
          </a:prstGeom>
          <a:solidFill>
            <a:srgbClr val="E3E8EB"/>
          </a:solidFill>
          <a:ln/>
        </p:spPr>
      </p:sp>
      <p:sp>
        <p:nvSpPr>
          <p:cNvPr id="27" name="Text 25"/>
          <p:cNvSpPr txBox="1"/>
          <p:nvPr/>
        </p:nvSpPr>
        <p:spPr>
          <a:xfrm>
            <a:off x="8855964" y="2944368"/>
            <a:ext cx="1965960" cy="219456"/>
          </a:xfrm>
          <a:prstGeom prst="rect">
            <a:avLst/>
          </a:prstGeom>
          <a:noFill/>
          <a:ln/>
        </p:spPr>
        <p:txBody>
          <a:bodyPr wrap="square" lIns="0" tIns="0" rIns="0" bIns="0" rtlCol="0" anchor="ctr"/>
          <a:lstStyle/>
          <a:p>
            <a:pPr algn="ctr" indent="0" marL="0">
              <a:buNone/>
            </a:pPr>
            <a:r>
              <a:rPr lang="en-US" sz="1150" b="1" dirty="0">
                <a:solidFill>
                  <a:srgbClr val="091F2C"/>
                </a:solidFill>
                <a:latin typeface="Segoe Sans Display Semibold" pitchFamily="34" charset="0"/>
                <a:ea typeface="Segoe Sans Display Semibold" pitchFamily="34" charset="-122"/>
                <a:cs typeface="Segoe Sans Display Semibold" pitchFamily="34" charset="-120"/>
              </a:rPr>
              <a:t>What the user gets</a:t>
            </a:r>
            <a:endParaRPr lang="en-US" sz="1150" dirty="0"/>
          </a:p>
        </p:txBody>
      </p:sp>
      <p:sp>
        <p:nvSpPr>
          <p:cNvPr id="28" name="Text 26"/>
          <p:cNvSpPr txBox="1"/>
          <p:nvPr/>
        </p:nvSpPr>
        <p:spPr>
          <a:xfrm>
            <a:off x="8855964" y="3200400"/>
            <a:ext cx="1965960" cy="347472"/>
          </a:xfrm>
          <a:prstGeom prst="rect">
            <a:avLst/>
          </a:prstGeom>
          <a:noFill/>
          <a:ln/>
        </p:spPr>
        <p:txBody>
          <a:bodyPr wrap="square" lIns="0" tIns="0" rIns="0" bIns="0" rtlCol="0" anchor="ctr"/>
          <a:lstStyle/>
          <a:p>
            <a:pPr algn="ct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An answer, an action, or a finished file</a:t>
            </a:r>
            <a:endParaRPr lang="en-US" sz="900" dirty="0"/>
          </a:p>
        </p:txBody>
      </p:sp>
      <p:sp>
        <p:nvSpPr>
          <p:cNvPr id="29" name="Text 27"/>
          <p:cNvSpPr txBox="1"/>
          <p:nvPr/>
        </p:nvSpPr>
        <p:spPr>
          <a:xfrm>
            <a:off x="713232" y="3803904"/>
            <a:ext cx="10241280" cy="201168"/>
          </a:xfrm>
          <a:prstGeom prst="rect">
            <a:avLst/>
          </a:prstGeom>
          <a:noFill/>
          <a:ln/>
        </p:spPr>
        <p:txBody>
          <a:bodyPr wrap="square" lIns="0" tIns="0" rIns="0" bIns="0" rtlCol="0" anchor="ctr"/>
          <a:lstStyle/>
          <a:p>
            <a:pPr indent="0" marL="0">
              <a:buNone/>
            </a:pPr>
            <a:r>
              <a:rPr lang="en-US" sz="900" b="1" spc="100" kern="0" dirty="0">
                <a:solidFill>
                  <a:srgbClr val="0078D4"/>
                </a:solidFill>
                <a:latin typeface="Segoe Sans Display Semibold" pitchFamily="34" charset="0"/>
                <a:ea typeface="Segoe Sans Display Semibold" pitchFamily="34" charset="-122"/>
                <a:cs typeface="Segoe Sans Display Semibold" pitchFamily="34" charset="-120"/>
              </a:rPr>
              <a:t>THE HARNESS DECIDES FOUR THINGS — AND YOU LIVE WITH ALL FOUR</a:t>
            </a:r>
            <a:endParaRPr lang="en-US" sz="900" dirty="0"/>
          </a:p>
        </p:txBody>
      </p:sp>
      <p:sp>
        <p:nvSpPr>
          <p:cNvPr id="30" name="Shape 28"/>
          <p:cNvSpPr/>
          <p:nvPr/>
        </p:nvSpPr>
        <p:spPr>
          <a:xfrm>
            <a:off x="713232" y="4128516"/>
            <a:ext cx="2398014" cy="1431036"/>
          </a:xfrm>
          <a:prstGeom prst="rect">
            <a:avLst/>
          </a:prstGeom>
          <a:solidFill>
            <a:srgbClr val="FFFFFF"/>
          </a:solidFill>
          <a:ln w="12700">
            <a:solidFill>
              <a:srgbClr val="0078D4"/>
            </a:solidFill>
            <a:prstDash val="solid"/>
          </a:ln>
        </p:spPr>
      </p:sp>
      <p:sp>
        <p:nvSpPr>
          <p:cNvPr id="31" name="Shape 29"/>
          <p:cNvSpPr/>
          <p:nvPr/>
        </p:nvSpPr>
        <p:spPr>
          <a:xfrm>
            <a:off x="713232" y="4078224"/>
            <a:ext cx="2398014" cy="50292"/>
          </a:xfrm>
          <a:prstGeom prst="rect">
            <a:avLst/>
          </a:prstGeom>
          <a:solidFill>
            <a:srgbClr val="0078D4"/>
          </a:solidFill>
          <a:ln/>
        </p:spPr>
      </p:sp>
      <p:sp>
        <p:nvSpPr>
          <p:cNvPr id="32" name="Text 30"/>
          <p:cNvSpPr txBox="1"/>
          <p:nvPr/>
        </p:nvSpPr>
        <p:spPr>
          <a:xfrm>
            <a:off x="896112" y="4242816"/>
            <a:ext cx="2057400" cy="237744"/>
          </a:xfrm>
          <a:prstGeom prst="rect">
            <a:avLst/>
          </a:prstGeom>
          <a:noFill/>
          <a:ln/>
        </p:spPr>
        <p:txBody>
          <a:bodyPr wrap="square" lIns="0" tIns="0" rIns="0" bIns="0" rtlCol="0" anchor="ctr"/>
          <a:lstStyle/>
          <a:p>
            <a:pPr indent="0" marL="0">
              <a:buNone/>
            </a:pPr>
            <a:r>
              <a:rPr lang="en-US" sz="1200" b="1" dirty="0">
                <a:solidFill>
                  <a:srgbClr val="091F2C"/>
                </a:solidFill>
                <a:latin typeface="Segoe Sans Display Semibold" pitchFamily="34" charset="0"/>
                <a:ea typeface="Segoe Sans Display Semibold" pitchFamily="34" charset="-122"/>
                <a:cs typeface="Segoe Sans Display Semibold" pitchFamily="34" charset="-120"/>
              </a:rPr>
              <a:t>How it plans</a:t>
            </a:r>
            <a:endParaRPr lang="en-US" sz="1200" dirty="0"/>
          </a:p>
        </p:txBody>
      </p:sp>
      <p:sp>
        <p:nvSpPr>
          <p:cNvPr id="33" name="Text 31"/>
          <p:cNvSpPr txBox="1"/>
          <p:nvPr/>
        </p:nvSpPr>
        <p:spPr>
          <a:xfrm>
            <a:off x="896112" y="4517136"/>
            <a:ext cx="2057400" cy="932688"/>
          </a:xfrm>
          <a:prstGeom prst="rect">
            <a:avLst/>
          </a:prstGeom>
          <a:noFill/>
          <a:ln/>
        </p:spPr>
        <p:txBody>
          <a:bodyPr wrap="square" lIns="0" tIns="0" rIns="0" bIns="0" rtlCol="0" anchor="ctr"/>
          <a:lstStyle/>
          <a:p>
            <a:pPr indent="0" marL="0">
              <a:lnSpc>
                <a:spcPts val="1250"/>
              </a:lnSpc>
              <a:buNone/>
            </a:pPr>
            <a:r>
              <a:rPr lang="en-US" sz="950" dirty="0">
                <a:solidFill>
                  <a:srgbClr val="3B4A54"/>
                </a:solidFill>
                <a:latin typeface="Segoe Sans Display" pitchFamily="34" charset="0"/>
                <a:ea typeface="Segoe Sans Display" pitchFamily="34" charset="-122"/>
                <a:cs typeface="Segoe Sans Display" pitchFamily="34" charset="-120"/>
              </a:rPr>
              <a:t>Whether it follows a path you authored step by step, or works out its own steps and recovers when one fails.</a:t>
            </a:r>
            <a:endParaRPr lang="en-US" sz="950" dirty="0"/>
          </a:p>
        </p:txBody>
      </p:sp>
      <p:sp>
        <p:nvSpPr>
          <p:cNvPr id="34" name="Shape 32"/>
          <p:cNvSpPr/>
          <p:nvPr/>
        </p:nvSpPr>
        <p:spPr>
          <a:xfrm>
            <a:off x="3321558" y="4128516"/>
            <a:ext cx="2398014" cy="1431036"/>
          </a:xfrm>
          <a:prstGeom prst="rect">
            <a:avLst/>
          </a:prstGeom>
          <a:solidFill>
            <a:srgbClr val="FFFFFF"/>
          </a:solidFill>
          <a:ln w="12700">
            <a:solidFill>
              <a:srgbClr val="C03BC4"/>
            </a:solidFill>
            <a:prstDash val="solid"/>
          </a:ln>
        </p:spPr>
      </p:sp>
      <p:sp>
        <p:nvSpPr>
          <p:cNvPr id="35" name="Shape 33"/>
          <p:cNvSpPr/>
          <p:nvPr/>
        </p:nvSpPr>
        <p:spPr>
          <a:xfrm>
            <a:off x="3321558" y="4078224"/>
            <a:ext cx="2398014" cy="50292"/>
          </a:xfrm>
          <a:prstGeom prst="rect">
            <a:avLst/>
          </a:prstGeom>
          <a:solidFill>
            <a:srgbClr val="C03BC4"/>
          </a:solidFill>
          <a:ln/>
        </p:spPr>
      </p:sp>
      <p:sp>
        <p:nvSpPr>
          <p:cNvPr id="36" name="Text 34"/>
          <p:cNvSpPr txBox="1"/>
          <p:nvPr/>
        </p:nvSpPr>
        <p:spPr>
          <a:xfrm>
            <a:off x="3504438" y="4242816"/>
            <a:ext cx="2057400" cy="237744"/>
          </a:xfrm>
          <a:prstGeom prst="rect">
            <a:avLst/>
          </a:prstGeom>
          <a:noFill/>
          <a:ln/>
        </p:spPr>
        <p:txBody>
          <a:bodyPr wrap="square" lIns="0" tIns="0" rIns="0" bIns="0" rtlCol="0" anchor="ctr"/>
          <a:lstStyle/>
          <a:p>
            <a:pPr indent="0" marL="0">
              <a:buNone/>
            </a:pPr>
            <a:r>
              <a:rPr lang="en-US" sz="1200" b="1" dirty="0">
                <a:solidFill>
                  <a:srgbClr val="091F2C"/>
                </a:solidFill>
                <a:latin typeface="Segoe Sans Display Semibold" pitchFamily="34" charset="0"/>
                <a:ea typeface="Segoe Sans Display Semibold" pitchFamily="34" charset="-122"/>
                <a:cs typeface="Segoe Sans Display Semibold" pitchFamily="34" charset="-120"/>
              </a:rPr>
              <a:t>What it can reach</a:t>
            </a:r>
            <a:endParaRPr lang="en-US" sz="1200" dirty="0"/>
          </a:p>
        </p:txBody>
      </p:sp>
      <p:sp>
        <p:nvSpPr>
          <p:cNvPr id="37" name="Text 35"/>
          <p:cNvSpPr txBox="1"/>
          <p:nvPr/>
        </p:nvSpPr>
        <p:spPr>
          <a:xfrm>
            <a:off x="3504438" y="4517136"/>
            <a:ext cx="2057400" cy="932688"/>
          </a:xfrm>
          <a:prstGeom prst="rect">
            <a:avLst/>
          </a:prstGeom>
          <a:noFill/>
          <a:ln/>
        </p:spPr>
        <p:txBody>
          <a:bodyPr wrap="square" lIns="0" tIns="0" rIns="0" bIns="0" rtlCol="0" anchor="ctr"/>
          <a:lstStyle/>
          <a:p>
            <a:pPr indent="0" marL="0">
              <a:lnSpc>
                <a:spcPts val="1250"/>
              </a:lnSpc>
              <a:buNone/>
            </a:pPr>
            <a:r>
              <a:rPr lang="en-US" sz="950" dirty="0">
                <a:solidFill>
                  <a:srgbClr val="3B4A54"/>
                </a:solidFill>
                <a:latin typeface="Segoe Sans Display" pitchFamily="34" charset="0"/>
                <a:ea typeface="Segoe Sans Display" pitchFamily="34" charset="-122"/>
                <a:cs typeface="Segoe Sans Display" pitchFamily="34" charset="-120"/>
              </a:rPr>
              <a:t>Knowledge, connectors, skills, memory, MCP servers — and whether it can produce Word, Excel or PDF files.</a:t>
            </a:r>
            <a:endParaRPr lang="en-US" sz="950" dirty="0"/>
          </a:p>
        </p:txBody>
      </p:sp>
      <p:sp>
        <p:nvSpPr>
          <p:cNvPr id="38" name="Shape 36"/>
          <p:cNvSpPr/>
          <p:nvPr/>
        </p:nvSpPr>
        <p:spPr>
          <a:xfrm>
            <a:off x="5929884" y="4128516"/>
            <a:ext cx="2398014" cy="1431036"/>
          </a:xfrm>
          <a:prstGeom prst="rect">
            <a:avLst/>
          </a:prstGeom>
          <a:solidFill>
            <a:srgbClr val="FFFFFF"/>
          </a:solidFill>
          <a:ln w="12700">
            <a:solidFill>
              <a:srgbClr val="8661C5"/>
            </a:solidFill>
            <a:prstDash val="solid"/>
          </a:ln>
        </p:spPr>
      </p:sp>
      <p:sp>
        <p:nvSpPr>
          <p:cNvPr id="39" name="Shape 37"/>
          <p:cNvSpPr/>
          <p:nvPr/>
        </p:nvSpPr>
        <p:spPr>
          <a:xfrm>
            <a:off x="5929884" y="4078224"/>
            <a:ext cx="2398014" cy="50292"/>
          </a:xfrm>
          <a:prstGeom prst="rect">
            <a:avLst/>
          </a:prstGeom>
          <a:solidFill>
            <a:srgbClr val="8661C5"/>
          </a:solidFill>
          <a:ln/>
        </p:spPr>
      </p:sp>
      <p:sp>
        <p:nvSpPr>
          <p:cNvPr id="40" name="Text 38"/>
          <p:cNvSpPr txBox="1"/>
          <p:nvPr/>
        </p:nvSpPr>
        <p:spPr>
          <a:xfrm>
            <a:off x="6112764" y="4242816"/>
            <a:ext cx="2057400" cy="237744"/>
          </a:xfrm>
          <a:prstGeom prst="rect">
            <a:avLst/>
          </a:prstGeom>
          <a:noFill/>
          <a:ln/>
        </p:spPr>
        <p:txBody>
          <a:bodyPr wrap="square" lIns="0" tIns="0" rIns="0" bIns="0" rtlCol="0" anchor="ctr"/>
          <a:lstStyle/>
          <a:p>
            <a:pPr indent="0" marL="0">
              <a:buNone/>
            </a:pPr>
            <a:r>
              <a:rPr lang="en-US" sz="1200" b="1" dirty="0">
                <a:solidFill>
                  <a:srgbClr val="091F2C"/>
                </a:solidFill>
                <a:latin typeface="Segoe Sans Display Semibold" pitchFamily="34" charset="0"/>
                <a:ea typeface="Segoe Sans Display Semibold" pitchFamily="34" charset="-122"/>
                <a:cs typeface="Segoe Sans Display Semibold" pitchFamily="34" charset="-120"/>
              </a:rPr>
              <a:t>Where it can publish</a:t>
            </a:r>
            <a:endParaRPr lang="en-US" sz="1200" dirty="0"/>
          </a:p>
        </p:txBody>
      </p:sp>
      <p:sp>
        <p:nvSpPr>
          <p:cNvPr id="41" name="Text 39"/>
          <p:cNvSpPr txBox="1"/>
          <p:nvPr/>
        </p:nvSpPr>
        <p:spPr>
          <a:xfrm>
            <a:off x="6112764" y="4517136"/>
            <a:ext cx="2057400" cy="932688"/>
          </a:xfrm>
          <a:prstGeom prst="rect">
            <a:avLst/>
          </a:prstGeom>
          <a:noFill/>
          <a:ln/>
        </p:spPr>
        <p:txBody>
          <a:bodyPr wrap="square" lIns="0" tIns="0" rIns="0" bIns="0" rtlCol="0" anchor="ctr"/>
          <a:lstStyle/>
          <a:p>
            <a:pPr indent="0" marL="0">
              <a:lnSpc>
                <a:spcPts val="1250"/>
              </a:lnSpc>
              <a:buNone/>
            </a:pPr>
            <a:r>
              <a:rPr lang="en-US" sz="950" dirty="0">
                <a:solidFill>
                  <a:srgbClr val="3B4A54"/>
                </a:solidFill>
                <a:latin typeface="Segoe Sans Display" pitchFamily="34" charset="0"/>
                <a:ea typeface="Segoe Sans Display" pitchFamily="34" charset="-122"/>
                <a:cs typeface="Segoe Sans Display" pitchFamily="34" charset="-120"/>
              </a:rPr>
              <a:t>Microsoft 365 surfaces only, or a website, mobile app or social channel as well. This one is decided for you.</a:t>
            </a:r>
            <a:endParaRPr lang="en-US" sz="950" dirty="0"/>
          </a:p>
        </p:txBody>
      </p:sp>
      <p:sp>
        <p:nvSpPr>
          <p:cNvPr id="42" name="Shape 40"/>
          <p:cNvSpPr/>
          <p:nvPr/>
        </p:nvSpPr>
        <p:spPr>
          <a:xfrm>
            <a:off x="8538210" y="4128516"/>
            <a:ext cx="2398014" cy="1431036"/>
          </a:xfrm>
          <a:prstGeom prst="rect">
            <a:avLst/>
          </a:prstGeom>
          <a:solidFill>
            <a:srgbClr val="FFFFFF"/>
          </a:solidFill>
          <a:ln w="12700">
            <a:solidFill>
              <a:srgbClr val="FF5C39"/>
            </a:solidFill>
            <a:prstDash val="solid"/>
          </a:ln>
        </p:spPr>
      </p:sp>
      <p:sp>
        <p:nvSpPr>
          <p:cNvPr id="43" name="Shape 41"/>
          <p:cNvSpPr/>
          <p:nvPr/>
        </p:nvSpPr>
        <p:spPr>
          <a:xfrm>
            <a:off x="8538210" y="4078224"/>
            <a:ext cx="2398014" cy="50292"/>
          </a:xfrm>
          <a:prstGeom prst="rect">
            <a:avLst/>
          </a:prstGeom>
          <a:solidFill>
            <a:srgbClr val="FF5C39"/>
          </a:solidFill>
          <a:ln/>
        </p:spPr>
      </p:sp>
      <p:sp>
        <p:nvSpPr>
          <p:cNvPr id="44" name="Text 42"/>
          <p:cNvSpPr txBox="1"/>
          <p:nvPr/>
        </p:nvSpPr>
        <p:spPr>
          <a:xfrm>
            <a:off x="8721090" y="4242816"/>
            <a:ext cx="2057400" cy="237744"/>
          </a:xfrm>
          <a:prstGeom prst="rect">
            <a:avLst/>
          </a:prstGeom>
          <a:noFill/>
          <a:ln/>
        </p:spPr>
        <p:txBody>
          <a:bodyPr wrap="square" lIns="0" tIns="0" rIns="0" bIns="0" rtlCol="0" anchor="ctr"/>
          <a:lstStyle/>
          <a:p>
            <a:pPr indent="0" marL="0">
              <a:buNone/>
            </a:pPr>
            <a:r>
              <a:rPr lang="en-US" sz="1200" b="1" dirty="0">
                <a:solidFill>
                  <a:srgbClr val="091F2C"/>
                </a:solidFill>
                <a:latin typeface="Segoe Sans Display Semibold" pitchFamily="34" charset="0"/>
                <a:ea typeface="Segoe Sans Display Semibold" pitchFamily="34" charset="-122"/>
                <a:cs typeface="Segoe Sans Display Semibold" pitchFamily="34" charset="-120"/>
              </a:rPr>
              <a:t>What it costs</a:t>
            </a:r>
            <a:endParaRPr lang="en-US" sz="1200" dirty="0"/>
          </a:p>
        </p:txBody>
      </p:sp>
      <p:sp>
        <p:nvSpPr>
          <p:cNvPr id="45" name="Text 43"/>
          <p:cNvSpPr txBox="1"/>
          <p:nvPr/>
        </p:nvSpPr>
        <p:spPr>
          <a:xfrm>
            <a:off x="8721090" y="4517136"/>
            <a:ext cx="2057400" cy="932688"/>
          </a:xfrm>
          <a:prstGeom prst="rect">
            <a:avLst/>
          </a:prstGeom>
          <a:noFill/>
          <a:ln/>
        </p:spPr>
        <p:txBody>
          <a:bodyPr wrap="square" lIns="0" tIns="0" rIns="0" bIns="0" rtlCol="0" anchor="ctr"/>
          <a:lstStyle/>
          <a:p>
            <a:pPr indent="0" marL="0">
              <a:lnSpc>
                <a:spcPts val="1250"/>
              </a:lnSpc>
              <a:buNone/>
            </a:pPr>
            <a:r>
              <a:rPr lang="en-US" sz="950" dirty="0">
                <a:solidFill>
                  <a:srgbClr val="3B4A54"/>
                </a:solidFill>
                <a:latin typeface="Segoe Sans Display" pitchFamily="34" charset="0"/>
                <a:ea typeface="Segoe Sans Display" pitchFamily="34" charset="-122"/>
                <a:cs typeface="Segoe Sans Display" pitchFamily="34" charset="-120"/>
              </a:rPr>
              <a:t>Whether runtime sits inside the Microsoft 365 Copilot licence or meters in Copilot Credits from the first build.</a:t>
            </a:r>
            <a:endParaRPr lang="en-US" sz="950" dirty="0"/>
          </a:p>
        </p:txBody>
      </p:sp>
      <p:sp>
        <p:nvSpPr>
          <p:cNvPr id="46" name="Text 44"/>
          <p:cNvSpPr txBox="1"/>
          <p:nvPr/>
        </p:nvSpPr>
        <p:spPr>
          <a:xfrm>
            <a:off x="713232" y="5742432"/>
            <a:ext cx="10241280" cy="256032"/>
          </a:xfrm>
          <a:prstGeom prst="rect">
            <a:avLst/>
          </a:prstGeom>
          <a:noFill/>
          <a:ln/>
        </p:spPr>
        <p:txBody>
          <a:bodyPr wrap="square" lIns="0" tIns="0" rIns="0" bIns="0" rtlCol="0" anchor="ctr"/>
          <a:lstStyle/>
          <a:p>
            <a:pPr indent="0" marL="0">
              <a:buNone/>
            </a:pPr>
            <a:r>
              <a:rPr lang="en-US" sz="1150" b="1" dirty="0">
                <a:solidFill>
                  <a:srgbClr val="091F2C"/>
                </a:solidFill>
                <a:latin typeface="Segoe Sans Display Semibold" pitchFamily="34" charset="0"/>
                <a:ea typeface="Segoe Sans Display Semibold" pitchFamily="34" charset="-122"/>
                <a:cs typeface="Segoe Sans Display Semibold" pitchFamily="34" charset="-120"/>
              </a:rPr>
              <a:t>Choose the harness first. Capability, reach and cost all follow from it — and it cannot be changed once the agent exists.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CHOOSE BEFORE YOU BUILD</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Three harnesses, one studio</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3</a:t>
            </a:r>
            <a:endParaRPr lang="en-US" sz="800" dirty="0"/>
          </a:p>
        </p:txBody>
      </p:sp>
      <p:sp>
        <p:nvSpPr>
          <p:cNvPr id="6" name="Shape 4"/>
          <p:cNvSpPr/>
          <p:nvPr/>
        </p:nvSpPr>
        <p:spPr>
          <a:xfrm>
            <a:off x="713232" y="1677924"/>
            <a:ext cx="3246120" cy="2967228"/>
          </a:xfrm>
          <a:prstGeom prst="rect">
            <a:avLst/>
          </a:prstGeom>
          <a:solidFill>
            <a:srgbClr val="FFFFFF"/>
          </a:solidFill>
          <a:ln w="12700">
            <a:solidFill>
              <a:srgbClr val="0078D4"/>
            </a:solidFill>
            <a:prstDash val="solid"/>
          </a:ln>
        </p:spPr>
      </p:sp>
      <p:sp>
        <p:nvSpPr>
          <p:cNvPr id="7" name="Shape 5"/>
          <p:cNvSpPr/>
          <p:nvPr/>
        </p:nvSpPr>
        <p:spPr>
          <a:xfrm>
            <a:off x="713232" y="1627632"/>
            <a:ext cx="3246120" cy="50292"/>
          </a:xfrm>
          <a:prstGeom prst="rect">
            <a:avLst/>
          </a:prstGeom>
          <a:solidFill>
            <a:srgbClr val="0078D4"/>
          </a:solidFill>
          <a:ln/>
        </p:spPr>
      </p:sp>
      <p:sp>
        <p:nvSpPr>
          <p:cNvPr id="8" name="Text 6"/>
          <p:cNvSpPr txBox="1"/>
          <p:nvPr/>
        </p:nvSpPr>
        <p:spPr>
          <a:xfrm>
            <a:off x="932688" y="1810512"/>
            <a:ext cx="2807208" cy="274320"/>
          </a:xfrm>
          <a:prstGeom prst="rect">
            <a:avLst/>
          </a:prstGeom>
          <a:noFill/>
          <a:ln/>
        </p:spPr>
        <p:txBody>
          <a:bodyPr wrap="square" lIns="0" tIns="0" rIns="0" bIns="0" rtlCol="0" anchor="ctr"/>
          <a:lstStyle/>
          <a:p>
            <a:pPr indent="0" marL="0">
              <a:buNone/>
            </a:pPr>
            <a:r>
              <a:rPr lang="en-US" sz="1500" b="1" dirty="0">
                <a:solidFill>
                  <a:srgbClr val="091F2C"/>
                </a:solidFill>
                <a:latin typeface="Segoe Sans Display Semibold" pitchFamily="34" charset="0"/>
                <a:ea typeface="Segoe Sans Display Semibold" pitchFamily="34" charset="-122"/>
                <a:cs typeface="Segoe Sans Display Semibold" pitchFamily="34" charset="-120"/>
              </a:rPr>
              <a:t>Copilot chat harness</a:t>
            </a:r>
            <a:endParaRPr lang="en-US" sz="1500" dirty="0"/>
          </a:p>
        </p:txBody>
      </p:sp>
      <p:sp>
        <p:nvSpPr>
          <p:cNvPr id="9" name="Text 7"/>
          <p:cNvSpPr txBox="1"/>
          <p:nvPr/>
        </p:nvSpPr>
        <p:spPr>
          <a:xfrm>
            <a:off x="932688" y="2103120"/>
            <a:ext cx="2807208" cy="256032"/>
          </a:xfrm>
          <a:prstGeom prst="rect">
            <a:avLst/>
          </a:prstGeom>
          <a:noFill/>
          <a:ln/>
        </p:spPr>
        <p:txBody>
          <a:bodyPr wrap="square" lIns="0" tIns="0" rIns="0" bIns="0" rtlCol="0" anchor="ctr"/>
          <a:lstStyle/>
          <a:p>
            <a:pPr indent="0" marL="0">
              <a:buNone/>
            </a:pPr>
            <a:r>
              <a:rPr lang="en-US" sz="1050" b="1" dirty="0">
                <a:solidFill>
                  <a:srgbClr val="0078D4"/>
                </a:solidFill>
                <a:latin typeface="Segoe Sans Display" pitchFamily="34" charset="0"/>
                <a:ea typeface="Segoe Sans Display" pitchFamily="34" charset="-122"/>
                <a:cs typeface="Segoe Sans Display" pitchFamily="34" charset="-120"/>
              </a:rPr>
              <a:t>Extends Microsoft 365 Copilot Chat</a:t>
            </a:r>
            <a:endParaRPr lang="en-US" sz="1050" dirty="0"/>
          </a:p>
        </p:txBody>
      </p:sp>
      <p:sp>
        <p:nvSpPr>
          <p:cNvPr id="10" name="Text 8"/>
          <p:cNvSpPr txBox="1"/>
          <p:nvPr/>
        </p:nvSpPr>
        <p:spPr>
          <a:xfrm>
            <a:off x="932688" y="2450592"/>
            <a:ext cx="2807208" cy="1325880"/>
          </a:xfrm>
          <a:prstGeom prst="rect">
            <a:avLst/>
          </a:prstGeom>
          <a:noFill/>
          <a:ln/>
        </p:spPr>
        <p:txBody>
          <a:bodyPr wrap="square" lIns="0" tIns="0" rIns="0" bIns="0" rtlCol="0" anchor="ctr"/>
          <a:lstStyle/>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Grounds Copilot Chat in your</a:t>
            </a: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SharePoint, Teams and Outlook</a:t>
            </a: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content.</a:t>
            </a:r>
            <a:endParaRPr lang="en-US" sz="1050" dirty="0"/>
          </a:p>
          <a:p>
            <a:pPr indent="0" marL="0">
              <a:lnSpc>
                <a:spcPts val="1500"/>
              </a:lnSpc>
              <a:buNone/>
            </a:pP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Publishes to internal teams only.</a:t>
            </a:r>
            <a:endParaRPr lang="en-US" sz="1050" dirty="0"/>
          </a:p>
        </p:txBody>
      </p:sp>
      <p:sp>
        <p:nvSpPr>
          <p:cNvPr id="11" name="Shape 9"/>
          <p:cNvSpPr/>
          <p:nvPr/>
        </p:nvSpPr>
        <p:spPr>
          <a:xfrm>
            <a:off x="932688" y="3840480"/>
            <a:ext cx="2807208" cy="10973"/>
          </a:xfrm>
          <a:prstGeom prst="rect">
            <a:avLst/>
          </a:prstGeom>
          <a:solidFill>
            <a:srgbClr val="E3E8EB"/>
          </a:solidFill>
          <a:ln/>
        </p:spPr>
      </p:sp>
      <p:sp>
        <p:nvSpPr>
          <p:cNvPr id="12" name="Text 10"/>
          <p:cNvSpPr txBox="1"/>
          <p:nvPr/>
        </p:nvSpPr>
        <p:spPr>
          <a:xfrm>
            <a:off x="932688" y="3959352"/>
            <a:ext cx="2807208" cy="548640"/>
          </a:xfrm>
          <a:prstGeom prst="rect">
            <a:avLst/>
          </a:prstGeom>
          <a:noFill/>
          <a:ln/>
        </p:spPr>
        <p:txBody>
          <a:bodyPr wrap="square" lIns="0" tIns="0" rIns="0" bIns="0" rtlCol="0" anchor="ctr"/>
          <a:lstStyle/>
          <a:p>
            <a:pPr indent="0" marL="0">
              <a:lnSpc>
                <a:spcPts val="1250"/>
              </a:lnSpc>
              <a:buNone/>
            </a:pPr>
            <a:r>
              <a:rPr lang="en-US" sz="950" dirty="0">
                <a:solidFill>
                  <a:srgbClr val="6E7B85"/>
                </a:solidFill>
                <a:latin typeface="Segoe Sans Display" pitchFamily="34" charset="0"/>
                <a:ea typeface="Segoe Sans Display" pitchFamily="34" charset="-122"/>
                <a:cs typeface="Segoe Sans Display" pitchFamily="34" charset="-120"/>
              </a:rPr>
              <a:t>Included in M365 Copilot USL</a:t>
            </a:r>
            <a:endParaRPr lang="en-US" sz="950" dirty="0"/>
          </a:p>
          <a:p>
            <a:pPr indent="0" marL="0">
              <a:lnSpc>
                <a:spcPts val="1250"/>
              </a:lnSpc>
              <a:buNone/>
            </a:pPr>
            <a:r>
              <a:rPr lang="en-US" sz="950" dirty="0">
                <a:solidFill>
                  <a:srgbClr val="6E7B85"/>
                </a:solidFill>
                <a:latin typeface="Segoe Sans Display" pitchFamily="34" charset="0"/>
                <a:ea typeface="Segoe Sans Display" pitchFamily="34" charset="-122"/>
                <a:cs typeface="Segoe Sans Display" pitchFamily="34" charset="-120"/>
              </a:rPr>
              <a:t>(fair use)</a:t>
            </a:r>
            <a:endParaRPr lang="en-US" sz="950" dirty="0"/>
          </a:p>
        </p:txBody>
      </p:sp>
      <p:sp>
        <p:nvSpPr>
          <p:cNvPr id="13" name="Shape 11"/>
          <p:cNvSpPr/>
          <p:nvPr/>
        </p:nvSpPr>
        <p:spPr>
          <a:xfrm>
            <a:off x="2336292" y="4645152"/>
            <a:ext cx="0" cy="384048"/>
          </a:xfrm>
          <a:prstGeom prst="line">
            <a:avLst/>
          </a:prstGeom>
          <a:noFill/>
          <a:ln w="25400">
            <a:solidFill>
              <a:srgbClr val="0078D4"/>
            </a:solidFill>
            <a:prstDash val="solid"/>
          </a:ln>
        </p:spPr>
      </p:sp>
      <p:sp>
        <p:nvSpPr>
          <p:cNvPr id="14" name="Shape 12"/>
          <p:cNvSpPr/>
          <p:nvPr/>
        </p:nvSpPr>
        <p:spPr>
          <a:xfrm>
            <a:off x="4215384" y="1677924"/>
            <a:ext cx="3246120" cy="2967228"/>
          </a:xfrm>
          <a:prstGeom prst="rect">
            <a:avLst/>
          </a:prstGeom>
          <a:solidFill>
            <a:srgbClr val="FFFFFF"/>
          </a:solidFill>
          <a:ln w="12700">
            <a:solidFill>
              <a:srgbClr val="C03BC4"/>
            </a:solidFill>
            <a:prstDash val="solid"/>
          </a:ln>
        </p:spPr>
      </p:sp>
      <p:sp>
        <p:nvSpPr>
          <p:cNvPr id="15" name="Shape 13"/>
          <p:cNvSpPr/>
          <p:nvPr/>
        </p:nvSpPr>
        <p:spPr>
          <a:xfrm>
            <a:off x="4215384" y="1627632"/>
            <a:ext cx="3246120" cy="50292"/>
          </a:xfrm>
          <a:prstGeom prst="rect">
            <a:avLst/>
          </a:prstGeom>
          <a:solidFill>
            <a:srgbClr val="C03BC4"/>
          </a:solidFill>
          <a:ln/>
        </p:spPr>
      </p:sp>
      <p:sp>
        <p:nvSpPr>
          <p:cNvPr id="16" name="Text 14"/>
          <p:cNvSpPr txBox="1"/>
          <p:nvPr/>
        </p:nvSpPr>
        <p:spPr>
          <a:xfrm>
            <a:off x="4434840" y="1810512"/>
            <a:ext cx="2807208" cy="274320"/>
          </a:xfrm>
          <a:prstGeom prst="rect">
            <a:avLst/>
          </a:prstGeom>
          <a:noFill/>
          <a:ln/>
        </p:spPr>
        <p:txBody>
          <a:bodyPr wrap="square" lIns="0" tIns="0" rIns="0" bIns="0" rtlCol="0" anchor="ctr"/>
          <a:lstStyle/>
          <a:p>
            <a:pPr indent="0" marL="0">
              <a:buNone/>
            </a:pPr>
            <a:r>
              <a:rPr lang="en-US" sz="1500" b="1" dirty="0">
                <a:solidFill>
                  <a:srgbClr val="091F2C"/>
                </a:solidFill>
                <a:latin typeface="Segoe Sans Display Semibold" pitchFamily="34" charset="0"/>
                <a:ea typeface="Segoe Sans Display Semibold" pitchFamily="34" charset="-122"/>
                <a:cs typeface="Segoe Sans Display Semibold" pitchFamily="34" charset="-120"/>
              </a:rPr>
              <a:t>Standard harness</a:t>
            </a:r>
            <a:endParaRPr lang="en-US" sz="1500" dirty="0"/>
          </a:p>
        </p:txBody>
      </p:sp>
      <p:sp>
        <p:nvSpPr>
          <p:cNvPr id="17" name="Text 15"/>
          <p:cNvSpPr txBox="1"/>
          <p:nvPr/>
        </p:nvSpPr>
        <p:spPr>
          <a:xfrm>
            <a:off x="4434840" y="2103120"/>
            <a:ext cx="2807208" cy="256032"/>
          </a:xfrm>
          <a:prstGeom prst="rect">
            <a:avLst/>
          </a:prstGeom>
          <a:noFill/>
          <a:ln/>
        </p:spPr>
        <p:txBody>
          <a:bodyPr wrap="square" lIns="0" tIns="0" rIns="0" bIns="0" rtlCol="0" anchor="ctr"/>
          <a:lstStyle/>
          <a:p>
            <a:pPr indent="0" marL="0">
              <a:buNone/>
            </a:pPr>
            <a:r>
              <a:rPr lang="en-US" sz="1050" b="1" dirty="0">
                <a:solidFill>
                  <a:srgbClr val="C03BC4"/>
                </a:solidFill>
                <a:latin typeface="Segoe Sans Display" pitchFamily="34" charset="0"/>
                <a:ea typeface="Segoe Sans Display" pitchFamily="34" charset="-122"/>
                <a:cs typeface="Segoe Sans Display" pitchFamily="34" charset="-120"/>
              </a:rPr>
              <a:t>Rule-based agents and agent flows</a:t>
            </a:r>
            <a:endParaRPr lang="en-US" sz="1050" dirty="0"/>
          </a:p>
        </p:txBody>
      </p:sp>
      <p:sp>
        <p:nvSpPr>
          <p:cNvPr id="18" name="Text 16"/>
          <p:cNvSpPr txBox="1"/>
          <p:nvPr/>
        </p:nvSpPr>
        <p:spPr>
          <a:xfrm>
            <a:off x="4434840" y="2450592"/>
            <a:ext cx="2807208" cy="1325880"/>
          </a:xfrm>
          <a:prstGeom prst="rect">
            <a:avLst/>
          </a:prstGeom>
          <a:noFill/>
          <a:ln/>
        </p:spPr>
        <p:txBody>
          <a:bodyPr wrap="square" lIns="0" tIns="0" rIns="0" bIns="0" rtlCol="0" anchor="ctr"/>
          <a:lstStyle/>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Topics, triggers, Power Fx,</a:t>
            </a: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Adaptive Cards. Predictable</a:t>
            </a: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by design.</a:t>
            </a:r>
            <a:endParaRPr lang="en-US" sz="1050" dirty="0"/>
          </a:p>
          <a:p>
            <a:pPr indent="0" marL="0">
              <a:lnSpc>
                <a:spcPts val="1500"/>
              </a:lnSpc>
              <a:buNone/>
            </a:pP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Internal or external.</a:t>
            </a:r>
            <a:endParaRPr lang="en-US" sz="1050" dirty="0"/>
          </a:p>
        </p:txBody>
      </p:sp>
      <p:sp>
        <p:nvSpPr>
          <p:cNvPr id="19" name="Shape 17"/>
          <p:cNvSpPr/>
          <p:nvPr/>
        </p:nvSpPr>
        <p:spPr>
          <a:xfrm>
            <a:off x="4434840" y="3840480"/>
            <a:ext cx="2807208" cy="10973"/>
          </a:xfrm>
          <a:prstGeom prst="rect">
            <a:avLst/>
          </a:prstGeom>
          <a:solidFill>
            <a:srgbClr val="E3E8EB"/>
          </a:solidFill>
          <a:ln/>
        </p:spPr>
      </p:sp>
      <p:sp>
        <p:nvSpPr>
          <p:cNvPr id="20" name="Text 18"/>
          <p:cNvSpPr txBox="1"/>
          <p:nvPr/>
        </p:nvSpPr>
        <p:spPr>
          <a:xfrm>
            <a:off x="4434840" y="3959352"/>
            <a:ext cx="2807208" cy="548640"/>
          </a:xfrm>
          <a:prstGeom prst="rect">
            <a:avLst/>
          </a:prstGeom>
          <a:noFill/>
          <a:ln/>
        </p:spPr>
        <p:txBody>
          <a:bodyPr wrap="square" lIns="0" tIns="0" rIns="0" bIns="0" rtlCol="0" anchor="ctr"/>
          <a:lstStyle/>
          <a:p>
            <a:pPr indent="0" marL="0">
              <a:lnSpc>
                <a:spcPts val="1250"/>
              </a:lnSpc>
              <a:buNone/>
            </a:pPr>
            <a:r>
              <a:rPr lang="en-US" sz="950" dirty="0">
                <a:solidFill>
                  <a:srgbClr val="6E7B85"/>
                </a:solidFill>
                <a:latin typeface="Segoe Sans Display" pitchFamily="34" charset="0"/>
                <a:ea typeface="Segoe Sans Display" pitchFamily="34" charset="-122"/>
                <a:cs typeface="Segoe Sans Display" pitchFamily="34" charset="-120"/>
              </a:rPr>
              <a:t>Free to build · rate card at</a:t>
            </a:r>
            <a:endParaRPr lang="en-US" sz="950" dirty="0"/>
          </a:p>
          <a:p>
            <a:pPr indent="0" marL="0">
              <a:lnSpc>
                <a:spcPts val="1250"/>
              </a:lnSpc>
              <a:buNone/>
            </a:pPr>
            <a:r>
              <a:rPr lang="en-US" sz="950" dirty="0">
                <a:solidFill>
                  <a:srgbClr val="6E7B85"/>
                </a:solidFill>
                <a:latin typeface="Segoe Sans Display" pitchFamily="34" charset="0"/>
                <a:ea typeface="Segoe Sans Display" pitchFamily="34" charset="-122"/>
                <a:cs typeface="Segoe Sans Display" pitchFamily="34" charset="-120"/>
              </a:rPr>
              <a:t>runtime, fair use for USL</a:t>
            </a:r>
            <a:endParaRPr lang="en-US" sz="950" dirty="0"/>
          </a:p>
        </p:txBody>
      </p:sp>
      <p:sp>
        <p:nvSpPr>
          <p:cNvPr id="21" name="Shape 19"/>
          <p:cNvSpPr/>
          <p:nvPr/>
        </p:nvSpPr>
        <p:spPr>
          <a:xfrm>
            <a:off x="5838444" y="4645152"/>
            <a:ext cx="0" cy="384048"/>
          </a:xfrm>
          <a:prstGeom prst="line">
            <a:avLst/>
          </a:prstGeom>
          <a:noFill/>
          <a:ln w="25400">
            <a:solidFill>
              <a:srgbClr val="C03BC4"/>
            </a:solidFill>
            <a:prstDash val="solid"/>
          </a:ln>
        </p:spPr>
      </p:sp>
      <p:sp>
        <p:nvSpPr>
          <p:cNvPr id="22" name="Shape 20"/>
          <p:cNvSpPr/>
          <p:nvPr/>
        </p:nvSpPr>
        <p:spPr>
          <a:xfrm>
            <a:off x="7717536" y="1677924"/>
            <a:ext cx="3246120" cy="2967228"/>
          </a:xfrm>
          <a:prstGeom prst="rect">
            <a:avLst/>
          </a:prstGeom>
          <a:solidFill>
            <a:srgbClr val="FFFFFF"/>
          </a:solidFill>
          <a:ln w="12700">
            <a:solidFill>
              <a:srgbClr val="8661C5"/>
            </a:solidFill>
            <a:prstDash val="solid"/>
          </a:ln>
        </p:spPr>
      </p:sp>
      <p:sp>
        <p:nvSpPr>
          <p:cNvPr id="23" name="Shape 21"/>
          <p:cNvSpPr/>
          <p:nvPr/>
        </p:nvSpPr>
        <p:spPr>
          <a:xfrm>
            <a:off x="7717536" y="1627632"/>
            <a:ext cx="3246120" cy="50292"/>
          </a:xfrm>
          <a:prstGeom prst="rect">
            <a:avLst/>
          </a:prstGeom>
          <a:solidFill>
            <a:srgbClr val="8661C5"/>
          </a:solidFill>
          <a:ln/>
        </p:spPr>
      </p:sp>
      <p:sp>
        <p:nvSpPr>
          <p:cNvPr id="24" name="Text 22"/>
          <p:cNvSpPr txBox="1"/>
          <p:nvPr/>
        </p:nvSpPr>
        <p:spPr>
          <a:xfrm>
            <a:off x="7936992" y="1810512"/>
            <a:ext cx="2807208" cy="274320"/>
          </a:xfrm>
          <a:prstGeom prst="rect">
            <a:avLst/>
          </a:prstGeom>
          <a:noFill/>
          <a:ln/>
        </p:spPr>
        <p:txBody>
          <a:bodyPr wrap="square" lIns="0" tIns="0" rIns="0" bIns="0" rtlCol="0" anchor="ctr"/>
          <a:lstStyle/>
          <a:p>
            <a:pPr indent="0" marL="0">
              <a:buNone/>
            </a:pPr>
            <a:r>
              <a:rPr lang="en-US" sz="1500" b="1" dirty="0">
                <a:solidFill>
                  <a:srgbClr val="091F2C"/>
                </a:solidFill>
                <a:latin typeface="Segoe Sans Display Semibold" pitchFamily="34" charset="0"/>
                <a:ea typeface="Segoe Sans Display Semibold" pitchFamily="34" charset="-122"/>
                <a:cs typeface="Segoe Sans Display Semibold" pitchFamily="34" charset="-120"/>
              </a:rPr>
              <a:t>GitHub Copilot harness</a:t>
            </a:r>
            <a:endParaRPr lang="en-US" sz="1500" dirty="0"/>
          </a:p>
        </p:txBody>
      </p:sp>
      <p:sp>
        <p:nvSpPr>
          <p:cNvPr id="25" name="Text 23"/>
          <p:cNvSpPr txBox="1"/>
          <p:nvPr/>
        </p:nvSpPr>
        <p:spPr>
          <a:xfrm>
            <a:off x="7936992" y="2103120"/>
            <a:ext cx="2807208" cy="256032"/>
          </a:xfrm>
          <a:prstGeom prst="rect">
            <a:avLst/>
          </a:prstGeom>
          <a:noFill/>
          <a:ln/>
        </p:spPr>
        <p:txBody>
          <a:bodyPr wrap="square" lIns="0" tIns="0" rIns="0" bIns="0" rtlCol="0" anchor="ctr"/>
          <a:lstStyle/>
          <a:p>
            <a:pPr indent="0" marL="0">
              <a:buNone/>
            </a:pPr>
            <a:r>
              <a:rPr lang="en-US" sz="1050" b="1" dirty="0">
                <a:solidFill>
                  <a:srgbClr val="8661C5"/>
                </a:solidFill>
                <a:latin typeface="Segoe Sans Display" pitchFamily="34" charset="0"/>
                <a:ea typeface="Segoe Sans Display" pitchFamily="34" charset="-122"/>
                <a:cs typeface="Segoe Sans Display" pitchFamily="34" charset="-120"/>
              </a:rPr>
              <a:t>Reasoning-heavy, multi-step work</a:t>
            </a:r>
            <a:endParaRPr lang="en-US" sz="1050" dirty="0"/>
          </a:p>
        </p:txBody>
      </p:sp>
      <p:sp>
        <p:nvSpPr>
          <p:cNvPr id="26" name="Text 24"/>
          <p:cNvSpPr txBox="1"/>
          <p:nvPr/>
        </p:nvSpPr>
        <p:spPr>
          <a:xfrm>
            <a:off x="7936992" y="2450592"/>
            <a:ext cx="2807208" cy="1325880"/>
          </a:xfrm>
          <a:prstGeom prst="rect">
            <a:avLst/>
          </a:prstGeom>
          <a:noFill/>
          <a:ln/>
        </p:spPr>
        <p:txBody>
          <a:bodyPr wrap="square" lIns="0" tIns="0" rIns="0" bIns="0" rtlCol="0" anchor="ctr"/>
          <a:lstStyle/>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Plans its own steps, recovers</a:t>
            </a: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from failure, writes Office files,</a:t>
            </a: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skills + memory + MCP.</a:t>
            </a:r>
            <a:endParaRPr lang="en-US" sz="1050" dirty="0"/>
          </a:p>
          <a:p>
            <a:pPr indent="0" marL="0">
              <a:lnSpc>
                <a:spcPts val="1500"/>
              </a:lnSpc>
              <a:buNone/>
            </a:pPr>
            <a:endParaRPr lang="en-US" sz="1050" dirty="0"/>
          </a:p>
          <a:p>
            <a:pPr indent="0" marL="0">
              <a:lnSpc>
                <a:spcPts val="1500"/>
              </a:lnSpc>
              <a:buNone/>
            </a:pPr>
            <a:r>
              <a:rPr lang="en-US" sz="1050" dirty="0">
                <a:solidFill>
                  <a:srgbClr val="3B4A54"/>
                </a:solidFill>
                <a:latin typeface="Segoe Sans Display" pitchFamily="34" charset="0"/>
                <a:ea typeface="Segoe Sans Display" pitchFamily="34" charset="-122"/>
                <a:cs typeface="Segoe Sans Display" pitchFamily="34" charset="-120"/>
              </a:rPr>
              <a:t>Internal or external.</a:t>
            </a:r>
            <a:endParaRPr lang="en-US" sz="1050" dirty="0"/>
          </a:p>
        </p:txBody>
      </p:sp>
      <p:sp>
        <p:nvSpPr>
          <p:cNvPr id="27" name="Shape 25"/>
          <p:cNvSpPr/>
          <p:nvPr/>
        </p:nvSpPr>
        <p:spPr>
          <a:xfrm>
            <a:off x="7936992" y="3840480"/>
            <a:ext cx="2807208" cy="10973"/>
          </a:xfrm>
          <a:prstGeom prst="rect">
            <a:avLst/>
          </a:prstGeom>
          <a:solidFill>
            <a:srgbClr val="E3E8EB"/>
          </a:solidFill>
          <a:ln/>
        </p:spPr>
      </p:sp>
      <p:sp>
        <p:nvSpPr>
          <p:cNvPr id="28" name="Text 26"/>
          <p:cNvSpPr txBox="1"/>
          <p:nvPr/>
        </p:nvSpPr>
        <p:spPr>
          <a:xfrm>
            <a:off x="7936992" y="3959352"/>
            <a:ext cx="2807208" cy="548640"/>
          </a:xfrm>
          <a:prstGeom prst="rect">
            <a:avLst/>
          </a:prstGeom>
          <a:noFill/>
          <a:ln/>
        </p:spPr>
        <p:txBody>
          <a:bodyPr wrap="square" lIns="0" tIns="0" rIns="0" bIns="0" rtlCol="0" anchor="ctr"/>
          <a:lstStyle/>
          <a:p>
            <a:pPr indent="0" marL="0">
              <a:lnSpc>
                <a:spcPts val="1250"/>
              </a:lnSpc>
              <a:buNone/>
            </a:pPr>
            <a:r>
              <a:rPr lang="en-US" sz="950" dirty="0">
                <a:solidFill>
                  <a:srgbClr val="6E7B85"/>
                </a:solidFill>
                <a:latin typeface="Segoe Sans Display" pitchFamily="34" charset="0"/>
                <a:ea typeface="Segoe Sans Display" pitchFamily="34" charset="-122"/>
                <a:cs typeface="Segoe Sans Display" pitchFamily="34" charset="-120"/>
              </a:rPr>
              <a:t>Usage-based credits — from the</a:t>
            </a:r>
            <a:endParaRPr lang="en-US" sz="950" dirty="0"/>
          </a:p>
          <a:p>
            <a:pPr indent="0" marL="0">
              <a:lnSpc>
                <a:spcPts val="1250"/>
              </a:lnSpc>
              <a:buNone/>
            </a:pPr>
            <a:r>
              <a:rPr lang="en-US" sz="950" dirty="0">
                <a:solidFill>
                  <a:srgbClr val="6E7B85"/>
                </a:solidFill>
                <a:latin typeface="Segoe Sans Display" pitchFamily="34" charset="0"/>
                <a:ea typeface="Segoe Sans Display" pitchFamily="34" charset="-122"/>
                <a:cs typeface="Segoe Sans Display" pitchFamily="34" charset="-120"/>
              </a:rPr>
              <a:t>first build action</a:t>
            </a:r>
            <a:endParaRPr lang="en-US" sz="950" dirty="0"/>
          </a:p>
        </p:txBody>
      </p:sp>
      <p:sp>
        <p:nvSpPr>
          <p:cNvPr id="29" name="Shape 27"/>
          <p:cNvSpPr/>
          <p:nvPr/>
        </p:nvSpPr>
        <p:spPr>
          <a:xfrm>
            <a:off x="9340596" y="4645152"/>
            <a:ext cx="0" cy="384048"/>
          </a:xfrm>
          <a:prstGeom prst="line">
            <a:avLst/>
          </a:prstGeom>
          <a:noFill/>
          <a:ln w="25400">
            <a:solidFill>
              <a:srgbClr val="8661C5"/>
            </a:solidFill>
            <a:prstDash val="solid"/>
          </a:ln>
        </p:spPr>
      </p:sp>
      <p:sp>
        <p:nvSpPr>
          <p:cNvPr id="30" name="Shape 28"/>
          <p:cNvSpPr/>
          <p:nvPr/>
        </p:nvSpPr>
        <p:spPr>
          <a:xfrm>
            <a:off x="713232" y="5079492"/>
            <a:ext cx="10250424" cy="818388"/>
          </a:xfrm>
          <a:prstGeom prst="rect">
            <a:avLst/>
          </a:prstGeom>
          <a:solidFill>
            <a:srgbClr val="EFF7FD"/>
          </a:solidFill>
          <a:ln w="12700">
            <a:solidFill>
              <a:srgbClr val="0078D4"/>
            </a:solidFill>
            <a:prstDash val="solid"/>
          </a:ln>
        </p:spPr>
      </p:sp>
      <p:sp>
        <p:nvSpPr>
          <p:cNvPr id="31" name="Shape 29"/>
          <p:cNvSpPr/>
          <p:nvPr/>
        </p:nvSpPr>
        <p:spPr>
          <a:xfrm>
            <a:off x="713232" y="5029200"/>
            <a:ext cx="10250424" cy="50292"/>
          </a:xfrm>
          <a:prstGeom prst="rect">
            <a:avLst/>
          </a:prstGeom>
          <a:solidFill>
            <a:srgbClr val="0078D4"/>
          </a:solidFill>
          <a:ln/>
        </p:spPr>
      </p:sp>
      <p:pic>
        <p:nvPicPr>
          <p:cNvPr id="32" name="Image 0" descr="preencoded.png">    </p:cNvPr>
          <p:cNvPicPr>
            <a:picLocks noChangeAspect="1"/>
          </p:cNvPicPr>
          <p:nvPr/>
        </p:nvPicPr>
        <p:blipFill>
          <a:blip r:embed="rId1"/>
          <a:stretch>
            <a:fillRect/>
          </a:stretch>
        </p:blipFill>
        <p:spPr>
          <a:xfrm>
            <a:off x="960120" y="5230368"/>
            <a:ext cx="566928" cy="566928"/>
          </a:xfrm>
          <a:prstGeom prst="rect">
            <a:avLst/>
          </a:prstGeom>
        </p:spPr>
      </p:pic>
      <p:sp>
        <p:nvSpPr>
          <p:cNvPr id="33" name="Text 30"/>
          <p:cNvSpPr txBox="1"/>
          <p:nvPr/>
        </p:nvSpPr>
        <p:spPr>
          <a:xfrm>
            <a:off x="1691640" y="5248656"/>
            <a:ext cx="5486400" cy="274320"/>
          </a:xfrm>
          <a:prstGeom prst="rect">
            <a:avLst/>
          </a:prstGeom>
          <a:noFill/>
          <a:ln/>
        </p:spPr>
        <p:txBody>
          <a:bodyPr wrap="square" lIns="0" tIns="0" rIns="0" bIns="0" rtlCol="0" anchor="ctr"/>
          <a:lstStyle/>
          <a:p>
            <a:pPr indent="0" marL="0">
              <a:buNone/>
            </a:pPr>
            <a:r>
              <a:rPr lang="en-US" sz="1500" b="1" dirty="0">
                <a:solidFill>
                  <a:srgbClr val="091F2C"/>
                </a:solidFill>
                <a:latin typeface="Segoe Sans Display Semibold" pitchFamily="34" charset="0"/>
                <a:ea typeface="Segoe Sans Display Semibold" pitchFamily="34" charset="-122"/>
                <a:cs typeface="Segoe Sans Display Semibold" pitchFamily="34" charset="-120"/>
              </a:rPr>
              <a:t>Copilot Studio</a:t>
            </a:r>
            <a:endParaRPr lang="en-US" sz="1500" dirty="0"/>
          </a:p>
        </p:txBody>
      </p:sp>
      <p:sp>
        <p:nvSpPr>
          <p:cNvPr id="34" name="Text 31"/>
          <p:cNvSpPr txBox="1"/>
          <p:nvPr/>
        </p:nvSpPr>
        <p:spPr>
          <a:xfrm>
            <a:off x="1691640" y="5532120"/>
            <a:ext cx="9052560" cy="256032"/>
          </a:xfrm>
          <a:prstGeom prst="rect">
            <a:avLst/>
          </a:prstGeom>
          <a:noFill/>
          <a:ln/>
        </p:spPr>
        <p:txBody>
          <a:bodyPr wrap="square" lIns="0" tIns="0" rIns="0" bIns="0" rtlCol="0" anchor="ctr"/>
          <a:lstStyle/>
          <a:p>
            <a:pPr indent="0" marL="0">
              <a:buNone/>
            </a:pPr>
            <a:r>
              <a:rPr lang="en-US" sz="1100" dirty="0">
                <a:solidFill>
                  <a:srgbClr val="3B4A54"/>
                </a:solidFill>
                <a:latin typeface="Segoe Sans Display" pitchFamily="34" charset="0"/>
                <a:ea typeface="Segoe Sans Display" pitchFamily="34" charset="-122"/>
                <a:cs typeface="Segoe Sans Display" pitchFamily="34" charset="-120"/>
              </a:rPr>
              <a:t>One platform carries all three — and the harness cannot be changed after the agent is created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MATCH THE WORK TO THE RUNTIME</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What each harness is actually for</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4</a:t>
            </a:r>
            <a:endParaRPr lang="en-US" sz="800" dirty="0"/>
          </a:p>
        </p:txBody>
      </p:sp>
      <p:sp>
        <p:nvSpPr>
          <p:cNvPr id="6" name="Shape 4"/>
          <p:cNvSpPr/>
          <p:nvPr/>
        </p:nvSpPr>
        <p:spPr>
          <a:xfrm>
            <a:off x="713232" y="1604772"/>
            <a:ext cx="3246120" cy="4247388"/>
          </a:xfrm>
          <a:prstGeom prst="rect">
            <a:avLst/>
          </a:prstGeom>
          <a:solidFill>
            <a:srgbClr val="FFFFFF"/>
          </a:solidFill>
          <a:ln w="12700">
            <a:solidFill>
              <a:srgbClr val="0078D4"/>
            </a:solidFill>
            <a:prstDash val="solid"/>
          </a:ln>
        </p:spPr>
      </p:sp>
      <p:sp>
        <p:nvSpPr>
          <p:cNvPr id="7" name="Shape 5"/>
          <p:cNvSpPr/>
          <p:nvPr/>
        </p:nvSpPr>
        <p:spPr>
          <a:xfrm>
            <a:off x="713232" y="1554480"/>
            <a:ext cx="3246120" cy="50292"/>
          </a:xfrm>
          <a:prstGeom prst="rect">
            <a:avLst/>
          </a:prstGeom>
          <a:solidFill>
            <a:srgbClr val="0078D4"/>
          </a:solidFill>
          <a:ln/>
        </p:spPr>
      </p:sp>
      <p:sp>
        <p:nvSpPr>
          <p:cNvPr id="8" name="Text 6"/>
          <p:cNvSpPr txBox="1"/>
          <p:nvPr/>
        </p:nvSpPr>
        <p:spPr>
          <a:xfrm>
            <a:off x="932688" y="1737360"/>
            <a:ext cx="2807208" cy="256032"/>
          </a:xfrm>
          <a:prstGeom prst="rect">
            <a:avLst/>
          </a:prstGeom>
          <a:noFill/>
          <a:ln/>
        </p:spPr>
        <p:txBody>
          <a:bodyPr wrap="square" lIns="0" tIns="0" rIns="0" bIns="0" rtlCol="0" anchor="ctr"/>
          <a:lstStyle/>
          <a:p>
            <a:pPr indent="0" marL="0">
              <a:buNone/>
            </a:pPr>
            <a:r>
              <a:rPr lang="en-US" sz="1450" b="1" dirty="0">
                <a:solidFill>
                  <a:srgbClr val="091F2C"/>
                </a:solidFill>
                <a:latin typeface="Segoe Sans Display Semibold" pitchFamily="34" charset="0"/>
                <a:ea typeface="Segoe Sans Display Semibold" pitchFamily="34" charset="-122"/>
                <a:cs typeface="Segoe Sans Display Semibold" pitchFamily="34" charset="-120"/>
              </a:rPr>
              <a:t>Copilot chat harness</a:t>
            </a:r>
            <a:endParaRPr lang="en-US" sz="1450" dirty="0"/>
          </a:p>
        </p:txBody>
      </p:sp>
      <p:sp>
        <p:nvSpPr>
          <p:cNvPr id="9" name="Text 7"/>
          <p:cNvSpPr txBox="1"/>
          <p:nvPr/>
        </p:nvSpPr>
        <p:spPr>
          <a:xfrm>
            <a:off x="932688" y="2048256"/>
            <a:ext cx="2807208" cy="713232"/>
          </a:xfrm>
          <a:prstGeom prst="rect">
            <a:avLst/>
          </a:prstGeom>
          <a:noFill/>
          <a:ln/>
        </p:spPr>
        <p:txBody>
          <a:bodyPr wrap="square" lIns="0" tIns="0" rIns="0" bIns="0" rtlCol="0" anchor="ctr"/>
          <a:lstStyle/>
          <a:p>
            <a:pPr indent="0" marL="0">
              <a:lnSpc>
                <a:spcPts val="1300"/>
              </a:lnSpc>
              <a:buNone/>
            </a:pPr>
            <a:r>
              <a:rPr lang="en-US" sz="1000" b="1" dirty="0">
                <a:solidFill>
                  <a:srgbClr val="0078D4"/>
                </a:solidFill>
                <a:latin typeface="Segoe Sans Display" pitchFamily="34" charset="0"/>
                <a:ea typeface="Segoe Sans Display" pitchFamily="34" charset="-122"/>
                <a:cs typeface="Segoe Sans Display" pitchFamily="34" charset="-120"/>
              </a:rPr>
              <a:t>Reach for it when employees need grounded answers inside Microsoft 365, and nobody outside the organisation will ever use it.</a:t>
            </a:r>
            <a:endParaRPr lang="en-US" sz="1000" dirty="0"/>
          </a:p>
        </p:txBody>
      </p:sp>
      <p:sp>
        <p:nvSpPr>
          <p:cNvPr id="10" name="Text 8"/>
          <p:cNvSpPr txBox="1"/>
          <p:nvPr/>
        </p:nvSpPr>
        <p:spPr>
          <a:xfrm>
            <a:off x="932688" y="2834640"/>
            <a:ext cx="2807208" cy="182880"/>
          </a:xfrm>
          <a:prstGeom prst="rect">
            <a:avLst/>
          </a:prstGeom>
          <a:noFill/>
          <a:ln/>
        </p:spPr>
        <p:txBody>
          <a:bodyPr wrap="square" lIns="0" tIns="0" rIns="0" bIns="0" rtlCol="0" anchor="ctr"/>
          <a:lstStyle/>
          <a:p>
            <a:pPr indent="0" marL="0">
              <a:buNone/>
            </a:pPr>
            <a:r>
              <a:rPr lang="en-US" sz="850" b="1" spc="100" kern="0" dirty="0">
                <a:solidFill>
                  <a:srgbClr val="6E7B85"/>
                </a:solidFill>
                <a:latin typeface="Segoe Sans Display Semibold" pitchFamily="34" charset="0"/>
                <a:ea typeface="Segoe Sans Display Semibold" pitchFamily="34" charset="-122"/>
                <a:cs typeface="Segoe Sans Display Semibold" pitchFamily="34" charset="-120"/>
              </a:rPr>
              <a:t>TYPICAL USE CASES</a:t>
            </a:r>
            <a:endParaRPr lang="en-US" sz="850" dirty="0"/>
          </a:p>
        </p:txBody>
      </p:sp>
      <p:sp>
        <p:nvSpPr>
          <p:cNvPr id="11" name="Text 9"/>
          <p:cNvSpPr txBox="1"/>
          <p:nvPr/>
        </p:nvSpPr>
        <p:spPr>
          <a:xfrm>
            <a:off x="932688" y="3072384"/>
            <a:ext cx="2807208" cy="1700784"/>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Compliance and policy Q&amp;A over SharePoint</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Regulatory change briefings for advisors</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Onboarding and HR policy answers in Teams</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Fund and product fact-sheet lookup</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Internal "where do I find…" routing</a:t>
            </a:r>
            <a:endParaRPr lang="en-US" sz="1000" dirty="0"/>
          </a:p>
        </p:txBody>
      </p:sp>
      <p:sp>
        <p:nvSpPr>
          <p:cNvPr id="12" name="Shape 10"/>
          <p:cNvSpPr/>
          <p:nvPr/>
        </p:nvSpPr>
        <p:spPr>
          <a:xfrm>
            <a:off x="932688" y="4937760"/>
            <a:ext cx="2807208" cy="10973"/>
          </a:xfrm>
          <a:prstGeom prst="rect">
            <a:avLst/>
          </a:prstGeom>
          <a:solidFill>
            <a:srgbClr val="E3E8EB"/>
          </a:solidFill>
          <a:ln/>
        </p:spPr>
      </p:sp>
      <p:sp>
        <p:nvSpPr>
          <p:cNvPr id="13" name="Text 11"/>
          <p:cNvSpPr txBox="1"/>
          <p:nvPr/>
        </p:nvSpPr>
        <p:spPr>
          <a:xfrm>
            <a:off x="932688" y="5065776"/>
            <a:ext cx="2807208" cy="621792"/>
          </a:xfrm>
          <a:prstGeom prst="rect">
            <a:avLst/>
          </a:prstGeom>
          <a:noFill/>
          <a:ln/>
        </p:spPr>
        <p:txBody>
          <a:bodyPr wrap="square" lIns="0" tIns="0" rIns="0" bIns="0" rtlCol="0" anchor="ctr"/>
          <a:lstStyle/>
          <a:p>
            <a:pPr indent="0" marL="0">
              <a:lnSpc>
                <a:spcPts val="1250"/>
              </a:lnSpc>
              <a:buNone/>
            </a:pPr>
            <a:r>
              <a:rPr lang="en-US" sz="950" i="1" dirty="0">
                <a:solidFill>
                  <a:srgbClr val="3B4A54"/>
                </a:solidFill>
                <a:latin typeface="Segoe Sans Display" pitchFamily="34" charset="0"/>
                <a:ea typeface="Segoe Sans Display" pitchFamily="34" charset="-122"/>
                <a:cs typeface="Segoe Sans Display" pitchFamily="34" charset="-120"/>
              </a:rPr>
              <a:t>Not for: anything a client touches, and anything that has to run on a schedule.</a:t>
            </a:r>
            <a:endParaRPr lang="en-US" sz="950" dirty="0"/>
          </a:p>
        </p:txBody>
      </p:sp>
      <p:sp>
        <p:nvSpPr>
          <p:cNvPr id="14" name="Shape 12"/>
          <p:cNvSpPr/>
          <p:nvPr/>
        </p:nvSpPr>
        <p:spPr>
          <a:xfrm>
            <a:off x="4215384" y="1604772"/>
            <a:ext cx="3246120" cy="4247388"/>
          </a:xfrm>
          <a:prstGeom prst="rect">
            <a:avLst/>
          </a:prstGeom>
          <a:solidFill>
            <a:srgbClr val="FFFFFF"/>
          </a:solidFill>
          <a:ln w="12700">
            <a:solidFill>
              <a:srgbClr val="C03BC4"/>
            </a:solidFill>
            <a:prstDash val="solid"/>
          </a:ln>
        </p:spPr>
      </p:sp>
      <p:sp>
        <p:nvSpPr>
          <p:cNvPr id="15" name="Shape 13"/>
          <p:cNvSpPr/>
          <p:nvPr/>
        </p:nvSpPr>
        <p:spPr>
          <a:xfrm>
            <a:off x="4215384" y="1554480"/>
            <a:ext cx="3246120" cy="50292"/>
          </a:xfrm>
          <a:prstGeom prst="rect">
            <a:avLst/>
          </a:prstGeom>
          <a:solidFill>
            <a:srgbClr val="C03BC4"/>
          </a:solidFill>
          <a:ln/>
        </p:spPr>
      </p:sp>
      <p:sp>
        <p:nvSpPr>
          <p:cNvPr id="16" name="Text 14"/>
          <p:cNvSpPr txBox="1"/>
          <p:nvPr/>
        </p:nvSpPr>
        <p:spPr>
          <a:xfrm>
            <a:off x="4434840" y="1737360"/>
            <a:ext cx="2807208" cy="256032"/>
          </a:xfrm>
          <a:prstGeom prst="rect">
            <a:avLst/>
          </a:prstGeom>
          <a:noFill/>
          <a:ln/>
        </p:spPr>
        <p:txBody>
          <a:bodyPr wrap="square" lIns="0" tIns="0" rIns="0" bIns="0" rtlCol="0" anchor="ctr"/>
          <a:lstStyle/>
          <a:p>
            <a:pPr indent="0" marL="0">
              <a:buNone/>
            </a:pPr>
            <a:r>
              <a:rPr lang="en-US" sz="1450" b="1" dirty="0">
                <a:solidFill>
                  <a:srgbClr val="091F2C"/>
                </a:solidFill>
                <a:latin typeface="Segoe Sans Display Semibold" pitchFamily="34" charset="0"/>
                <a:ea typeface="Segoe Sans Display Semibold" pitchFamily="34" charset="-122"/>
                <a:cs typeface="Segoe Sans Display Semibold" pitchFamily="34" charset="-120"/>
              </a:rPr>
              <a:t>Standard harness</a:t>
            </a:r>
            <a:endParaRPr lang="en-US" sz="1450" dirty="0"/>
          </a:p>
        </p:txBody>
      </p:sp>
      <p:sp>
        <p:nvSpPr>
          <p:cNvPr id="17" name="Text 15"/>
          <p:cNvSpPr txBox="1"/>
          <p:nvPr/>
        </p:nvSpPr>
        <p:spPr>
          <a:xfrm>
            <a:off x="4434840" y="2048256"/>
            <a:ext cx="2807208" cy="713232"/>
          </a:xfrm>
          <a:prstGeom prst="rect">
            <a:avLst/>
          </a:prstGeom>
          <a:noFill/>
          <a:ln/>
        </p:spPr>
        <p:txBody>
          <a:bodyPr wrap="square" lIns="0" tIns="0" rIns="0" bIns="0" rtlCol="0" anchor="ctr"/>
          <a:lstStyle/>
          <a:p>
            <a:pPr indent="0" marL="0">
              <a:lnSpc>
                <a:spcPts val="1300"/>
              </a:lnSpc>
              <a:buNone/>
            </a:pPr>
            <a:r>
              <a:rPr lang="en-US" sz="1000" b="1" dirty="0">
                <a:solidFill>
                  <a:srgbClr val="C03BC4"/>
                </a:solidFill>
                <a:latin typeface="Segoe Sans Display" pitchFamily="34" charset="0"/>
                <a:ea typeface="Segoe Sans Display" pitchFamily="34" charset="-122"/>
                <a:cs typeface="Segoe Sans Display" pitchFamily="34" charset="-120"/>
              </a:rPr>
              <a:t>Reach for it when you already know the path through the conversation and you need it to run the same way every time.</a:t>
            </a:r>
            <a:endParaRPr lang="en-US" sz="1000" dirty="0"/>
          </a:p>
        </p:txBody>
      </p:sp>
      <p:sp>
        <p:nvSpPr>
          <p:cNvPr id="18" name="Text 16"/>
          <p:cNvSpPr txBox="1"/>
          <p:nvPr/>
        </p:nvSpPr>
        <p:spPr>
          <a:xfrm>
            <a:off x="4434840" y="2834640"/>
            <a:ext cx="2807208" cy="182880"/>
          </a:xfrm>
          <a:prstGeom prst="rect">
            <a:avLst/>
          </a:prstGeom>
          <a:noFill/>
          <a:ln/>
        </p:spPr>
        <p:txBody>
          <a:bodyPr wrap="square" lIns="0" tIns="0" rIns="0" bIns="0" rtlCol="0" anchor="ctr"/>
          <a:lstStyle/>
          <a:p>
            <a:pPr indent="0" marL="0">
              <a:buNone/>
            </a:pPr>
            <a:r>
              <a:rPr lang="en-US" sz="850" b="1" spc="100" kern="0" dirty="0">
                <a:solidFill>
                  <a:srgbClr val="6E7B85"/>
                </a:solidFill>
                <a:latin typeface="Segoe Sans Display Semibold" pitchFamily="34" charset="0"/>
                <a:ea typeface="Segoe Sans Display Semibold" pitchFamily="34" charset="-122"/>
                <a:cs typeface="Segoe Sans Display Semibold" pitchFamily="34" charset="-120"/>
              </a:rPr>
              <a:t>TYPICAL USE CASES</a:t>
            </a:r>
            <a:endParaRPr lang="en-US" sz="850" dirty="0"/>
          </a:p>
        </p:txBody>
      </p:sp>
      <p:sp>
        <p:nvSpPr>
          <p:cNvPr id="19" name="Text 17"/>
          <p:cNvSpPr txBox="1"/>
          <p:nvPr/>
        </p:nvSpPr>
        <p:spPr>
          <a:xfrm>
            <a:off x="4434840" y="3072384"/>
            <a:ext cx="2807208" cy="1700784"/>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Client onboarding intake with validation</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Service desk triage and ticket creation</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KYC document checklist walkthrough</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Website FAQ and appointment booking</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Structured data capture into Dataverse</a:t>
            </a:r>
            <a:endParaRPr lang="en-US" sz="1000" dirty="0"/>
          </a:p>
        </p:txBody>
      </p:sp>
      <p:sp>
        <p:nvSpPr>
          <p:cNvPr id="20" name="Shape 18"/>
          <p:cNvSpPr/>
          <p:nvPr/>
        </p:nvSpPr>
        <p:spPr>
          <a:xfrm>
            <a:off x="4434840" y="4937760"/>
            <a:ext cx="2807208" cy="10973"/>
          </a:xfrm>
          <a:prstGeom prst="rect">
            <a:avLst/>
          </a:prstGeom>
          <a:solidFill>
            <a:srgbClr val="E3E8EB"/>
          </a:solidFill>
          <a:ln/>
        </p:spPr>
      </p:sp>
      <p:sp>
        <p:nvSpPr>
          <p:cNvPr id="21" name="Text 19"/>
          <p:cNvSpPr txBox="1"/>
          <p:nvPr/>
        </p:nvSpPr>
        <p:spPr>
          <a:xfrm>
            <a:off x="4434840" y="5065776"/>
            <a:ext cx="2807208" cy="621792"/>
          </a:xfrm>
          <a:prstGeom prst="rect">
            <a:avLst/>
          </a:prstGeom>
          <a:noFill/>
          <a:ln/>
        </p:spPr>
        <p:txBody>
          <a:bodyPr wrap="square" lIns="0" tIns="0" rIns="0" bIns="0" rtlCol="0" anchor="ctr"/>
          <a:lstStyle/>
          <a:p>
            <a:pPr indent="0" marL="0">
              <a:lnSpc>
                <a:spcPts val="1250"/>
              </a:lnSpc>
              <a:buNone/>
            </a:pPr>
            <a:r>
              <a:rPr lang="en-US" sz="950" i="1" dirty="0">
                <a:solidFill>
                  <a:srgbClr val="3B4A54"/>
                </a:solidFill>
                <a:latin typeface="Segoe Sans Display" pitchFamily="34" charset="0"/>
                <a:ea typeface="Segoe Sans Display" pitchFamily="34" charset="-122"/>
                <a:cs typeface="Segoe Sans Display" pitchFamily="34" charset="-120"/>
              </a:rPr>
              <a:t>The auditable option — every path is authored, so you can show a regulator exactly what it does.</a:t>
            </a:r>
            <a:endParaRPr lang="en-US" sz="950" dirty="0"/>
          </a:p>
        </p:txBody>
      </p:sp>
      <p:sp>
        <p:nvSpPr>
          <p:cNvPr id="22" name="Shape 20"/>
          <p:cNvSpPr/>
          <p:nvPr/>
        </p:nvSpPr>
        <p:spPr>
          <a:xfrm>
            <a:off x="7717536" y="1604772"/>
            <a:ext cx="3246120" cy="4247388"/>
          </a:xfrm>
          <a:prstGeom prst="rect">
            <a:avLst/>
          </a:prstGeom>
          <a:solidFill>
            <a:srgbClr val="FFFFFF"/>
          </a:solidFill>
          <a:ln w="12700">
            <a:solidFill>
              <a:srgbClr val="8661C5"/>
            </a:solidFill>
            <a:prstDash val="solid"/>
          </a:ln>
        </p:spPr>
      </p:sp>
      <p:sp>
        <p:nvSpPr>
          <p:cNvPr id="23" name="Shape 21"/>
          <p:cNvSpPr/>
          <p:nvPr/>
        </p:nvSpPr>
        <p:spPr>
          <a:xfrm>
            <a:off x="7717536" y="1554480"/>
            <a:ext cx="3246120" cy="50292"/>
          </a:xfrm>
          <a:prstGeom prst="rect">
            <a:avLst/>
          </a:prstGeom>
          <a:solidFill>
            <a:srgbClr val="8661C5"/>
          </a:solidFill>
          <a:ln/>
        </p:spPr>
      </p:sp>
      <p:sp>
        <p:nvSpPr>
          <p:cNvPr id="24" name="Text 22"/>
          <p:cNvSpPr txBox="1"/>
          <p:nvPr/>
        </p:nvSpPr>
        <p:spPr>
          <a:xfrm>
            <a:off x="7936992" y="1737360"/>
            <a:ext cx="2807208" cy="256032"/>
          </a:xfrm>
          <a:prstGeom prst="rect">
            <a:avLst/>
          </a:prstGeom>
          <a:noFill/>
          <a:ln/>
        </p:spPr>
        <p:txBody>
          <a:bodyPr wrap="square" lIns="0" tIns="0" rIns="0" bIns="0" rtlCol="0" anchor="ctr"/>
          <a:lstStyle/>
          <a:p>
            <a:pPr indent="0" marL="0">
              <a:buNone/>
            </a:pPr>
            <a:r>
              <a:rPr lang="en-US" sz="1450" b="1" dirty="0">
                <a:solidFill>
                  <a:srgbClr val="091F2C"/>
                </a:solidFill>
                <a:latin typeface="Segoe Sans Display Semibold" pitchFamily="34" charset="0"/>
                <a:ea typeface="Segoe Sans Display Semibold" pitchFamily="34" charset="-122"/>
                <a:cs typeface="Segoe Sans Display Semibold" pitchFamily="34" charset="-120"/>
              </a:rPr>
              <a:t>GitHub Copilot harness</a:t>
            </a:r>
            <a:endParaRPr lang="en-US" sz="1450" dirty="0"/>
          </a:p>
        </p:txBody>
      </p:sp>
      <p:sp>
        <p:nvSpPr>
          <p:cNvPr id="25" name="Text 23"/>
          <p:cNvSpPr txBox="1"/>
          <p:nvPr/>
        </p:nvSpPr>
        <p:spPr>
          <a:xfrm>
            <a:off x="7936992" y="2048256"/>
            <a:ext cx="2807208" cy="713232"/>
          </a:xfrm>
          <a:prstGeom prst="rect">
            <a:avLst/>
          </a:prstGeom>
          <a:noFill/>
          <a:ln/>
        </p:spPr>
        <p:txBody>
          <a:bodyPr wrap="square" lIns="0" tIns="0" rIns="0" bIns="0" rtlCol="0" anchor="ctr"/>
          <a:lstStyle/>
          <a:p>
            <a:pPr indent="0" marL="0">
              <a:lnSpc>
                <a:spcPts val="1300"/>
              </a:lnSpc>
              <a:buNone/>
            </a:pPr>
            <a:r>
              <a:rPr lang="en-US" sz="1000" b="1" dirty="0">
                <a:solidFill>
                  <a:srgbClr val="8661C5"/>
                </a:solidFill>
                <a:latin typeface="Segoe Sans Display" pitchFamily="34" charset="0"/>
                <a:ea typeface="Segoe Sans Display" pitchFamily="34" charset="-122"/>
                <a:cs typeface="Segoe Sans Display" pitchFamily="34" charset="-120"/>
              </a:rPr>
              <a:t>Reach for it when you cannot map the path in advance and the work spans documents, systems and judgement.</a:t>
            </a:r>
            <a:endParaRPr lang="en-US" sz="1000" dirty="0"/>
          </a:p>
        </p:txBody>
      </p:sp>
      <p:sp>
        <p:nvSpPr>
          <p:cNvPr id="26" name="Text 24"/>
          <p:cNvSpPr txBox="1"/>
          <p:nvPr/>
        </p:nvSpPr>
        <p:spPr>
          <a:xfrm>
            <a:off x="7936992" y="2834640"/>
            <a:ext cx="2807208" cy="182880"/>
          </a:xfrm>
          <a:prstGeom prst="rect">
            <a:avLst/>
          </a:prstGeom>
          <a:noFill/>
          <a:ln/>
        </p:spPr>
        <p:txBody>
          <a:bodyPr wrap="square" lIns="0" tIns="0" rIns="0" bIns="0" rtlCol="0" anchor="ctr"/>
          <a:lstStyle/>
          <a:p>
            <a:pPr indent="0" marL="0">
              <a:buNone/>
            </a:pPr>
            <a:r>
              <a:rPr lang="en-US" sz="850" b="1" spc="100" kern="0" dirty="0">
                <a:solidFill>
                  <a:srgbClr val="6E7B85"/>
                </a:solidFill>
                <a:latin typeface="Segoe Sans Display Semibold" pitchFamily="34" charset="0"/>
                <a:ea typeface="Segoe Sans Display Semibold" pitchFamily="34" charset="-122"/>
                <a:cs typeface="Segoe Sans Display Semibold" pitchFamily="34" charset="-120"/>
              </a:rPr>
              <a:t>TYPICAL USE CASES</a:t>
            </a:r>
            <a:endParaRPr lang="en-US" sz="850" dirty="0"/>
          </a:p>
        </p:txBody>
      </p:sp>
      <p:sp>
        <p:nvSpPr>
          <p:cNvPr id="27" name="Text 25"/>
          <p:cNvSpPr txBox="1"/>
          <p:nvPr/>
        </p:nvSpPr>
        <p:spPr>
          <a:xfrm>
            <a:off x="7936992" y="3072384"/>
            <a:ext cx="2807208" cy="1700784"/>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Invoice matching and exception routing</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Credit memo drafting from several sources</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AML alert triage with a written narrative</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Portfolio review packs in Word and Excel</a:t>
            </a:r>
            <a:endParaRPr lang="en-US" sz="1000" dirty="0"/>
          </a:p>
          <a:p>
            <a:pPr marL="342900" indent="-342900">
              <a:spcAft>
                <a:spcPts val="700"/>
              </a:spcAft>
              <a:buSzPct val="100000"/>
              <a:buChar char="•"/>
            </a:pPr>
            <a:r>
              <a:rPr lang="en-US" sz="1000" dirty="0">
                <a:solidFill>
                  <a:srgbClr val="3B4A54"/>
                </a:solidFill>
                <a:latin typeface="Segoe Sans Display" pitchFamily="34" charset="0"/>
                <a:ea typeface="Segoe Sans Display" pitchFamily="34" charset="-122"/>
                <a:cs typeface="Segoe Sans Display" pitchFamily="34" charset="-120"/>
              </a:rPr>
              <a:t>Multi-system loan file assembly</a:t>
            </a:r>
            <a:endParaRPr lang="en-US" sz="1000" dirty="0"/>
          </a:p>
        </p:txBody>
      </p:sp>
      <p:sp>
        <p:nvSpPr>
          <p:cNvPr id="28" name="Shape 26"/>
          <p:cNvSpPr/>
          <p:nvPr/>
        </p:nvSpPr>
        <p:spPr>
          <a:xfrm>
            <a:off x="7936992" y="4937760"/>
            <a:ext cx="2807208" cy="10973"/>
          </a:xfrm>
          <a:prstGeom prst="rect">
            <a:avLst/>
          </a:prstGeom>
          <a:solidFill>
            <a:srgbClr val="E3E8EB"/>
          </a:solidFill>
          <a:ln/>
        </p:spPr>
      </p:sp>
      <p:sp>
        <p:nvSpPr>
          <p:cNvPr id="29" name="Text 27"/>
          <p:cNvSpPr txBox="1"/>
          <p:nvPr/>
        </p:nvSpPr>
        <p:spPr>
          <a:xfrm>
            <a:off x="7936992" y="5065776"/>
            <a:ext cx="2807208" cy="621792"/>
          </a:xfrm>
          <a:prstGeom prst="rect">
            <a:avLst/>
          </a:prstGeom>
          <a:noFill/>
          <a:ln/>
        </p:spPr>
        <p:txBody>
          <a:bodyPr wrap="square" lIns="0" tIns="0" rIns="0" bIns="0" rtlCol="0" anchor="ctr"/>
          <a:lstStyle/>
          <a:p>
            <a:pPr indent="0" marL="0">
              <a:lnSpc>
                <a:spcPts val="1250"/>
              </a:lnSpc>
              <a:buNone/>
            </a:pPr>
            <a:r>
              <a:rPr lang="en-US" sz="950" i="1" dirty="0">
                <a:solidFill>
                  <a:srgbClr val="3B4A54"/>
                </a:solidFill>
                <a:latin typeface="Segoe Sans Display" pitchFamily="34" charset="0"/>
                <a:ea typeface="Segoe Sans Display" pitchFamily="34" charset="-122"/>
                <a:cs typeface="Segoe Sans Display" pitchFamily="34" charset="-120"/>
              </a:rPr>
              <a:t>The expensive option, and sometimes the only one. Pilot a real workload before you commit.</a:t>
            </a:r>
            <a:endParaRPr lang="en-US" sz="950" dirty="0"/>
          </a:p>
        </p:txBody>
      </p:sp>
      <p:sp>
        <p:nvSpPr>
          <p:cNvPr id="30" name="Text 28"/>
          <p:cNvSpPr txBox="1"/>
          <p:nvPr/>
        </p:nvSpPr>
        <p:spPr>
          <a:xfrm>
            <a:off x="713232" y="5980176"/>
            <a:ext cx="10241280" cy="256032"/>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If two harnesses could both do the job, take the cheaper one — that is almost always Standard.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THE RULE BEHIND EVERY ANSWER</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Fair use: four conditions, all must hold</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5</a:t>
            </a:r>
            <a:endParaRPr lang="en-US" sz="800" dirty="0"/>
          </a:p>
        </p:txBody>
      </p:sp>
      <p:sp>
        <p:nvSpPr>
          <p:cNvPr id="6" name="Text 4"/>
          <p:cNvSpPr txBox="1"/>
          <p:nvPr/>
        </p:nvSpPr>
        <p:spPr>
          <a:xfrm>
            <a:off x="713232" y="1481328"/>
            <a:ext cx="10241280" cy="292608"/>
          </a:xfrm>
          <a:prstGeom prst="rect">
            <a:avLst/>
          </a:prstGeom>
          <a:noFill/>
          <a:ln/>
        </p:spPr>
        <p:txBody>
          <a:bodyPr wrap="square" lIns="0" tIns="0" rIns="0" bIns="0" rtlCol="0" anchor="ctr"/>
          <a:lstStyle/>
          <a:p>
            <a:pPr indent="0" marL="0">
              <a:buNone/>
            </a:pPr>
            <a:r>
              <a:rPr lang="en-US" sz="1200" dirty="0">
                <a:solidFill>
                  <a:srgbClr val="3B4A54"/>
                </a:solidFill>
                <a:latin typeface="Segoe Sans Display" pitchFamily="34" charset="0"/>
                <a:ea typeface="Segoe Sans Display" pitchFamily="34" charset="-122"/>
                <a:cs typeface="Segoe Sans Display" pitchFamily="34" charset="-120"/>
              </a:rPr>
              <a:t>Microsoft 365 Copilot covers Standard and Copilot chat harness runtime only when every one of these is true. Fail any single condition and the published rate card applies.</a:t>
            </a:r>
            <a:endParaRPr lang="en-US" sz="1200" dirty="0"/>
          </a:p>
        </p:txBody>
      </p:sp>
      <p:sp>
        <p:nvSpPr>
          <p:cNvPr id="7" name="Shape 5"/>
          <p:cNvSpPr/>
          <p:nvPr/>
        </p:nvSpPr>
        <p:spPr>
          <a:xfrm>
            <a:off x="713232" y="1965960"/>
            <a:ext cx="10250424" cy="713232"/>
          </a:xfrm>
          <a:prstGeom prst="rect">
            <a:avLst/>
          </a:prstGeom>
          <a:solidFill>
            <a:srgbClr val="FFF8F5"/>
          </a:solidFill>
          <a:ln w="12700">
            <a:solidFill>
              <a:srgbClr val="E3E8EB"/>
            </a:solidFill>
            <a:prstDash val="solid"/>
          </a:ln>
        </p:spPr>
      </p:sp>
      <p:sp>
        <p:nvSpPr>
          <p:cNvPr id="8" name="Shape 6"/>
          <p:cNvSpPr/>
          <p:nvPr/>
        </p:nvSpPr>
        <p:spPr>
          <a:xfrm>
            <a:off x="713232" y="1965960"/>
            <a:ext cx="50292" cy="713232"/>
          </a:xfrm>
          <a:prstGeom prst="rect">
            <a:avLst/>
          </a:prstGeom>
          <a:solidFill>
            <a:srgbClr val="0078D4"/>
          </a:solidFill>
          <a:ln/>
        </p:spPr>
      </p:sp>
      <p:sp>
        <p:nvSpPr>
          <p:cNvPr id="9" name="Text 7"/>
          <p:cNvSpPr txBox="1"/>
          <p:nvPr/>
        </p:nvSpPr>
        <p:spPr>
          <a:xfrm>
            <a:off x="932688" y="2139696"/>
            <a:ext cx="365760" cy="365760"/>
          </a:xfrm>
          <a:prstGeom prst="rect">
            <a:avLst/>
          </a:prstGeom>
          <a:noFill/>
          <a:ln/>
        </p:spPr>
        <p:txBody>
          <a:bodyPr wrap="square" lIns="0" tIns="0" rIns="0" bIns="0" rtlCol="0" anchor="ctr"/>
          <a:lstStyle/>
          <a:p>
            <a:pPr indent="0" marL="0">
              <a:buNone/>
            </a:pPr>
            <a:r>
              <a:rPr lang="en-US" sz="2100" b="1" dirty="0">
                <a:solidFill>
                  <a:srgbClr val="0078D4"/>
                </a:solidFill>
                <a:latin typeface="Segoe Sans Display Semibold" pitchFamily="34" charset="0"/>
                <a:ea typeface="Segoe Sans Display Semibold" pitchFamily="34" charset="-122"/>
                <a:cs typeface="Segoe Sans Display Semibold" pitchFamily="34" charset="-120"/>
              </a:rPr>
              <a:t>1</a:t>
            </a:r>
            <a:endParaRPr lang="en-US" sz="2100" dirty="0"/>
          </a:p>
        </p:txBody>
      </p:sp>
      <p:sp>
        <p:nvSpPr>
          <p:cNvPr id="10" name="Text 8"/>
          <p:cNvSpPr txBox="1"/>
          <p:nvPr/>
        </p:nvSpPr>
        <p:spPr>
          <a:xfrm>
            <a:off x="1389888" y="2084832"/>
            <a:ext cx="2468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Licensed user</a:t>
            </a:r>
            <a:endParaRPr lang="en-US" sz="1300" dirty="0"/>
          </a:p>
        </p:txBody>
      </p:sp>
      <p:sp>
        <p:nvSpPr>
          <p:cNvPr id="11" name="Text 9"/>
          <p:cNvSpPr txBox="1"/>
          <p:nvPr/>
        </p:nvSpPr>
        <p:spPr>
          <a:xfrm>
            <a:off x="1389888" y="2350008"/>
            <a:ext cx="9326880" cy="256032"/>
          </a:xfrm>
          <a:prstGeom prst="rect">
            <a:avLst/>
          </a:prstGeom>
          <a:noFill/>
          <a:ln/>
        </p:spPr>
        <p:txBody>
          <a:bodyPr wrap="square" lIns="0" tIns="0" rIns="0" bIns="0" rtlCol="0" anchor="ctr"/>
          <a:lstStyle/>
          <a:p>
            <a:pPr indent="0" marL="0">
              <a:buNone/>
            </a:pPr>
            <a:r>
              <a:rPr lang="en-US" sz="1050" dirty="0">
                <a:solidFill>
                  <a:srgbClr val="3B4A54"/>
                </a:solidFill>
                <a:latin typeface="Segoe Sans Display" pitchFamily="34" charset="0"/>
                <a:ea typeface="Segoe Sans Display" pitchFamily="34" charset="-122"/>
                <a:cs typeface="Segoe Sans Display" pitchFamily="34" charset="-120"/>
              </a:rPr>
              <a:t>The person using the agent holds a Microsoft 365 Copilot USL.</a:t>
            </a:r>
            <a:endParaRPr lang="en-US" sz="1050" dirty="0"/>
          </a:p>
        </p:txBody>
      </p:sp>
      <p:sp>
        <p:nvSpPr>
          <p:cNvPr id="12" name="Shape 10"/>
          <p:cNvSpPr/>
          <p:nvPr/>
        </p:nvSpPr>
        <p:spPr>
          <a:xfrm>
            <a:off x="713232" y="2807208"/>
            <a:ext cx="10250424" cy="713232"/>
          </a:xfrm>
          <a:prstGeom prst="rect">
            <a:avLst/>
          </a:prstGeom>
          <a:solidFill>
            <a:srgbClr val="FFF8F5"/>
          </a:solidFill>
          <a:ln w="12700">
            <a:solidFill>
              <a:srgbClr val="E3E8EB"/>
            </a:solidFill>
            <a:prstDash val="solid"/>
          </a:ln>
        </p:spPr>
      </p:sp>
      <p:sp>
        <p:nvSpPr>
          <p:cNvPr id="13" name="Shape 11"/>
          <p:cNvSpPr/>
          <p:nvPr/>
        </p:nvSpPr>
        <p:spPr>
          <a:xfrm>
            <a:off x="713232" y="2807208"/>
            <a:ext cx="50292" cy="713232"/>
          </a:xfrm>
          <a:prstGeom prst="rect">
            <a:avLst/>
          </a:prstGeom>
          <a:solidFill>
            <a:srgbClr val="0078D4"/>
          </a:solidFill>
          <a:ln/>
        </p:spPr>
      </p:sp>
      <p:sp>
        <p:nvSpPr>
          <p:cNvPr id="14" name="Text 12"/>
          <p:cNvSpPr txBox="1"/>
          <p:nvPr/>
        </p:nvSpPr>
        <p:spPr>
          <a:xfrm>
            <a:off x="932688" y="2980944"/>
            <a:ext cx="365760" cy="365760"/>
          </a:xfrm>
          <a:prstGeom prst="rect">
            <a:avLst/>
          </a:prstGeom>
          <a:noFill/>
          <a:ln/>
        </p:spPr>
        <p:txBody>
          <a:bodyPr wrap="square" lIns="0" tIns="0" rIns="0" bIns="0" rtlCol="0" anchor="ctr"/>
          <a:lstStyle/>
          <a:p>
            <a:pPr indent="0" marL="0">
              <a:buNone/>
            </a:pPr>
            <a:r>
              <a:rPr lang="en-US" sz="2100" b="1" dirty="0">
                <a:solidFill>
                  <a:srgbClr val="0078D4"/>
                </a:solidFill>
                <a:latin typeface="Segoe Sans Display Semibold" pitchFamily="34" charset="0"/>
                <a:ea typeface="Segoe Sans Display Semibold" pitchFamily="34" charset="-122"/>
                <a:cs typeface="Segoe Sans Display Semibold" pitchFamily="34" charset="-120"/>
              </a:rPr>
              <a:t>2</a:t>
            </a:r>
            <a:endParaRPr lang="en-US" sz="2100" dirty="0"/>
          </a:p>
        </p:txBody>
      </p:sp>
      <p:sp>
        <p:nvSpPr>
          <p:cNvPr id="15" name="Text 13"/>
          <p:cNvSpPr txBox="1"/>
          <p:nvPr/>
        </p:nvSpPr>
        <p:spPr>
          <a:xfrm>
            <a:off x="1389888" y="2926080"/>
            <a:ext cx="2468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Microsoft surface</a:t>
            </a:r>
            <a:endParaRPr lang="en-US" sz="1300" dirty="0"/>
          </a:p>
        </p:txBody>
      </p:sp>
      <p:sp>
        <p:nvSpPr>
          <p:cNvPr id="16" name="Text 14"/>
          <p:cNvSpPr txBox="1"/>
          <p:nvPr/>
        </p:nvSpPr>
        <p:spPr>
          <a:xfrm>
            <a:off x="1389888" y="3191256"/>
            <a:ext cx="9326880" cy="256032"/>
          </a:xfrm>
          <a:prstGeom prst="rect">
            <a:avLst/>
          </a:prstGeom>
          <a:noFill/>
          <a:ln/>
        </p:spPr>
        <p:txBody>
          <a:bodyPr wrap="square" lIns="0" tIns="0" rIns="0" bIns="0" rtlCol="0" anchor="ctr"/>
          <a:lstStyle/>
          <a:p>
            <a:pPr indent="0" marL="0">
              <a:buNone/>
            </a:pPr>
            <a:r>
              <a:rPr lang="en-US" sz="1050" dirty="0">
                <a:solidFill>
                  <a:srgbClr val="3B4A54"/>
                </a:solidFill>
                <a:latin typeface="Segoe Sans Display" pitchFamily="34" charset="0"/>
                <a:ea typeface="Segoe Sans Display" pitchFamily="34" charset="-122"/>
                <a:cs typeface="Segoe Sans Display" pitchFamily="34" charset="-120"/>
              </a:rPr>
              <a:t>The interaction happens in Copilot, Teams or SharePoint — not a website, WhatsApp or app.</a:t>
            </a:r>
            <a:endParaRPr lang="en-US" sz="1050" dirty="0"/>
          </a:p>
        </p:txBody>
      </p:sp>
      <p:sp>
        <p:nvSpPr>
          <p:cNvPr id="17" name="Shape 15"/>
          <p:cNvSpPr/>
          <p:nvPr/>
        </p:nvSpPr>
        <p:spPr>
          <a:xfrm>
            <a:off x="713232" y="3648456"/>
            <a:ext cx="10250424" cy="713232"/>
          </a:xfrm>
          <a:prstGeom prst="rect">
            <a:avLst/>
          </a:prstGeom>
          <a:solidFill>
            <a:srgbClr val="FFF8F5"/>
          </a:solidFill>
          <a:ln w="12700">
            <a:solidFill>
              <a:srgbClr val="E3E8EB"/>
            </a:solidFill>
            <a:prstDash val="solid"/>
          </a:ln>
        </p:spPr>
      </p:sp>
      <p:sp>
        <p:nvSpPr>
          <p:cNvPr id="18" name="Shape 16"/>
          <p:cNvSpPr/>
          <p:nvPr/>
        </p:nvSpPr>
        <p:spPr>
          <a:xfrm>
            <a:off x="713232" y="3648456"/>
            <a:ext cx="50292" cy="713232"/>
          </a:xfrm>
          <a:prstGeom prst="rect">
            <a:avLst/>
          </a:prstGeom>
          <a:solidFill>
            <a:srgbClr val="0078D4"/>
          </a:solidFill>
          <a:ln/>
        </p:spPr>
      </p:sp>
      <p:sp>
        <p:nvSpPr>
          <p:cNvPr id="19" name="Text 17"/>
          <p:cNvSpPr txBox="1"/>
          <p:nvPr/>
        </p:nvSpPr>
        <p:spPr>
          <a:xfrm>
            <a:off x="932688" y="3822192"/>
            <a:ext cx="365760" cy="365760"/>
          </a:xfrm>
          <a:prstGeom prst="rect">
            <a:avLst/>
          </a:prstGeom>
          <a:noFill/>
          <a:ln/>
        </p:spPr>
        <p:txBody>
          <a:bodyPr wrap="square" lIns="0" tIns="0" rIns="0" bIns="0" rtlCol="0" anchor="ctr"/>
          <a:lstStyle/>
          <a:p>
            <a:pPr indent="0" marL="0">
              <a:buNone/>
            </a:pPr>
            <a:r>
              <a:rPr lang="en-US" sz="2100" b="1" dirty="0">
                <a:solidFill>
                  <a:srgbClr val="0078D4"/>
                </a:solidFill>
                <a:latin typeface="Segoe Sans Display Semibold" pitchFamily="34" charset="0"/>
                <a:ea typeface="Segoe Sans Display Semibold" pitchFamily="34" charset="-122"/>
                <a:cs typeface="Segoe Sans Display Semibold" pitchFamily="34" charset="-120"/>
              </a:rPr>
              <a:t>3</a:t>
            </a:r>
            <a:endParaRPr lang="en-US" sz="2100" dirty="0"/>
          </a:p>
        </p:txBody>
      </p:sp>
      <p:sp>
        <p:nvSpPr>
          <p:cNvPr id="20" name="Text 18"/>
          <p:cNvSpPr txBox="1"/>
          <p:nvPr/>
        </p:nvSpPr>
        <p:spPr>
          <a:xfrm>
            <a:off x="1389888" y="3767328"/>
            <a:ext cx="2468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Authenticated identity</a:t>
            </a:r>
            <a:endParaRPr lang="en-US" sz="1300" dirty="0"/>
          </a:p>
        </p:txBody>
      </p:sp>
      <p:sp>
        <p:nvSpPr>
          <p:cNvPr id="21" name="Text 19"/>
          <p:cNvSpPr txBox="1"/>
          <p:nvPr/>
        </p:nvSpPr>
        <p:spPr>
          <a:xfrm>
            <a:off x="1389888" y="4032504"/>
            <a:ext cx="9326880" cy="256032"/>
          </a:xfrm>
          <a:prstGeom prst="rect">
            <a:avLst/>
          </a:prstGeom>
          <a:noFill/>
          <a:ln/>
        </p:spPr>
        <p:txBody>
          <a:bodyPr wrap="square" lIns="0" tIns="0" rIns="0" bIns="0" rtlCol="0" anchor="ctr"/>
          <a:lstStyle/>
          <a:p>
            <a:pPr indent="0" marL="0">
              <a:buNone/>
            </a:pPr>
            <a:r>
              <a:rPr lang="en-US" sz="1050" dirty="0">
                <a:solidFill>
                  <a:srgbClr val="3B4A54"/>
                </a:solidFill>
                <a:latin typeface="Segoe Sans Display" pitchFamily="34" charset="0"/>
                <a:ea typeface="Segoe Sans Display" pitchFamily="34" charset="-122"/>
                <a:cs typeface="Segoe Sans Display" pitchFamily="34" charset="-120"/>
              </a:rPr>
              <a:t>The agent runs under that user's signed-in identity — not anonymously, not unattended.</a:t>
            </a:r>
            <a:endParaRPr lang="en-US" sz="1050" dirty="0"/>
          </a:p>
        </p:txBody>
      </p:sp>
      <p:sp>
        <p:nvSpPr>
          <p:cNvPr id="22" name="Shape 20"/>
          <p:cNvSpPr/>
          <p:nvPr/>
        </p:nvSpPr>
        <p:spPr>
          <a:xfrm>
            <a:off x="713232" y="4489704"/>
            <a:ext cx="10250424" cy="713232"/>
          </a:xfrm>
          <a:prstGeom prst="rect">
            <a:avLst/>
          </a:prstGeom>
          <a:solidFill>
            <a:srgbClr val="FFF8F5"/>
          </a:solidFill>
          <a:ln w="12700">
            <a:solidFill>
              <a:srgbClr val="E3E8EB"/>
            </a:solidFill>
            <a:prstDash val="solid"/>
          </a:ln>
        </p:spPr>
      </p:sp>
      <p:sp>
        <p:nvSpPr>
          <p:cNvPr id="23" name="Shape 21"/>
          <p:cNvSpPr/>
          <p:nvPr/>
        </p:nvSpPr>
        <p:spPr>
          <a:xfrm>
            <a:off x="713232" y="4489704"/>
            <a:ext cx="50292" cy="713232"/>
          </a:xfrm>
          <a:prstGeom prst="rect">
            <a:avLst/>
          </a:prstGeom>
          <a:solidFill>
            <a:srgbClr val="0078D4"/>
          </a:solidFill>
          <a:ln/>
        </p:spPr>
      </p:sp>
      <p:sp>
        <p:nvSpPr>
          <p:cNvPr id="24" name="Text 22"/>
          <p:cNvSpPr txBox="1"/>
          <p:nvPr/>
        </p:nvSpPr>
        <p:spPr>
          <a:xfrm>
            <a:off x="932688" y="4663440"/>
            <a:ext cx="365760" cy="365760"/>
          </a:xfrm>
          <a:prstGeom prst="rect">
            <a:avLst/>
          </a:prstGeom>
          <a:noFill/>
          <a:ln/>
        </p:spPr>
        <p:txBody>
          <a:bodyPr wrap="square" lIns="0" tIns="0" rIns="0" bIns="0" rtlCol="0" anchor="ctr"/>
          <a:lstStyle/>
          <a:p>
            <a:pPr indent="0" marL="0">
              <a:buNone/>
            </a:pPr>
            <a:r>
              <a:rPr lang="en-US" sz="2100" b="1" dirty="0">
                <a:solidFill>
                  <a:srgbClr val="0078D4"/>
                </a:solidFill>
                <a:latin typeface="Segoe Sans Display Semibold" pitchFamily="34" charset="0"/>
                <a:ea typeface="Segoe Sans Display Semibold" pitchFamily="34" charset="-122"/>
                <a:cs typeface="Segoe Sans Display Semibold" pitchFamily="34" charset="-120"/>
              </a:rPr>
              <a:t>4</a:t>
            </a:r>
            <a:endParaRPr lang="en-US" sz="2100" dirty="0"/>
          </a:p>
        </p:txBody>
      </p:sp>
      <p:sp>
        <p:nvSpPr>
          <p:cNvPr id="25" name="Text 23"/>
          <p:cNvSpPr txBox="1"/>
          <p:nvPr/>
        </p:nvSpPr>
        <p:spPr>
          <a:xfrm>
            <a:off x="1389888" y="4608576"/>
            <a:ext cx="2468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Within fair use</a:t>
            </a:r>
            <a:endParaRPr lang="en-US" sz="1300" dirty="0"/>
          </a:p>
        </p:txBody>
      </p:sp>
      <p:sp>
        <p:nvSpPr>
          <p:cNvPr id="26" name="Text 24"/>
          <p:cNvSpPr txBox="1"/>
          <p:nvPr/>
        </p:nvSpPr>
        <p:spPr>
          <a:xfrm>
            <a:off x="1389888" y="4873752"/>
            <a:ext cx="9326880" cy="256032"/>
          </a:xfrm>
          <a:prstGeom prst="rect">
            <a:avLst/>
          </a:prstGeom>
          <a:noFill/>
          <a:ln/>
        </p:spPr>
        <p:txBody>
          <a:bodyPr wrap="square" lIns="0" tIns="0" rIns="0" bIns="0" rtlCol="0" anchor="ctr"/>
          <a:lstStyle/>
          <a:p>
            <a:pPr indent="0" marL="0">
              <a:buNone/>
            </a:pPr>
            <a:r>
              <a:rPr lang="en-US" sz="1050" dirty="0">
                <a:solidFill>
                  <a:srgbClr val="3B4A54"/>
                </a:solidFill>
                <a:latin typeface="Segoe Sans Display" pitchFamily="34" charset="0"/>
                <a:ea typeface="Segoe Sans Display" pitchFamily="34" charset="-122"/>
                <a:cs typeface="Segoe Sans Display" pitchFamily="34" charset="-120"/>
              </a:rPr>
              <a:t>Undefined publicly. Microsoft reserves the right to revise the limits as usage patterns emerge.</a:t>
            </a:r>
            <a:endParaRPr lang="en-US" sz="1050" dirty="0"/>
          </a:p>
        </p:txBody>
      </p:sp>
      <p:sp>
        <p:nvSpPr>
          <p:cNvPr id="27" name="Text 25"/>
          <p:cNvSpPr txBox="1"/>
          <p:nvPr/>
        </p:nvSpPr>
        <p:spPr>
          <a:xfrm>
            <a:off x="713232" y="5440680"/>
            <a:ext cx="10241280" cy="256032"/>
          </a:xfrm>
          <a:prstGeom prst="rect">
            <a:avLst/>
          </a:prstGeom>
          <a:noFill/>
          <a:ln/>
        </p:spPr>
        <p:txBody>
          <a:bodyPr wrap="square" lIns="0" tIns="0" rIns="0" bIns="0" rtlCol="0" anchor="ctr"/>
          <a:lstStyle/>
          <a:p>
            <a:pPr indent="0" marL="0">
              <a:buNone/>
            </a:pPr>
            <a:r>
              <a:rPr lang="en-US" sz="1100" b="1" dirty="0">
                <a:solidFill>
                  <a:srgbClr val="FF5C39"/>
                </a:solidFill>
                <a:latin typeface="Segoe Sans Display" pitchFamily="34" charset="0"/>
                <a:ea typeface="Segoe Sans Display" pitchFamily="34" charset="-122"/>
                <a:cs typeface="Segoe Sans Display" pitchFamily="34" charset="-120"/>
              </a:rPr>
              <a:t>Condition 3 is the one that surprises people — it is what puts autonomous runs outside the licence.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THE EXCEPTION THAT COSTS MONEY</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Standard harness + autonomous actions = credits</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6</a:t>
            </a:r>
            <a:endParaRPr lang="en-US" sz="800" dirty="0"/>
          </a:p>
        </p:txBody>
      </p:sp>
      <p:sp>
        <p:nvSpPr>
          <p:cNvPr id="6" name="Shape 4"/>
          <p:cNvSpPr/>
          <p:nvPr/>
        </p:nvSpPr>
        <p:spPr>
          <a:xfrm>
            <a:off x="713232" y="1604772"/>
            <a:ext cx="10250424" cy="1120140"/>
          </a:xfrm>
          <a:prstGeom prst="rect">
            <a:avLst/>
          </a:prstGeom>
          <a:solidFill>
            <a:srgbClr val="FFF4F0"/>
          </a:solidFill>
          <a:ln w="12700">
            <a:solidFill>
              <a:srgbClr val="FF5C39"/>
            </a:solidFill>
            <a:prstDash val="solid"/>
          </a:ln>
        </p:spPr>
      </p:sp>
      <p:sp>
        <p:nvSpPr>
          <p:cNvPr id="7" name="Shape 5"/>
          <p:cNvSpPr/>
          <p:nvPr/>
        </p:nvSpPr>
        <p:spPr>
          <a:xfrm>
            <a:off x="713232" y="1554480"/>
            <a:ext cx="10250424" cy="50292"/>
          </a:xfrm>
          <a:prstGeom prst="rect">
            <a:avLst/>
          </a:prstGeom>
          <a:solidFill>
            <a:srgbClr val="FF5C39"/>
          </a:solidFill>
          <a:ln/>
        </p:spPr>
      </p:sp>
      <p:sp>
        <p:nvSpPr>
          <p:cNvPr id="8" name="Text 6"/>
          <p:cNvSpPr txBox="1"/>
          <p:nvPr/>
        </p:nvSpPr>
        <p:spPr>
          <a:xfrm>
            <a:off x="987552" y="1755648"/>
            <a:ext cx="9692640" cy="274320"/>
          </a:xfrm>
          <a:prstGeom prst="rect">
            <a:avLst/>
          </a:prstGeom>
          <a:noFill/>
          <a:ln/>
        </p:spPr>
        <p:txBody>
          <a:bodyPr wrap="square" lIns="0" tIns="0" rIns="0" bIns="0" rtlCol="0" anchor="ctr"/>
          <a:lstStyle/>
          <a:p>
            <a:pPr indent="0" marL="0">
              <a:buNone/>
            </a:pPr>
            <a:r>
              <a:rPr lang="en-US" sz="1500" b="1" dirty="0">
                <a:solidFill>
                  <a:srgbClr val="091F2C"/>
                </a:solidFill>
                <a:latin typeface="Segoe Sans Display Semibold" pitchFamily="34" charset="0"/>
                <a:ea typeface="Segoe Sans Display Semibold" pitchFamily="34" charset="-122"/>
                <a:cs typeface="Segoe Sans Display Semibold" pitchFamily="34" charset="-120"/>
              </a:rPr>
              <a:t>A Standard harness agent is only free while a licensed person is driving it.</a:t>
            </a:r>
            <a:endParaRPr lang="en-US" sz="1500" dirty="0"/>
          </a:p>
        </p:txBody>
      </p:sp>
      <p:sp>
        <p:nvSpPr>
          <p:cNvPr id="9" name="Text 7"/>
          <p:cNvSpPr txBox="1"/>
          <p:nvPr/>
        </p:nvSpPr>
        <p:spPr>
          <a:xfrm>
            <a:off x="987552" y="2066544"/>
            <a:ext cx="9692640" cy="548640"/>
          </a:xfrm>
          <a:prstGeom prst="rect">
            <a:avLst/>
          </a:prstGeom>
          <a:noFill/>
          <a:ln/>
        </p:spPr>
        <p:txBody>
          <a:bodyPr wrap="square" lIns="0" tIns="0" rIns="0" bIns="0" rtlCol="0" anchor="ctr"/>
          <a:lstStyle/>
          <a:p>
            <a:pPr indent="0" marL="0">
              <a:lnSpc>
                <a:spcPts val="1500"/>
              </a:lnSpc>
              <a:buNone/>
            </a:pPr>
            <a:r>
              <a:rPr lang="en-US" sz="1150" dirty="0">
                <a:solidFill>
                  <a:srgbClr val="3B4A54"/>
                </a:solidFill>
                <a:latin typeface="Segoe Sans Display" pitchFamily="34" charset="0"/>
                <a:ea typeface="Segoe Sans Display" pitchFamily="34" charset="-122"/>
                <a:cs typeface="Segoe Sans Display" pitchFamily="34" charset="-120"/>
              </a:rPr>
              <a:t>Add a schedule, an event trigger or a Power Automate call and the run becomes unattended. There is no authenticated Microsoft 365 Copilot identity behind it, so condition 3 fails and every action meters at the published rate — on the same agent, on the same harness, in the same tenant.</a:t>
            </a:r>
            <a:endParaRPr lang="en-US" sz="1150" dirty="0"/>
          </a:p>
        </p:txBody>
      </p:sp>
      <p:sp>
        <p:nvSpPr>
          <p:cNvPr id="10" name="Text 8"/>
          <p:cNvSpPr txBox="1"/>
          <p:nvPr/>
        </p:nvSpPr>
        <p:spPr>
          <a:xfrm>
            <a:off x="713232" y="2871216"/>
            <a:ext cx="4937760" cy="201168"/>
          </a:xfrm>
          <a:prstGeom prst="rect">
            <a:avLst/>
          </a:prstGeom>
          <a:noFill/>
          <a:ln/>
        </p:spPr>
        <p:txBody>
          <a:bodyPr wrap="square" lIns="0" tIns="0" rIns="0" bIns="0" rtlCol="0" anchor="ctr"/>
          <a:lstStyle/>
          <a:p>
            <a:pPr indent="0" marL="0">
              <a:buNone/>
            </a:pPr>
            <a:r>
              <a:rPr lang="en-US" sz="900" b="1" spc="100" kern="0" dirty="0">
                <a:solidFill>
                  <a:srgbClr val="0078D4"/>
                </a:solidFill>
                <a:latin typeface="Segoe Sans Display Semibold" pitchFamily="34" charset="0"/>
                <a:ea typeface="Segoe Sans Display Semibold" pitchFamily="34" charset="-122"/>
                <a:cs typeface="Segoe Sans Display Semibold" pitchFamily="34" charset="-120"/>
              </a:rPr>
              <a:t>WHAT MICROSOFT DOCUMENTS</a:t>
            </a:r>
            <a:endParaRPr lang="en-US" sz="900" dirty="0"/>
          </a:p>
        </p:txBody>
      </p:sp>
      <p:sp>
        <p:nvSpPr>
          <p:cNvPr id="11" name="Shape 9"/>
          <p:cNvSpPr/>
          <p:nvPr/>
        </p:nvSpPr>
        <p:spPr>
          <a:xfrm>
            <a:off x="713232" y="3145536"/>
            <a:ext cx="50292" cy="566928"/>
          </a:xfrm>
          <a:prstGeom prst="rect">
            <a:avLst/>
          </a:prstGeom>
          <a:solidFill>
            <a:srgbClr val="FF5C39"/>
          </a:solidFill>
          <a:ln/>
        </p:spPr>
      </p:sp>
      <p:sp>
        <p:nvSpPr>
          <p:cNvPr id="12" name="Text 10"/>
          <p:cNvSpPr txBox="1"/>
          <p:nvPr/>
        </p:nvSpPr>
        <p:spPr>
          <a:xfrm>
            <a:off x="914400" y="3145536"/>
            <a:ext cx="475488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Agent flows</a:t>
            </a:r>
            <a:endParaRPr lang="en-US" sz="1100" dirty="0"/>
          </a:p>
        </p:txBody>
      </p:sp>
      <p:sp>
        <p:nvSpPr>
          <p:cNvPr id="13" name="Text 11"/>
          <p:cNvSpPr txBox="1"/>
          <p:nvPr/>
        </p:nvSpPr>
        <p:spPr>
          <a:xfrm>
            <a:off x="914400" y="3355848"/>
            <a:ext cx="4754880" cy="384048"/>
          </a:xfrm>
          <a:prstGeom prst="rect">
            <a:avLst/>
          </a:prstGeom>
          <a:noFill/>
          <a:ln/>
        </p:spPr>
        <p:txBody>
          <a:bodyPr wrap="square" lIns="0" tIns="0" rIns="0" bIns="0" rtlCol="0" anchor="ctr"/>
          <a:lstStyle/>
          <a:p>
            <a:pP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The "no charge" inclusion applies only to the When an agent calls the flow trigger. Flows on any other trigger consume credits at the standard rate.</a:t>
            </a:r>
            <a:endParaRPr lang="en-US" sz="900" dirty="0"/>
          </a:p>
        </p:txBody>
      </p:sp>
      <p:sp>
        <p:nvSpPr>
          <p:cNvPr id="14" name="Shape 12"/>
          <p:cNvSpPr/>
          <p:nvPr/>
        </p:nvSpPr>
        <p:spPr>
          <a:xfrm>
            <a:off x="713232" y="3803904"/>
            <a:ext cx="50292" cy="566928"/>
          </a:xfrm>
          <a:prstGeom prst="rect">
            <a:avLst/>
          </a:prstGeom>
          <a:solidFill>
            <a:srgbClr val="FF5C39"/>
          </a:solidFill>
          <a:ln/>
        </p:spPr>
      </p:sp>
      <p:sp>
        <p:nvSpPr>
          <p:cNvPr id="15" name="Text 13"/>
          <p:cNvSpPr txBox="1"/>
          <p:nvPr/>
        </p:nvSpPr>
        <p:spPr>
          <a:xfrm>
            <a:off x="914400" y="3803904"/>
            <a:ext cx="475488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Computer-Using Agents</a:t>
            </a:r>
            <a:endParaRPr lang="en-US" sz="1100" dirty="0"/>
          </a:p>
        </p:txBody>
      </p:sp>
      <p:sp>
        <p:nvSpPr>
          <p:cNvPr id="16" name="Text 14"/>
          <p:cNvSpPr txBox="1"/>
          <p:nvPr/>
        </p:nvSpPr>
        <p:spPr>
          <a:xfrm>
            <a:off x="914400" y="4014216"/>
            <a:ext cx="4754880" cy="384048"/>
          </a:xfrm>
          <a:prstGeom prst="rect">
            <a:avLst/>
          </a:prstGeom>
          <a:noFill/>
          <a:ln/>
        </p:spPr>
        <p:txBody>
          <a:bodyPr wrap="square" lIns="0" tIns="0" rIns="0" bIns="0" rtlCol="0" anchor="ctr"/>
          <a:lstStyle/>
          <a:p>
            <a:pP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CUA usage is explicitly excluded from the Microsoft 365 Copilot USL — billed at the agent-action rate regardless of licence.</a:t>
            </a:r>
            <a:endParaRPr lang="en-US" sz="900" dirty="0"/>
          </a:p>
        </p:txBody>
      </p:sp>
      <p:sp>
        <p:nvSpPr>
          <p:cNvPr id="17" name="Shape 15"/>
          <p:cNvSpPr/>
          <p:nvPr/>
        </p:nvSpPr>
        <p:spPr>
          <a:xfrm>
            <a:off x="713232" y="4462272"/>
            <a:ext cx="50292" cy="566928"/>
          </a:xfrm>
          <a:prstGeom prst="rect">
            <a:avLst/>
          </a:prstGeom>
          <a:solidFill>
            <a:srgbClr val="FF5C39"/>
          </a:solidFill>
          <a:ln/>
        </p:spPr>
      </p:sp>
      <p:sp>
        <p:nvSpPr>
          <p:cNvPr id="18" name="Text 16"/>
          <p:cNvSpPr txBox="1"/>
          <p:nvPr/>
        </p:nvSpPr>
        <p:spPr>
          <a:xfrm>
            <a:off x="914400" y="4462272"/>
            <a:ext cx="475488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Proactive greetings</a:t>
            </a:r>
            <a:endParaRPr lang="en-US" sz="1100" dirty="0"/>
          </a:p>
        </p:txBody>
      </p:sp>
      <p:sp>
        <p:nvSpPr>
          <p:cNvPr id="19" name="Text 17"/>
          <p:cNvSpPr txBox="1"/>
          <p:nvPr/>
        </p:nvSpPr>
        <p:spPr>
          <a:xfrm>
            <a:off x="914400" y="4672584"/>
            <a:ext cx="4754880" cy="384048"/>
          </a:xfrm>
          <a:prstGeom prst="rect">
            <a:avLst/>
          </a:prstGeom>
          <a:noFill/>
          <a:ln/>
        </p:spPr>
        <p:txBody>
          <a:bodyPr wrap="square" lIns="0" tIns="0" rIns="0" bIns="0" rtlCol="0" anchor="ctr"/>
          <a:lstStyle/>
          <a:p>
            <a:pP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An agent that opens a conversation on its own is billed as a classic answer, even if nobody replies.</a:t>
            </a:r>
            <a:endParaRPr lang="en-US" sz="900" dirty="0"/>
          </a:p>
        </p:txBody>
      </p:sp>
      <p:sp>
        <p:nvSpPr>
          <p:cNvPr id="20" name="Shape 18"/>
          <p:cNvSpPr/>
          <p:nvPr/>
        </p:nvSpPr>
        <p:spPr>
          <a:xfrm>
            <a:off x="713232" y="5120640"/>
            <a:ext cx="50292" cy="566928"/>
          </a:xfrm>
          <a:prstGeom prst="rect">
            <a:avLst/>
          </a:prstGeom>
          <a:solidFill>
            <a:srgbClr val="FF5C39"/>
          </a:solidFill>
          <a:ln/>
        </p:spPr>
      </p:sp>
      <p:sp>
        <p:nvSpPr>
          <p:cNvPr id="21" name="Text 19"/>
          <p:cNvSpPr txBox="1"/>
          <p:nvPr/>
        </p:nvSpPr>
        <p:spPr>
          <a:xfrm>
            <a:off x="914400" y="5120640"/>
            <a:ext cx="475488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Enforcement scope</a:t>
            </a:r>
            <a:endParaRPr lang="en-US" sz="1100" dirty="0"/>
          </a:p>
        </p:txBody>
      </p:sp>
      <p:sp>
        <p:nvSpPr>
          <p:cNvPr id="22" name="Text 20"/>
          <p:cNvSpPr txBox="1"/>
          <p:nvPr/>
        </p:nvSpPr>
        <p:spPr>
          <a:xfrm>
            <a:off x="914400" y="5330952"/>
            <a:ext cx="4754880" cy="384048"/>
          </a:xfrm>
          <a:prstGeom prst="rect">
            <a:avLst/>
          </a:prstGeom>
          <a:noFill/>
          <a:ln/>
        </p:spPr>
        <p:txBody>
          <a:bodyPr wrap="square" lIns="0" tIns="0" rIns="0" bIns="0" rtlCol="0" anchor="ctr"/>
          <a:lstStyle/>
          <a:p>
            <a:pPr indent="0" marL="0">
              <a:lnSpc>
                <a:spcPts val="1150"/>
              </a:lnSpc>
              <a:buNone/>
            </a:pPr>
            <a:r>
              <a:rPr lang="en-US" sz="900" dirty="0">
                <a:solidFill>
                  <a:srgbClr val="3B4A54"/>
                </a:solidFill>
                <a:latin typeface="Segoe Sans Display" pitchFamily="34" charset="0"/>
                <a:ea typeface="Segoe Sans Display" pitchFamily="34" charset="-122"/>
                <a:cs typeface="Segoe Sans Display" pitchFamily="34" charset="-120"/>
              </a:rPr>
              <a:t>The overage policy covers custom agent usage "conversational and autonomously triggered" — Microsoft meters both.</a:t>
            </a:r>
            <a:endParaRPr lang="en-US" sz="900" dirty="0"/>
          </a:p>
        </p:txBody>
      </p:sp>
      <p:sp>
        <p:nvSpPr>
          <p:cNvPr id="23" name="Shape 21"/>
          <p:cNvSpPr/>
          <p:nvPr/>
        </p:nvSpPr>
        <p:spPr>
          <a:xfrm>
            <a:off x="6035040" y="2921508"/>
            <a:ext cx="4928616" cy="2711196"/>
          </a:xfrm>
          <a:prstGeom prst="rect">
            <a:avLst/>
          </a:prstGeom>
          <a:solidFill>
            <a:srgbClr val="FFF8F5"/>
          </a:solidFill>
          <a:ln w="12700">
            <a:solidFill>
              <a:srgbClr val="C03BC4"/>
            </a:solidFill>
            <a:prstDash val="solid"/>
          </a:ln>
        </p:spPr>
      </p:sp>
      <p:sp>
        <p:nvSpPr>
          <p:cNvPr id="24" name="Shape 22"/>
          <p:cNvSpPr/>
          <p:nvPr/>
        </p:nvSpPr>
        <p:spPr>
          <a:xfrm>
            <a:off x="6035040" y="2871216"/>
            <a:ext cx="4928616" cy="50292"/>
          </a:xfrm>
          <a:prstGeom prst="rect">
            <a:avLst/>
          </a:prstGeom>
          <a:solidFill>
            <a:srgbClr val="C03BC4"/>
          </a:solidFill>
          <a:ln/>
        </p:spPr>
      </p:sp>
      <p:sp>
        <p:nvSpPr>
          <p:cNvPr id="25" name="Text 23"/>
          <p:cNvSpPr txBox="1"/>
          <p:nvPr/>
        </p:nvSpPr>
        <p:spPr>
          <a:xfrm>
            <a:off x="6272784" y="3035808"/>
            <a:ext cx="4480560" cy="201168"/>
          </a:xfrm>
          <a:prstGeom prst="rect">
            <a:avLst/>
          </a:prstGeom>
          <a:noFill/>
          <a:ln/>
        </p:spPr>
        <p:txBody>
          <a:bodyPr wrap="square" lIns="0" tIns="0" rIns="0" bIns="0" rtlCol="0" anchor="ctr"/>
          <a:lstStyle/>
          <a:p>
            <a:pPr indent="0" marL="0">
              <a:buNone/>
            </a:pPr>
            <a:r>
              <a:rPr lang="en-US" sz="900" b="1" spc="100" kern="0" dirty="0">
                <a:solidFill>
                  <a:srgbClr val="C03BC4"/>
                </a:solidFill>
                <a:latin typeface="Segoe Sans Display Semibold" pitchFamily="34" charset="0"/>
                <a:ea typeface="Segoe Sans Display Semibold" pitchFamily="34" charset="-122"/>
                <a:cs typeface="Segoe Sans Display Semibold" pitchFamily="34" charset="-120"/>
              </a:rPr>
              <a:t>MICROSOFT'S OWN WORKED EXAMPLE</a:t>
            </a:r>
            <a:endParaRPr lang="en-US" sz="900" dirty="0"/>
          </a:p>
        </p:txBody>
      </p:sp>
      <p:sp>
        <p:nvSpPr>
          <p:cNvPr id="26" name="Text 24"/>
          <p:cNvSpPr txBox="1"/>
          <p:nvPr/>
        </p:nvSpPr>
        <p:spPr>
          <a:xfrm>
            <a:off x="6272784" y="3273552"/>
            <a:ext cx="4480560" cy="256032"/>
          </a:xfrm>
          <a:prstGeom prst="rect">
            <a:avLst/>
          </a:prstGeom>
          <a:noFill/>
          <a:ln/>
        </p:spPr>
        <p:txBody>
          <a:bodyPr wrap="square" lIns="0" tIns="0" rIns="0" bIns="0" rtlCol="0" anchor="ctr"/>
          <a:lstStyle/>
          <a:p>
            <a:pPr indent="0" marL="0">
              <a:buNone/>
            </a:pPr>
            <a:r>
              <a:rPr lang="en-US" sz="1400" b="1" dirty="0">
                <a:solidFill>
                  <a:srgbClr val="091F2C"/>
                </a:solidFill>
                <a:latin typeface="Segoe Sans Display Semibold" pitchFamily="34" charset="0"/>
                <a:ea typeface="Segoe Sans Display Semibold" pitchFamily="34" charset="-122"/>
                <a:cs typeface="Segoe Sans Display Semibold" pitchFamily="34" charset="-120"/>
              </a:rPr>
              <a:t>Order processing agent</a:t>
            </a:r>
            <a:endParaRPr lang="en-US" sz="1400" dirty="0"/>
          </a:p>
        </p:txBody>
      </p:sp>
      <p:sp>
        <p:nvSpPr>
          <p:cNvPr id="27" name="Text 25"/>
          <p:cNvSpPr txBox="1"/>
          <p:nvPr/>
        </p:nvSpPr>
        <p:spPr>
          <a:xfrm>
            <a:off x="6272784" y="3566160"/>
            <a:ext cx="4480560" cy="658368"/>
          </a:xfrm>
          <a:prstGeom prst="rect">
            <a:avLst/>
          </a:prstGeom>
          <a:noFill/>
          <a:ln/>
        </p:spPr>
        <p:txBody>
          <a:bodyPr wrap="square" lIns="0" tIns="0" rIns="0" bIns="0" rtlCol="0" anchor="ctr"/>
          <a:lstStyle/>
          <a:p>
            <a:pPr indent="0" marL="0">
              <a:lnSpc>
                <a:spcPts val="1300"/>
              </a:lnSpc>
              <a:buNone/>
            </a:pPr>
            <a:r>
              <a:rPr lang="en-US" sz="1000" dirty="0">
                <a:solidFill>
                  <a:srgbClr val="3B4A54"/>
                </a:solidFill>
                <a:latin typeface="Segoe Sans Display" pitchFamily="34" charset="0"/>
                <a:ea typeface="Segoe Sans Display" pitchFamily="34" charset="-122"/>
                <a:cs typeface="Segoe Sans Display" pitchFamily="34" charset="-120"/>
              </a:rPr>
              <a:t>An internal-facing agent, autonomously triggered whenever a new order arrives. It confirms availability, checks shipping, approves the order and emails the customer — four agent actions in generative orchestration.</a:t>
            </a:r>
            <a:endParaRPr lang="en-US" sz="1000" dirty="0"/>
          </a:p>
        </p:txBody>
      </p:sp>
      <p:sp>
        <p:nvSpPr>
          <p:cNvPr id="28" name="Shape 26"/>
          <p:cNvSpPr/>
          <p:nvPr/>
        </p:nvSpPr>
        <p:spPr>
          <a:xfrm>
            <a:off x="6272784" y="4279392"/>
            <a:ext cx="4453128" cy="566928"/>
          </a:xfrm>
          <a:prstGeom prst="rect">
            <a:avLst/>
          </a:prstGeom>
          <a:solidFill>
            <a:srgbClr val="FFFFFF"/>
          </a:solidFill>
          <a:ln w="12700">
            <a:solidFill>
              <a:srgbClr val="E3E8EB"/>
            </a:solidFill>
            <a:prstDash val="solid"/>
          </a:ln>
        </p:spPr>
      </p:sp>
      <p:sp>
        <p:nvSpPr>
          <p:cNvPr id="29" name="Text 27"/>
          <p:cNvSpPr txBox="1"/>
          <p:nvPr/>
        </p:nvSpPr>
        <p:spPr>
          <a:xfrm>
            <a:off x="6382512" y="4443984"/>
            <a:ext cx="4206240" cy="256032"/>
          </a:xfrm>
          <a:prstGeom prst="rect">
            <a:avLst/>
          </a:prstGeom>
          <a:noFill/>
          <a:ln/>
        </p:spPr>
        <p:txBody>
          <a:bodyPr wrap="square" lIns="0" tIns="0" rIns="0" bIns="0" rtlCol="0" anchor="ctr"/>
          <a:lstStyle/>
          <a:p>
            <a:pPr algn="ctr" indent="0" marL="0">
              <a:buNone/>
            </a:pPr>
            <a:r>
              <a:rPr lang="en-US" sz="1300" b="1" dirty="0">
                <a:solidFill>
                  <a:srgbClr val="C03BC4"/>
                </a:solidFill>
                <a:latin typeface="Segoe Sans Display Semibold" pitchFamily="34" charset="0"/>
                <a:ea typeface="Segoe Sans Display Semibold" pitchFamily="34" charset="-122"/>
                <a:cs typeface="Segoe Sans Display Semibold" pitchFamily="34" charset="-120"/>
              </a:rPr>
              <a:t>4 actions  ×  5 credits  =  20 credits per run</a:t>
            </a:r>
            <a:endParaRPr lang="en-US" sz="1300" dirty="0"/>
          </a:p>
        </p:txBody>
      </p:sp>
      <p:sp>
        <p:nvSpPr>
          <p:cNvPr id="30" name="Text 28"/>
          <p:cNvSpPr txBox="1"/>
          <p:nvPr/>
        </p:nvSpPr>
        <p:spPr>
          <a:xfrm>
            <a:off x="6272784" y="4956048"/>
            <a:ext cx="4480560" cy="566928"/>
          </a:xfrm>
          <a:prstGeom prst="rect">
            <a:avLst/>
          </a:prstGeom>
          <a:noFill/>
          <a:ln/>
        </p:spPr>
        <p:txBody>
          <a:bodyPr wrap="square" lIns="0" tIns="0" rIns="0" bIns="0" rtlCol="0" anchor="ctr"/>
          <a:lstStyle/>
          <a:p>
            <a:pPr indent="0" marL="0">
              <a:lnSpc>
                <a:spcPts val="1300"/>
              </a:lnSpc>
              <a:buNone/>
            </a:pPr>
            <a:r>
              <a:rPr lang="en-US" sz="1000" i="1" dirty="0">
                <a:solidFill>
                  <a:srgbClr val="3B4A54"/>
                </a:solidFill>
                <a:latin typeface="Segoe Sans Display" pitchFamily="34" charset="0"/>
                <a:ea typeface="Segoe Sans Display" pitchFamily="34" charset="-122"/>
                <a:cs typeface="Segoe Sans Display" pitchFamily="34" charset="-120"/>
              </a:rPr>
              <a:t>Note what is missing: the phrase "internal-facing" earns no discount here. Microsoft costs this agent in credits because it is autonomously triggered — the licence never enters the calculation.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STANDARD HARNESS</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The published rate card</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7</a:t>
            </a:r>
            <a:endParaRPr lang="en-US" sz="800" dirty="0"/>
          </a:p>
        </p:txBody>
      </p:sp>
      <p:sp>
        <p:nvSpPr>
          <p:cNvPr id="6" name="Text 4"/>
          <p:cNvSpPr txBox="1"/>
          <p:nvPr/>
        </p:nvSpPr>
        <p:spPr>
          <a:xfrm>
            <a:off x="713232" y="1481328"/>
            <a:ext cx="10241280" cy="292608"/>
          </a:xfrm>
          <a:prstGeom prst="rect">
            <a:avLst/>
          </a:prstGeom>
          <a:noFill/>
          <a:ln/>
        </p:spPr>
        <p:txBody>
          <a:bodyPr wrap="square" lIns="0" tIns="0" rIns="0" bIns="0" rtlCol="0" anchor="ctr"/>
          <a:lstStyle/>
          <a:p>
            <a:pPr indent="0" marL="0">
              <a:buNone/>
            </a:pPr>
            <a:r>
              <a:rPr lang="en-US" sz="1150" dirty="0">
                <a:solidFill>
                  <a:srgbClr val="3B4A54"/>
                </a:solidFill>
                <a:latin typeface="Segoe Sans Display" pitchFamily="34" charset="0"/>
                <a:ea typeface="Segoe Sans Display" pitchFamily="34" charset="-122"/>
                <a:cs typeface="Segoe Sans Display" pitchFamily="34" charset="-120"/>
              </a:rPr>
              <a:t>Every figure below is Microsoft's, from Billing rates and management. The right-hand column is the whole argument: "no charge" is conditional, and the conditions are the four on the previous slide.</a:t>
            </a:r>
            <a:endParaRPr lang="en-US" sz="1150" dirty="0"/>
          </a:p>
        </p:txBody>
      </p:sp>
      <p:sp>
        <p:nvSpPr>
          <p:cNvPr id="7" name="Shape 5"/>
          <p:cNvSpPr/>
          <p:nvPr/>
        </p:nvSpPr>
        <p:spPr>
          <a:xfrm>
            <a:off x="713232" y="1920240"/>
            <a:ext cx="10250424" cy="384048"/>
          </a:xfrm>
          <a:prstGeom prst="rect">
            <a:avLst/>
          </a:prstGeom>
          <a:solidFill>
            <a:srgbClr val="091F2C"/>
          </a:solidFill>
          <a:ln/>
        </p:spPr>
      </p:sp>
      <p:sp>
        <p:nvSpPr>
          <p:cNvPr id="8" name="Text 6"/>
          <p:cNvSpPr txBox="1"/>
          <p:nvPr/>
        </p:nvSpPr>
        <p:spPr>
          <a:xfrm>
            <a:off x="859536" y="2002536"/>
            <a:ext cx="5349240" cy="237744"/>
          </a:xfrm>
          <a:prstGeom prst="rect">
            <a:avLst/>
          </a:prstGeom>
          <a:noFill/>
          <a:ln/>
        </p:spPr>
        <p:txBody>
          <a:bodyPr wrap="square" lIns="0" tIns="0" rIns="0" bIns="0" rtlCol="0" anchor="ctr"/>
          <a:lstStyle/>
          <a:p>
            <a:pPr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Agent feature</a:t>
            </a:r>
            <a:endParaRPr lang="en-US" sz="1050" dirty="0"/>
          </a:p>
        </p:txBody>
      </p:sp>
      <p:sp>
        <p:nvSpPr>
          <p:cNvPr id="9" name="Text 7"/>
          <p:cNvSpPr txBox="1"/>
          <p:nvPr/>
        </p:nvSpPr>
        <p:spPr>
          <a:xfrm>
            <a:off x="6483096" y="2002536"/>
            <a:ext cx="1554480" cy="237744"/>
          </a:xfrm>
          <a:prstGeom prst="rect">
            <a:avLst/>
          </a:prstGeom>
          <a:noFill/>
          <a:ln/>
        </p:spPr>
        <p:txBody>
          <a:bodyPr wrap="square" lIns="0" tIns="0" rIns="0" bIns="0" rtlCol="0" anchor="ctr"/>
          <a:lstStyle/>
          <a:p>
            <a:pPr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Billing rate</a:t>
            </a:r>
            <a:endParaRPr lang="en-US" sz="1050" dirty="0"/>
          </a:p>
        </p:txBody>
      </p:sp>
      <p:sp>
        <p:nvSpPr>
          <p:cNvPr id="10" name="Text 8"/>
          <p:cNvSpPr txBox="1"/>
          <p:nvPr/>
        </p:nvSpPr>
        <p:spPr>
          <a:xfrm>
            <a:off x="8311896" y="2002536"/>
            <a:ext cx="2523744" cy="237744"/>
          </a:xfrm>
          <a:prstGeom prst="rect">
            <a:avLst/>
          </a:prstGeom>
          <a:noFill/>
          <a:ln/>
        </p:spPr>
        <p:txBody>
          <a:bodyPr wrap="square" lIns="0" tIns="0" rIns="0" bIns="0" rtlCol="0" anchor="ctr"/>
          <a:lstStyle/>
          <a:p>
            <a:pPr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Licensed M365 Copilot user</a:t>
            </a:r>
            <a:endParaRPr lang="en-US" sz="1050" dirty="0"/>
          </a:p>
        </p:txBody>
      </p:sp>
      <p:sp>
        <p:nvSpPr>
          <p:cNvPr id="11" name="Shape 9"/>
          <p:cNvSpPr/>
          <p:nvPr/>
        </p:nvSpPr>
        <p:spPr>
          <a:xfrm>
            <a:off x="713232" y="2304288"/>
            <a:ext cx="10250424" cy="384048"/>
          </a:xfrm>
          <a:prstGeom prst="rect">
            <a:avLst/>
          </a:prstGeom>
          <a:solidFill>
            <a:srgbClr val="FFFFFF"/>
          </a:solidFill>
          <a:ln w="12700">
            <a:solidFill>
              <a:srgbClr val="E3E8EB"/>
            </a:solidFill>
            <a:prstDash val="solid"/>
          </a:ln>
        </p:spPr>
      </p:sp>
      <p:sp>
        <p:nvSpPr>
          <p:cNvPr id="12" name="Text 10"/>
          <p:cNvSpPr txBox="1"/>
          <p:nvPr/>
        </p:nvSpPr>
        <p:spPr>
          <a:xfrm>
            <a:off x="859536" y="2395728"/>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Classic answer</a:t>
            </a:r>
            <a:endParaRPr lang="en-US" sz="950" dirty="0"/>
          </a:p>
        </p:txBody>
      </p:sp>
      <p:sp>
        <p:nvSpPr>
          <p:cNvPr id="13" name="Text 11"/>
          <p:cNvSpPr txBox="1"/>
          <p:nvPr/>
        </p:nvSpPr>
        <p:spPr>
          <a:xfrm>
            <a:off x="6483096" y="2395728"/>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1 credit</a:t>
            </a:r>
            <a:endParaRPr lang="en-US" sz="950" dirty="0"/>
          </a:p>
        </p:txBody>
      </p:sp>
      <p:sp>
        <p:nvSpPr>
          <p:cNvPr id="14" name="Text 12"/>
          <p:cNvSpPr txBox="1"/>
          <p:nvPr/>
        </p:nvSpPr>
        <p:spPr>
          <a:xfrm>
            <a:off x="8311896" y="2395728"/>
            <a:ext cx="2523744" cy="219456"/>
          </a:xfrm>
          <a:prstGeom prst="rect">
            <a:avLst/>
          </a:prstGeom>
          <a:noFill/>
          <a:ln/>
        </p:spPr>
        <p:txBody>
          <a:bodyPr wrap="square" lIns="0" tIns="0" rIns="0" bIns="0" rtlCol="0" anchor="ctr"/>
          <a:lstStyle/>
          <a:p>
            <a:pPr indent="0" marL="0">
              <a:buNone/>
            </a:pPr>
            <a:r>
              <a:rPr lang="en-US" sz="950" dirty="0">
                <a:solidFill>
                  <a:srgbClr val="107C41"/>
                </a:solidFill>
                <a:latin typeface="Segoe Sans Display" pitchFamily="34" charset="0"/>
                <a:ea typeface="Segoe Sans Display" pitchFamily="34" charset="-122"/>
                <a:cs typeface="Segoe Sans Display" pitchFamily="34" charset="-120"/>
              </a:rPr>
              <a:t>No charge</a:t>
            </a:r>
            <a:endParaRPr lang="en-US" sz="950" dirty="0"/>
          </a:p>
        </p:txBody>
      </p:sp>
      <p:sp>
        <p:nvSpPr>
          <p:cNvPr id="15" name="Shape 13"/>
          <p:cNvSpPr/>
          <p:nvPr/>
        </p:nvSpPr>
        <p:spPr>
          <a:xfrm>
            <a:off x="713232" y="2688336"/>
            <a:ext cx="10250424" cy="384048"/>
          </a:xfrm>
          <a:prstGeom prst="rect">
            <a:avLst/>
          </a:prstGeom>
          <a:solidFill>
            <a:srgbClr val="FFF8F5"/>
          </a:solidFill>
          <a:ln w="12700">
            <a:solidFill>
              <a:srgbClr val="E3E8EB"/>
            </a:solidFill>
            <a:prstDash val="solid"/>
          </a:ln>
        </p:spPr>
      </p:sp>
      <p:sp>
        <p:nvSpPr>
          <p:cNvPr id="16" name="Text 14"/>
          <p:cNvSpPr txBox="1"/>
          <p:nvPr/>
        </p:nvSpPr>
        <p:spPr>
          <a:xfrm>
            <a:off x="859536" y="2779776"/>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Generative answer</a:t>
            </a:r>
            <a:endParaRPr lang="en-US" sz="950" dirty="0"/>
          </a:p>
        </p:txBody>
      </p:sp>
      <p:sp>
        <p:nvSpPr>
          <p:cNvPr id="17" name="Text 15"/>
          <p:cNvSpPr txBox="1"/>
          <p:nvPr/>
        </p:nvSpPr>
        <p:spPr>
          <a:xfrm>
            <a:off x="6483096" y="2779776"/>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2 credits</a:t>
            </a:r>
            <a:endParaRPr lang="en-US" sz="950" dirty="0"/>
          </a:p>
        </p:txBody>
      </p:sp>
      <p:sp>
        <p:nvSpPr>
          <p:cNvPr id="18" name="Text 16"/>
          <p:cNvSpPr txBox="1"/>
          <p:nvPr/>
        </p:nvSpPr>
        <p:spPr>
          <a:xfrm>
            <a:off x="8311896" y="2779776"/>
            <a:ext cx="2523744" cy="219456"/>
          </a:xfrm>
          <a:prstGeom prst="rect">
            <a:avLst/>
          </a:prstGeom>
          <a:noFill/>
          <a:ln/>
        </p:spPr>
        <p:txBody>
          <a:bodyPr wrap="square" lIns="0" tIns="0" rIns="0" bIns="0" rtlCol="0" anchor="ctr"/>
          <a:lstStyle/>
          <a:p>
            <a:pPr indent="0" marL="0">
              <a:buNone/>
            </a:pPr>
            <a:r>
              <a:rPr lang="en-US" sz="950" dirty="0">
                <a:solidFill>
                  <a:srgbClr val="107C41"/>
                </a:solidFill>
                <a:latin typeface="Segoe Sans Display" pitchFamily="34" charset="0"/>
                <a:ea typeface="Segoe Sans Display" pitchFamily="34" charset="-122"/>
                <a:cs typeface="Segoe Sans Display" pitchFamily="34" charset="-120"/>
              </a:rPr>
              <a:t>No charge</a:t>
            </a:r>
            <a:endParaRPr lang="en-US" sz="950" dirty="0"/>
          </a:p>
        </p:txBody>
      </p:sp>
      <p:sp>
        <p:nvSpPr>
          <p:cNvPr id="19" name="Shape 17"/>
          <p:cNvSpPr/>
          <p:nvPr/>
        </p:nvSpPr>
        <p:spPr>
          <a:xfrm>
            <a:off x="713232" y="3072384"/>
            <a:ext cx="10250424" cy="384048"/>
          </a:xfrm>
          <a:prstGeom prst="rect">
            <a:avLst/>
          </a:prstGeom>
          <a:solidFill>
            <a:srgbClr val="FFFFFF"/>
          </a:solidFill>
          <a:ln w="12700">
            <a:solidFill>
              <a:srgbClr val="E3E8EB"/>
            </a:solidFill>
            <a:prstDash val="solid"/>
          </a:ln>
        </p:spPr>
      </p:sp>
      <p:sp>
        <p:nvSpPr>
          <p:cNvPr id="20" name="Text 18"/>
          <p:cNvSpPr txBox="1"/>
          <p:nvPr/>
        </p:nvSpPr>
        <p:spPr>
          <a:xfrm>
            <a:off x="859536" y="3163824"/>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Agent action  (triggers, deep reasoning, topic transitions)</a:t>
            </a:r>
            <a:endParaRPr lang="en-US" sz="950" dirty="0"/>
          </a:p>
        </p:txBody>
      </p:sp>
      <p:sp>
        <p:nvSpPr>
          <p:cNvPr id="21" name="Text 19"/>
          <p:cNvSpPr txBox="1"/>
          <p:nvPr/>
        </p:nvSpPr>
        <p:spPr>
          <a:xfrm>
            <a:off x="6483096" y="3163824"/>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5 credits</a:t>
            </a:r>
            <a:endParaRPr lang="en-US" sz="950" dirty="0"/>
          </a:p>
        </p:txBody>
      </p:sp>
      <p:sp>
        <p:nvSpPr>
          <p:cNvPr id="22" name="Text 20"/>
          <p:cNvSpPr txBox="1"/>
          <p:nvPr/>
        </p:nvSpPr>
        <p:spPr>
          <a:xfrm>
            <a:off x="8311896" y="3163824"/>
            <a:ext cx="2523744" cy="219456"/>
          </a:xfrm>
          <a:prstGeom prst="rect">
            <a:avLst/>
          </a:prstGeom>
          <a:noFill/>
          <a:ln/>
        </p:spPr>
        <p:txBody>
          <a:bodyPr wrap="square" lIns="0" tIns="0" rIns="0" bIns="0" rtlCol="0" anchor="ctr"/>
          <a:lstStyle/>
          <a:p>
            <a:pPr indent="0" marL="0">
              <a:buNone/>
            </a:pPr>
            <a:r>
              <a:rPr lang="en-US" sz="950" dirty="0">
                <a:solidFill>
                  <a:srgbClr val="107C41"/>
                </a:solidFill>
                <a:latin typeface="Segoe Sans Display" pitchFamily="34" charset="0"/>
                <a:ea typeface="Segoe Sans Display" pitchFamily="34" charset="-122"/>
                <a:cs typeface="Segoe Sans Display" pitchFamily="34" charset="-120"/>
              </a:rPr>
              <a:t>No charge</a:t>
            </a:r>
            <a:endParaRPr lang="en-US" sz="950" dirty="0"/>
          </a:p>
        </p:txBody>
      </p:sp>
      <p:sp>
        <p:nvSpPr>
          <p:cNvPr id="23" name="Shape 21"/>
          <p:cNvSpPr/>
          <p:nvPr/>
        </p:nvSpPr>
        <p:spPr>
          <a:xfrm>
            <a:off x="713232" y="3456432"/>
            <a:ext cx="10250424" cy="384048"/>
          </a:xfrm>
          <a:prstGeom prst="rect">
            <a:avLst/>
          </a:prstGeom>
          <a:solidFill>
            <a:srgbClr val="FFF8F5"/>
          </a:solidFill>
          <a:ln w="12700">
            <a:solidFill>
              <a:srgbClr val="E3E8EB"/>
            </a:solidFill>
            <a:prstDash val="solid"/>
          </a:ln>
        </p:spPr>
      </p:sp>
      <p:sp>
        <p:nvSpPr>
          <p:cNvPr id="24" name="Text 22"/>
          <p:cNvSpPr txBox="1"/>
          <p:nvPr/>
        </p:nvSpPr>
        <p:spPr>
          <a:xfrm>
            <a:off x="859536" y="3547872"/>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Tenant graph grounding</a:t>
            </a:r>
            <a:endParaRPr lang="en-US" sz="950" dirty="0"/>
          </a:p>
        </p:txBody>
      </p:sp>
      <p:sp>
        <p:nvSpPr>
          <p:cNvPr id="25" name="Text 23"/>
          <p:cNvSpPr txBox="1"/>
          <p:nvPr/>
        </p:nvSpPr>
        <p:spPr>
          <a:xfrm>
            <a:off x="6483096" y="3547872"/>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10 credits</a:t>
            </a:r>
            <a:endParaRPr lang="en-US" sz="950" dirty="0"/>
          </a:p>
        </p:txBody>
      </p:sp>
      <p:sp>
        <p:nvSpPr>
          <p:cNvPr id="26" name="Text 24"/>
          <p:cNvSpPr txBox="1"/>
          <p:nvPr/>
        </p:nvSpPr>
        <p:spPr>
          <a:xfrm>
            <a:off x="8311896" y="3547872"/>
            <a:ext cx="2523744" cy="219456"/>
          </a:xfrm>
          <a:prstGeom prst="rect">
            <a:avLst/>
          </a:prstGeom>
          <a:noFill/>
          <a:ln/>
        </p:spPr>
        <p:txBody>
          <a:bodyPr wrap="square" lIns="0" tIns="0" rIns="0" bIns="0" rtlCol="0" anchor="ctr"/>
          <a:lstStyle/>
          <a:p>
            <a:pPr indent="0" marL="0">
              <a:buNone/>
            </a:pPr>
            <a:r>
              <a:rPr lang="en-US" sz="950" dirty="0">
                <a:solidFill>
                  <a:srgbClr val="107C41"/>
                </a:solidFill>
                <a:latin typeface="Segoe Sans Display" pitchFamily="34" charset="0"/>
                <a:ea typeface="Segoe Sans Display" pitchFamily="34" charset="-122"/>
                <a:cs typeface="Segoe Sans Display" pitchFamily="34" charset="-120"/>
              </a:rPr>
              <a:t>No charge</a:t>
            </a:r>
            <a:endParaRPr lang="en-US" sz="950" dirty="0"/>
          </a:p>
        </p:txBody>
      </p:sp>
      <p:sp>
        <p:nvSpPr>
          <p:cNvPr id="27" name="Shape 25"/>
          <p:cNvSpPr/>
          <p:nvPr/>
        </p:nvSpPr>
        <p:spPr>
          <a:xfrm>
            <a:off x="713232" y="3840480"/>
            <a:ext cx="10250424" cy="384048"/>
          </a:xfrm>
          <a:prstGeom prst="rect">
            <a:avLst/>
          </a:prstGeom>
          <a:solidFill>
            <a:srgbClr val="FFF4F0"/>
          </a:solidFill>
          <a:ln w="12700">
            <a:solidFill>
              <a:srgbClr val="E3E8EB"/>
            </a:solidFill>
            <a:prstDash val="solid"/>
          </a:ln>
        </p:spPr>
      </p:sp>
      <p:sp>
        <p:nvSpPr>
          <p:cNvPr id="28" name="Text 26"/>
          <p:cNvSpPr txBox="1"/>
          <p:nvPr/>
        </p:nvSpPr>
        <p:spPr>
          <a:xfrm>
            <a:off x="859536" y="3931920"/>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Agent flow actions  (per 100 actions)</a:t>
            </a:r>
            <a:endParaRPr lang="en-US" sz="950" dirty="0"/>
          </a:p>
        </p:txBody>
      </p:sp>
      <p:sp>
        <p:nvSpPr>
          <p:cNvPr id="29" name="Text 27"/>
          <p:cNvSpPr txBox="1"/>
          <p:nvPr/>
        </p:nvSpPr>
        <p:spPr>
          <a:xfrm>
            <a:off x="6483096" y="3931920"/>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13 credits</a:t>
            </a:r>
            <a:endParaRPr lang="en-US" sz="950" dirty="0"/>
          </a:p>
        </p:txBody>
      </p:sp>
      <p:sp>
        <p:nvSpPr>
          <p:cNvPr id="30" name="Text 28"/>
          <p:cNvSpPr txBox="1"/>
          <p:nvPr/>
        </p:nvSpPr>
        <p:spPr>
          <a:xfrm>
            <a:off x="8311896" y="3931920"/>
            <a:ext cx="2523744" cy="219456"/>
          </a:xfrm>
          <a:prstGeom prst="rect">
            <a:avLst/>
          </a:prstGeom>
          <a:noFill/>
          <a:ln/>
        </p:spPr>
        <p:txBody>
          <a:bodyPr wrap="square" lIns="0" tIns="0" rIns="0" bIns="0" rtlCol="0" anchor="ctr"/>
          <a:lstStyle/>
          <a:p>
            <a:pPr indent="0" marL="0">
              <a:buNone/>
            </a:pPr>
            <a:r>
              <a:rPr lang="en-US" sz="950" b="1" dirty="0">
                <a:solidFill>
                  <a:srgbClr val="FF5C39"/>
                </a:solidFill>
                <a:latin typeface="Segoe Sans Display" pitchFamily="34" charset="0"/>
                <a:ea typeface="Segoe Sans Display" pitchFamily="34" charset="-122"/>
                <a:cs typeface="Segoe Sans Display" pitchFamily="34" charset="-120"/>
              </a:rPr>
              <a:t>Only on agent-calls-flow trigger</a:t>
            </a:r>
            <a:endParaRPr lang="en-US" sz="950" dirty="0"/>
          </a:p>
        </p:txBody>
      </p:sp>
      <p:sp>
        <p:nvSpPr>
          <p:cNvPr id="31" name="Shape 29"/>
          <p:cNvSpPr/>
          <p:nvPr/>
        </p:nvSpPr>
        <p:spPr>
          <a:xfrm>
            <a:off x="713232" y="4224528"/>
            <a:ext cx="10250424" cy="384048"/>
          </a:xfrm>
          <a:prstGeom prst="rect">
            <a:avLst/>
          </a:prstGeom>
          <a:solidFill>
            <a:srgbClr val="FFF8F5"/>
          </a:solidFill>
          <a:ln w="12700">
            <a:solidFill>
              <a:srgbClr val="E3E8EB"/>
            </a:solidFill>
            <a:prstDash val="solid"/>
          </a:ln>
        </p:spPr>
      </p:sp>
      <p:sp>
        <p:nvSpPr>
          <p:cNvPr id="32" name="Text 30"/>
          <p:cNvSpPr txBox="1"/>
          <p:nvPr/>
        </p:nvSpPr>
        <p:spPr>
          <a:xfrm>
            <a:off x="859536" y="4315968"/>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Text &amp; generative AI tools — standard</a:t>
            </a:r>
            <a:endParaRPr lang="en-US" sz="950" dirty="0"/>
          </a:p>
        </p:txBody>
      </p:sp>
      <p:sp>
        <p:nvSpPr>
          <p:cNvPr id="33" name="Text 31"/>
          <p:cNvSpPr txBox="1"/>
          <p:nvPr/>
        </p:nvSpPr>
        <p:spPr>
          <a:xfrm>
            <a:off x="6483096" y="4315968"/>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15 credits</a:t>
            </a:r>
            <a:endParaRPr lang="en-US" sz="950" dirty="0"/>
          </a:p>
        </p:txBody>
      </p:sp>
      <p:sp>
        <p:nvSpPr>
          <p:cNvPr id="34" name="Text 32"/>
          <p:cNvSpPr txBox="1"/>
          <p:nvPr/>
        </p:nvSpPr>
        <p:spPr>
          <a:xfrm>
            <a:off x="8311896" y="4315968"/>
            <a:ext cx="2523744" cy="219456"/>
          </a:xfrm>
          <a:prstGeom prst="rect">
            <a:avLst/>
          </a:prstGeom>
          <a:noFill/>
          <a:ln/>
        </p:spPr>
        <p:txBody>
          <a:bodyPr wrap="square" lIns="0" tIns="0" rIns="0" bIns="0" rtlCol="0" anchor="ctr"/>
          <a:lstStyle/>
          <a:p>
            <a:pPr indent="0" marL="0">
              <a:buNone/>
            </a:pPr>
            <a:r>
              <a:rPr lang="en-US" sz="950" dirty="0">
                <a:solidFill>
                  <a:srgbClr val="107C41"/>
                </a:solidFill>
                <a:latin typeface="Segoe Sans Display" pitchFamily="34" charset="0"/>
                <a:ea typeface="Segoe Sans Display" pitchFamily="34" charset="-122"/>
                <a:cs typeface="Segoe Sans Display" pitchFamily="34" charset="-120"/>
              </a:rPr>
              <a:t>No charge</a:t>
            </a:r>
            <a:endParaRPr lang="en-US" sz="950" dirty="0"/>
          </a:p>
        </p:txBody>
      </p:sp>
      <p:sp>
        <p:nvSpPr>
          <p:cNvPr id="35" name="Shape 33"/>
          <p:cNvSpPr/>
          <p:nvPr/>
        </p:nvSpPr>
        <p:spPr>
          <a:xfrm>
            <a:off x="713232" y="4608576"/>
            <a:ext cx="10250424" cy="384048"/>
          </a:xfrm>
          <a:prstGeom prst="rect">
            <a:avLst/>
          </a:prstGeom>
          <a:solidFill>
            <a:srgbClr val="FFFFFF"/>
          </a:solidFill>
          <a:ln w="12700">
            <a:solidFill>
              <a:srgbClr val="E3E8EB"/>
            </a:solidFill>
            <a:prstDash val="solid"/>
          </a:ln>
        </p:spPr>
      </p:sp>
      <p:sp>
        <p:nvSpPr>
          <p:cNvPr id="36" name="Text 34"/>
          <p:cNvSpPr txBox="1"/>
          <p:nvPr/>
        </p:nvSpPr>
        <p:spPr>
          <a:xfrm>
            <a:off x="859536" y="4700016"/>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Text &amp; generative AI tools — premium (reasoning)</a:t>
            </a:r>
            <a:endParaRPr lang="en-US" sz="950" dirty="0"/>
          </a:p>
        </p:txBody>
      </p:sp>
      <p:sp>
        <p:nvSpPr>
          <p:cNvPr id="37" name="Text 35"/>
          <p:cNvSpPr txBox="1"/>
          <p:nvPr/>
        </p:nvSpPr>
        <p:spPr>
          <a:xfrm>
            <a:off x="6483096" y="4700016"/>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100 credits</a:t>
            </a:r>
            <a:endParaRPr lang="en-US" sz="950" dirty="0"/>
          </a:p>
        </p:txBody>
      </p:sp>
      <p:sp>
        <p:nvSpPr>
          <p:cNvPr id="38" name="Text 36"/>
          <p:cNvSpPr txBox="1"/>
          <p:nvPr/>
        </p:nvSpPr>
        <p:spPr>
          <a:xfrm>
            <a:off x="8311896" y="4700016"/>
            <a:ext cx="2523744" cy="219456"/>
          </a:xfrm>
          <a:prstGeom prst="rect">
            <a:avLst/>
          </a:prstGeom>
          <a:noFill/>
          <a:ln/>
        </p:spPr>
        <p:txBody>
          <a:bodyPr wrap="square" lIns="0" tIns="0" rIns="0" bIns="0" rtlCol="0" anchor="ctr"/>
          <a:lstStyle/>
          <a:p>
            <a:pPr indent="0" marL="0">
              <a:buNone/>
            </a:pPr>
            <a:r>
              <a:rPr lang="en-US" sz="950" dirty="0">
                <a:solidFill>
                  <a:srgbClr val="107C41"/>
                </a:solidFill>
                <a:latin typeface="Segoe Sans Display" pitchFamily="34" charset="0"/>
                <a:ea typeface="Segoe Sans Display" pitchFamily="34" charset="-122"/>
                <a:cs typeface="Segoe Sans Display" pitchFamily="34" charset="-120"/>
              </a:rPr>
              <a:t>No charge</a:t>
            </a:r>
            <a:endParaRPr lang="en-US" sz="950" dirty="0"/>
          </a:p>
        </p:txBody>
      </p:sp>
      <p:sp>
        <p:nvSpPr>
          <p:cNvPr id="39" name="Shape 37"/>
          <p:cNvSpPr/>
          <p:nvPr/>
        </p:nvSpPr>
        <p:spPr>
          <a:xfrm>
            <a:off x="713232" y="4992624"/>
            <a:ext cx="10250424" cy="384048"/>
          </a:xfrm>
          <a:prstGeom prst="rect">
            <a:avLst/>
          </a:prstGeom>
          <a:solidFill>
            <a:srgbClr val="FFF4F0"/>
          </a:solidFill>
          <a:ln w="12700">
            <a:solidFill>
              <a:srgbClr val="E3E8EB"/>
            </a:solidFill>
            <a:prstDash val="solid"/>
          </a:ln>
        </p:spPr>
      </p:sp>
      <p:sp>
        <p:nvSpPr>
          <p:cNvPr id="40" name="Text 38"/>
          <p:cNvSpPr txBox="1"/>
          <p:nvPr/>
        </p:nvSpPr>
        <p:spPr>
          <a:xfrm>
            <a:off x="859536" y="5084064"/>
            <a:ext cx="534924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Computer-Using Agents (CUA)</a:t>
            </a:r>
            <a:endParaRPr lang="en-US" sz="950" dirty="0"/>
          </a:p>
        </p:txBody>
      </p:sp>
      <p:sp>
        <p:nvSpPr>
          <p:cNvPr id="41" name="Text 39"/>
          <p:cNvSpPr txBox="1"/>
          <p:nvPr/>
        </p:nvSpPr>
        <p:spPr>
          <a:xfrm>
            <a:off x="6483096" y="5084064"/>
            <a:ext cx="1554480" cy="219456"/>
          </a:xfrm>
          <a:prstGeom prst="rect">
            <a:avLst/>
          </a:prstGeom>
          <a:noFill/>
          <a:ln/>
        </p:spPr>
        <p:txBody>
          <a:bodyPr wrap="square" lIns="0" tIns="0" rIns="0" bIns="0" rtlCol="0" anchor="ctr"/>
          <a:lstStyle/>
          <a:p>
            <a:pPr indent="0" marL="0">
              <a:buNone/>
            </a:pPr>
            <a:r>
              <a:rPr lang="en-US" sz="950" dirty="0">
                <a:solidFill>
                  <a:srgbClr val="091F2C"/>
                </a:solidFill>
                <a:latin typeface="Segoe Sans Display" pitchFamily="34" charset="0"/>
                <a:ea typeface="Segoe Sans Display" pitchFamily="34" charset="-122"/>
                <a:cs typeface="Segoe Sans Display" pitchFamily="34" charset="-120"/>
              </a:rPr>
              <a:t>5 credits</a:t>
            </a:r>
            <a:endParaRPr lang="en-US" sz="950" dirty="0"/>
          </a:p>
        </p:txBody>
      </p:sp>
      <p:sp>
        <p:nvSpPr>
          <p:cNvPr id="42" name="Text 40"/>
          <p:cNvSpPr txBox="1"/>
          <p:nvPr/>
        </p:nvSpPr>
        <p:spPr>
          <a:xfrm>
            <a:off x="8311896" y="5084064"/>
            <a:ext cx="2523744" cy="219456"/>
          </a:xfrm>
          <a:prstGeom prst="rect">
            <a:avLst/>
          </a:prstGeom>
          <a:noFill/>
          <a:ln/>
        </p:spPr>
        <p:txBody>
          <a:bodyPr wrap="square" lIns="0" tIns="0" rIns="0" bIns="0" rtlCol="0" anchor="ctr"/>
          <a:lstStyle/>
          <a:p>
            <a:pPr indent="0" marL="0">
              <a:buNone/>
            </a:pPr>
            <a:r>
              <a:rPr lang="en-US" sz="950" b="1" dirty="0">
                <a:solidFill>
                  <a:srgbClr val="FF5C39"/>
                </a:solidFill>
                <a:latin typeface="Segoe Sans Display" pitchFamily="34" charset="0"/>
                <a:ea typeface="Segoe Sans Display" pitchFamily="34" charset="-122"/>
                <a:cs typeface="Segoe Sans Display" pitchFamily="34" charset="-120"/>
              </a:rPr>
              <a:t>Excluded from the USL</a:t>
            </a:r>
            <a:endParaRPr lang="en-US" sz="950" dirty="0"/>
          </a:p>
        </p:txBody>
      </p:sp>
      <p:sp>
        <p:nvSpPr>
          <p:cNvPr id="43" name="Text 41"/>
          <p:cNvSpPr txBox="1"/>
          <p:nvPr/>
        </p:nvSpPr>
        <p:spPr>
          <a:xfrm>
            <a:off x="713232" y="5504688"/>
            <a:ext cx="10241280" cy="256032"/>
          </a:xfrm>
          <a:prstGeom prst="rect">
            <a:avLst/>
          </a:prstGeom>
          <a:noFill/>
          <a:ln/>
        </p:spPr>
        <p:txBody>
          <a:bodyPr wrap="square" lIns="0" tIns="0" rIns="0" bIns="0" rtlCol="0" anchor="ctr"/>
          <a:lstStyle/>
          <a:p>
            <a:pPr indent="0" marL="0">
              <a:buNone/>
            </a:pPr>
            <a:r>
              <a:rPr lang="en-US" sz="1050" i="1" dirty="0">
                <a:solidFill>
                  <a:srgbClr val="6E7B85"/>
                </a:solidFill>
                <a:latin typeface="Segoe Sans Display" pitchFamily="34" charset="0"/>
                <a:ea typeface="Segoe Sans Display" pitchFamily="34" charset="-122"/>
                <a:cs typeface="Segoe Sans Display" pitchFamily="34" charset="-120"/>
              </a:rPr>
              <a:t>Charges stack. One grounded reasoning answer is a generative answer plus tenant graph grounding plus the premium token rate — 112 credits, not 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SAME AGENT, SAME HARNESS</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What changes when nobody is driving</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8</a:t>
            </a:r>
            <a:endParaRPr lang="en-US" sz="800" dirty="0"/>
          </a:p>
        </p:txBody>
      </p:sp>
      <p:sp>
        <p:nvSpPr>
          <p:cNvPr id="6" name="Shape 4"/>
          <p:cNvSpPr/>
          <p:nvPr/>
        </p:nvSpPr>
        <p:spPr>
          <a:xfrm>
            <a:off x="713232" y="1623060"/>
            <a:ext cx="4928616" cy="3351276"/>
          </a:xfrm>
          <a:prstGeom prst="rect">
            <a:avLst/>
          </a:prstGeom>
          <a:solidFill>
            <a:srgbClr val="EFF7FD"/>
          </a:solidFill>
          <a:ln w="12700">
            <a:solidFill>
              <a:srgbClr val="0078D4"/>
            </a:solidFill>
            <a:prstDash val="solid"/>
          </a:ln>
        </p:spPr>
      </p:sp>
      <p:sp>
        <p:nvSpPr>
          <p:cNvPr id="7" name="Shape 5"/>
          <p:cNvSpPr/>
          <p:nvPr/>
        </p:nvSpPr>
        <p:spPr>
          <a:xfrm>
            <a:off x="713232" y="1572768"/>
            <a:ext cx="4928616" cy="50292"/>
          </a:xfrm>
          <a:prstGeom prst="rect">
            <a:avLst/>
          </a:prstGeom>
          <a:solidFill>
            <a:srgbClr val="0078D4"/>
          </a:solidFill>
          <a:ln/>
        </p:spPr>
      </p:sp>
      <p:sp>
        <p:nvSpPr>
          <p:cNvPr id="8" name="Text 6"/>
          <p:cNvSpPr txBox="1"/>
          <p:nvPr/>
        </p:nvSpPr>
        <p:spPr>
          <a:xfrm>
            <a:off x="969264" y="1773936"/>
            <a:ext cx="4434840" cy="274320"/>
          </a:xfrm>
          <a:prstGeom prst="rect">
            <a:avLst/>
          </a:prstGeom>
          <a:noFill/>
          <a:ln/>
        </p:spPr>
        <p:txBody>
          <a:bodyPr wrap="square" lIns="0" tIns="0" rIns="0" bIns="0" rtlCol="0" anchor="ctr"/>
          <a:lstStyle/>
          <a:p>
            <a:pPr indent="0" marL="0">
              <a:buNone/>
            </a:pPr>
            <a:r>
              <a:rPr lang="en-US" sz="1400" b="1" dirty="0">
                <a:solidFill>
                  <a:srgbClr val="091F2C"/>
                </a:solidFill>
                <a:latin typeface="Segoe Sans Display Semibold" pitchFamily="34" charset="0"/>
                <a:ea typeface="Segoe Sans Display Semibold" pitchFamily="34" charset="-122"/>
                <a:cs typeface="Segoe Sans Display Semibold" pitchFamily="34" charset="-120"/>
              </a:rPr>
              <a:t>Attended  ·  user-invoked</a:t>
            </a:r>
            <a:endParaRPr lang="en-US" sz="1400" dirty="0"/>
          </a:p>
        </p:txBody>
      </p:sp>
      <p:sp>
        <p:nvSpPr>
          <p:cNvPr id="9" name="Text 7"/>
          <p:cNvSpPr txBox="1"/>
          <p:nvPr/>
        </p:nvSpPr>
        <p:spPr>
          <a:xfrm>
            <a:off x="969264" y="2157984"/>
            <a:ext cx="4434840" cy="1298448"/>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An advisor opens the agent in Teams</a:t>
            </a:r>
            <a:endParaRPr lang="en-US" sz="1100" dirty="0"/>
          </a:p>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Runs under their authenticated identity</a:t>
            </a:r>
            <a:endParaRPr lang="en-US" sz="1100" dirty="0"/>
          </a:p>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They hold a Microsoft 365 Copilot USL</a:t>
            </a:r>
            <a:endParaRPr lang="en-US" sz="1100" dirty="0"/>
          </a:p>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Microsoft surface, inside fair use</a:t>
            </a:r>
            <a:endParaRPr lang="en-US" sz="1100" dirty="0"/>
          </a:p>
        </p:txBody>
      </p:sp>
      <p:sp>
        <p:nvSpPr>
          <p:cNvPr id="10" name="Shape 8"/>
          <p:cNvSpPr/>
          <p:nvPr/>
        </p:nvSpPr>
        <p:spPr>
          <a:xfrm>
            <a:off x="969264" y="3639312"/>
            <a:ext cx="4416552" cy="566928"/>
          </a:xfrm>
          <a:prstGeom prst="rect">
            <a:avLst/>
          </a:prstGeom>
          <a:solidFill>
            <a:srgbClr val="FFFFFF"/>
          </a:solidFill>
          <a:ln w="12700">
            <a:solidFill>
              <a:srgbClr val="0078D4"/>
            </a:solidFill>
            <a:prstDash val="solid"/>
          </a:ln>
        </p:spPr>
      </p:sp>
      <p:sp>
        <p:nvSpPr>
          <p:cNvPr id="11" name="Text 9"/>
          <p:cNvSpPr txBox="1"/>
          <p:nvPr/>
        </p:nvSpPr>
        <p:spPr>
          <a:xfrm>
            <a:off x="969264" y="3803904"/>
            <a:ext cx="4416552" cy="274320"/>
          </a:xfrm>
          <a:prstGeom prst="rect">
            <a:avLst/>
          </a:prstGeom>
          <a:noFill/>
          <a:ln/>
        </p:spPr>
        <p:txBody>
          <a:bodyPr wrap="square" lIns="0" tIns="0" rIns="0" bIns="0" rtlCol="0" anchor="ctr"/>
          <a:lstStyle/>
          <a:p>
            <a:pPr algn="ctr" indent="0" marL="0">
              <a:buNone/>
            </a:pPr>
            <a:r>
              <a:rPr lang="en-US" sz="1500" b="1" dirty="0">
                <a:solidFill>
                  <a:srgbClr val="107C41"/>
                </a:solidFill>
                <a:latin typeface="Segoe Sans Display Semibold" pitchFamily="34" charset="0"/>
                <a:ea typeface="Segoe Sans Display Semibold" pitchFamily="34" charset="-122"/>
                <a:cs typeface="Segoe Sans Display Semibold" pitchFamily="34" charset="-120"/>
              </a:rPr>
              <a:t>No charge</a:t>
            </a:r>
            <a:endParaRPr lang="en-US" sz="1500" dirty="0"/>
          </a:p>
        </p:txBody>
      </p:sp>
      <p:sp>
        <p:nvSpPr>
          <p:cNvPr id="12" name="Text 10"/>
          <p:cNvSpPr txBox="1"/>
          <p:nvPr/>
        </p:nvSpPr>
        <p:spPr>
          <a:xfrm>
            <a:off x="969264" y="4334256"/>
            <a:ext cx="4434840" cy="438912"/>
          </a:xfrm>
          <a:prstGeom prst="rect">
            <a:avLst/>
          </a:prstGeom>
          <a:noFill/>
          <a:ln/>
        </p:spPr>
        <p:txBody>
          <a:bodyPr wrap="square" lIns="0" tIns="0" rIns="0" bIns="0" rtlCol="0" anchor="ctr"/>
          <a:lstStyle/>
          <a:p>
            <a:pPr indent="0" marL="0">
              <a:buNone/>
            </a:pPr>
            <a:r>
              <a:rPr lang="en-US" sz="1000" i="1" dirty="0">
                <a:solidFill>
                  <a:srgbClr val="3B4A54"/>
                </a:solidFill>
                <a:latin typeface="Segoe Sans Display" pitchFamily="34" charset="0"/>
                <a:ea typeface="Segoe Sans Display" pitchFamily="34" charset="-122"/>
                <a:cs typeface="Segoe Sans Display" pitchFamily="34" charset="-120"/>
              </a:rPr>
              <a:t>Four conditions hold. The runtime is included in the licence.</a:t>
            </a:r>
            <a:endParaRPr lang="en-US" sz="1000" dirty="0"/>
          </a:p>
        </p:txBody>
      </p:sp>
      <p:sp>
        <p:nvSpPr>
          <p:cNvPr id="13" name="Shape 11"/>
          <p:cNvSpPr/>
          <p:nvPr/>
        </p:nvSpPr>
        <p:spPr>
          <a:xfrm>
            <a:off x="6035040" y="1623060"/>
            <a:ext cx="4928616" cy="3351276"/>
          </a:xfrm>
          <a:prstGeom prst="rect">
            <a:avLst/>
          </a:prstGeom>
          <a:solidFill>
            <a:srgbClr val="FFF4F0"/>
          </a:solidFill>
          <a:ln w="12700">
            <a:solidFill>
              <a:srgbClr val="FF5C39"/>
            </a:solidFill>
            <a:prstDash val="solid"/>
          </a:ln>
        </p:spPr>
      </p:sp>
      <p:sp>
        <p:nvSpPr>
          <p:cNvPr id="14" name="Shape 12"/>
          <p:cNvSpPr/>
          <p:nvPr/>
        </p:nvSpPr>
        <p:spPr>
          <a:xfrm>
            <a:off x="6035040" y="1572768"/>
            <a:ext cx="4928616" cy="50292"/>
          </a:xfrm>
          <a:prstGeom prst="rect">
            <a:avLst/>
          </a:prstGeom>
          <a:solidFill>
            <a:srgbClr val="FF5C39"/>
          </a:solidFill>
          <a:ln/>
        </p:spPr>
      </p:sp>
      <p:sp>
        <p:nvSpPr>
          <p:cNvPr id="15" name="Text 13"/>
          <p:cNvSpPr txBox="1"/>
          <p:nvPr/>
        </p:nvSpPr>
        <p:spPr>
          <a:xfrm>
            <a:off x="6291072" y="1773936"/>
            <a:ext cx="4434840" cy="274320"/>
          </a:xfrm>
          <a:prstGeom prst="rect">
            <a:avLst/>
          </a:prstGeom>
          <a:noFill/>
          <a:ln/>
        </p:spPr>
        <p:txBody>
          <a:bodyPr wrap="square" lIns="0" tIns="0" rIns="0" bIns="0" rtlCol="0" anchor="ctr"/>
          <a:lstStyle/>
          <a:p>
            <a:pPr indent="0" marL="0">
              <a:buNone/>
            </a:pPr>
            <a:r>
              <a:rPr lang="en-US" sz="1400" b="1" dirty="0">
                <a:solidFill>
                  <a:srgbClr val="091F2C"/>
                </a:solidFill>
                <a:latin typeface="Segoe Sans Display Semibold" pitchFamily="34" charset="0"/>
                <a:ea typeface="Segoe Sans Display Semibold" pitchFamily="34" charset="-122"/>
                <a:cs typeface="Segoe Sans Display Semibold" pitchFamily="34" charset="-120"/>
              </a:rPr>
              <a:t>Unattended  ·  autonomously triggered</a:t>
            </a:r>
            <a:endParaRPr lang="en-US" sz="1400" dirty="0"/>
          </a:p>
        </p:txBody>
      </p:sp>
      <p:sp>
        <p:nvSpPr>
          <p:cNvPr id="16" name="Text 14"/>
          <p:cNvSpPr txBox="1"/>
          <p:nvPr/>
        </p:nvSpPr>
        <p:spPr>
          <a:xfrm>
            <a:off x="6291072" y="2157984"/>
            <a:ext cx="4434840" cy="1298448"/>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A schedule or event fires the agent</a:t>
            </a:r>
            <a:endParaRPr lang="en-US" sz="1100" dirty="0"/>
          </a:p>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No signed-in user session exists</a:t>
            </a:r>
            <a:endParaRPr lang="en-US" sz="1100" dirty="0"/>
          </a:p>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The USL has no identity to attach to</a:t>
            </a:r>
            <a:endParaRPr lang="en-US" sz="1100" dirty="0"/>
          </a:p>
          <a:p>
            <a:pPr marL="342900" indent="-342900">
              <a:spcAft>
                <a:spcPts val="700"/>
              </a:spcAft>
              <a:buSzPct val="100000"/>
              <a:buChar char="•"/>
            </a:pPr>
            <a:r>
              <a:rPr lang="en-US" sz="1100" dirty="0">
                <a:solidFill>
                  <a:srgbClr val="3B4A54"/>
                </a:solidFill>
                <a:latin typeface="Segoe Sans Display" pitchFamily="34" charset="0"/>
                <a:ea typeface="Segoe Sans Display" pitchFamily="34" charset="-122"/>
                <a:cs typeface="Segoe Sans Display" pitchFamily="34" charset="-120"/>
              </a:rPr>
              <a:t>Every action meters at the rate card</a:t>
            </a:r>
            <a:endParaRPr lang="en-US" sz="1100" dirty="0"/>
          </a:p>
        </p:txBody>
      </p:sp>
      <p:sp>
        <p:nvSpPr>
          <p:cNvPr id="17" name="Shape 15"/>
          <p:cNvSpPr/>
          <p:nvPr/>
        </p:nvSpPr>
        <p:spPr>
          <a:xfrm>
            <a:off x="6291072" y="3639312"/>
            <a:ext cx="4416552" cy="566928"/>
          </a:xfrm>
          <a:prstGeom prst="rect">
            <a:avLst/>
          </a:prstGeom>
          <a:solidFill>
            <a:srgbClr val="FFFFFF"/>
          </a:solidFill>
          <a:ln w="12700">
            <a:solidFill>
              <a:srgbClr val="FF5C39"/>
            </a:solidFill>
            <a:prstDash val="solid"/>
          </a:ln>
        </p:spPr>
      </p:sp>
      <p:sp>
        <p:nvSpPr>
          <p:cNvPr id="18" name="Text 16"/>
          <p:cNvSpPr txBox="1"/>
          <p:nvPr/>
        </p:nvSpPr>
        <p:spPr>
          <a:xfrm>
            <a:off x="6291072" y="3803904"/>
            <a:ext cx="4416552" cy="274320"/>
          </a:xfrm>
          <a:prstGeom prst="rect">
            <a:avLst/>
          </a:prstGeom>
          <a:noFill/>
          <a:ln/>
        </p:spPr>
        <p:txBody>
          <a:bodyPr wrap="square" lIns="0" tIns="0" rIns="0" bIns="0" rtlCol="0" anchor="ctr"/>
          <a:lstStyle/>
          <a:p>
            <a:pPr algn="ctr" indent="0" marL="0">
              <a:buNone/>
            </a:pPr>
            <a:r>
              <a:rPr lang="en-US" sz="1500" b="1" dirty="0">
                <a:solidFill>
                  <a:srgbClr val="FF5C39"/>
                </a:solidFill>
                <a:latin typeface="Segoe Sans Display Semibold" pitchFamily="34" charset="0"/>
                <a:ea typeface="Segoe Sans Display Semibold" pitchFamily="34" charset="-122"/>
                <a:cs typeface="Segoe Sans Display Semibold" pitchFamily="34" charset="-120"/>
              </a:rPr>
              <a:t>Billed in credits</a:t>
            </a:r>
            <a:endParaRPr lang="en-US" sz="1500" dirty="0"/>
          </a:p>
        </p:txBody>
      </p:sp>
      <p:sp>
        <p:nvSpPr>
          <p:cNvPr id="19" name="Text 17"/>
          <p:cNvSpPr txBox="1"/>
          <p:nvPr/>
        </p:nvSpPr>
        <p:spPr>
          <a:xfrm>
            <a:off x="6291072" y="4334256"/>
            <a:ext cx="4434840" cy="438912"/>
          </a:xfrm>
          <a:prstGeom prst="rect">
            <a:avLst/>
          </a:prstGeom>
          <a:noFill/>
          <a:ln/>
        </p:spPr>
        <p:txBody>
          <a:bodyPr wrap="square" lIns="0" tIns="0" rIns="0" bIns="0" rtlCol="0" anchor="ctr"/>
          <a:lstStyle/>
          <a:p>
            <a:pPr indent="0" marL="0">
              <a:buNone/>
            </a:pPr>
            <a:r>
              <a:rPr lang="en-US" sz="1000" i="1" dirty="0">
                <a:solidFill>
                  <a:srgbClr val="3B4A54"/>
                </a:solidFill>
                <a:latin typeface="Segoe Sans Display" pitchFamily="34" charset="0"/>
                <a:ea typeface="Segoe Sans Display" pitchFamily="34" charset="-122"/>
                <a:cs typeface="Segoe Sans Display" pitchFamily="34" charset="-120"/>
              </a:rPr>
              <a:t>Condition 3 fails. Nothing else about the agent changed.</a:t>
            </a:r>
            <a:endParaRPr lang="en-US" sz="1000" dirty="0"/>
          </a:p>
        </p:txBody>
      </p:sp>
      <p:sp>
        <p:nvSpPr>
          <p:cNvPr id="20" name="Shape 18"/>
          <p:cNvSpPr/>
          <p:nvPr/>
        </p:nvSpPr>
        <p:spPr>
          <a:xfrm>
            <a:off x="713232" y="5189220"/>
            <a:ext cx="10250424" cy="699516"/>
          </a:xfrm>
          <a:prstGeom prst="rect">
            <a:avLst/>
          </a:prstGeom>
          <a:solidFill>
            <a:srgbClr val="FFF8F5"/>
          </a:solidFill>
          <a:ln w="12700">
            <a:solidFill>
              <a:srgbClr val="C03BC4"/>
            </a:solidFill>
            <a:prstDash val="solid"/>
          </a:ln>
        </p:spPr>
      </p:sp>
      <p:sp>
        <p:nvSpPr>
          <p:cNvPr id="21" name="Shape 19"/>
          <p:cNvSpPr/>
          <p:nvPr/>
        </p:nvSpPr>
        <p:spPr>
          <a:xfrm>
            <a:off x="713232" y="5138928"/>
            <a:ext cx="10250424" cy="50292"/>
          </a:xfrm>
          <a:prstGeom prst="rect">
            <a:avLst/>
          </a:prstGeom>
          <a:solidFill>
            <a:srgbClr val="C03BC4"/>
          </a:solidFill>
          <a:ln/>
        </p:spPr>
      </p:sp>
      <p:sp>
        <p:nvSpPr>
          <p:cNvPr id="22" name="Text 20"/>
          <p:cNvSpPr txBox="1"/>
          <p:nvPr/>
        </p:nvSpPr>
        <p:spPr>
          <a:xfrm>
            <a:off x="969264" y="5394960"/>
            <a:ext cx="9784080" cy="292608"/>
          </a:xfrm>
          <a:prstGeom prst="rect">
            <a:avLst/>
          </a:prstGeom>
          <a:noFill/>
          <a:ln/>
        </p:spPr>
        <p:txBody>
          <a:bodyPr wrap="square" lIns="0" tIns="0" rIns="0" bIns="0" rtlCol="0" anchor="ctr"/>
          <a:lstStyle/>
          <a:p>
            <a:pPr indent="0" marL="0">
              <a:buNone/>
            </a:pPr>
            <a:r>
              <a:rPr lang="en-US" sz="1200" b="1" dirty="0">
                <a:solidFill>
                  <a:srgbClr val="091F2C"/>
                </a:solidFill>
                <a:latin typeface="Segoe Sans Display Semibold" pitchFamily="34" charset="0"/>
                <a:ea typeface="Segoe Sans Display Semibold" pitchFamily="34" charset="-122"/>
                <a:cs typeface="Segoe Sans Display Semibold" pitchFamily="34" charset="-120"/>
              </a:rPr>
              <a:t>Design consequence: the moment you add a schedule or trigger to an internal Standard-harness agent, it leaves the licence. Budget it like a metered workload, not a free one.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COPILOT CHAT HARNESS</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Covered, and not covered</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9</a:t>
            </a:r>
            <a:endParaRPr lang="en-US" sz="800" dirty="0"/>
          </a:p>
        </p:txBody>
      </p:sp>
      <p:sp>
        <p:nvSpPr>
          <p:cNvPr id="6" name="Shape 4"/>
          <p:cNvSpPr/>
          <p:nvPr/>
        </p:nvSpPr>
        <p:spPr>
          <a:xfrm>
            <a:off x="713232" y="1623060"/>
            <a:ext cx="4928616" cy="2436876"/>
          </a:xfrm>
          <a:prstGeom prst="rect">
            <a:avLst/>
          </a:prstGeom>
          <a:solidFill>
            <a:srgbClr val="FFFFFF"/>
          </a:solidFill>
          <a:ln w="12700">
            <a:solidFill>
              <a:srgbClr val="0078D4"/>
            </a:solidFill>
            <a:prstDash val="solid"/>
          </a:ln>
        </p:spPr>
      </p:sp>
      <p:sp>
        <p:nvSpPr>
          <p:cNvPr id="7" name="Shape 5"/>
          <p:cNvSpPr/>
          <p:nvPr/>
        </p:nvSpPr>
        <p:spPr>
          <a:xfrm>
            <a:off x="713232" y="1572768"/>
            <a:ext cx="4928616" cy="50292"/>
          </a:xfrm>
          <a:prstGeom prst="rect">
            <a:avLst/>
          </a:prstGeom>
          <a:solidFill>
            <a:srgbClr val="0078D4"/>
          </a:solidFill>
          <a:ln/>
        </p:spPr>
      </p:sp>
      <p:sp>
        <p:nvSpPr>
          <p:cNvPr id="8" name="Text 6"/>
          <p:cNvSpPr txBox="1"/>
          <p:nvPr/>
        </p:nvSpPr>
        <p:spPr>
          <a:xfrm>
            <a:off x="969264" y="1773936"/>
            <a:ext cx="4434840" cy="256032"/>
          </a:xfrm>
          <a:prstGeom prst="rect">
            <a:avLst/>
          </a:prstGeom>
          <a:noFill/>
          <a:ln/>
        </p:spPr>
        <p:txBody>
          <a:bodyPr wrap="square" lIns="0" tIns="0" rIns="0" bIns="0" rtlCol="0" anchor="ctr"/>
          <a:lstStyle/>
          <a:p>
            <a:pPr indent="0" marL="0">
              <a:buNone/>
            </a:pPr>
            <a:r>
              <a:rPr lang="en-US" sz="1250" b="1" dirty="0">
                <a:solidFill>
                  <a:srgbClr val="107C41"/>
                </a:solidFill>
                <a:latin typeface="Segoe Sans Display Semibold" pitchFamily="34" charset="0"/>
                <a:ea typeface="Segoe Sans Display Semibold" pitchFamily="34" charset="-122"/>
                <a:cs typeface="Segoe Sans Display Semibold" pitchFamily="34" charset="-120"/>
              </a:rPr>
              <a:t>Covered — included in the M365 Copilot USL</a:t>
            </a:r>
            <a:endParaRPr lang="en-US" sz="1250" dirty="0"/>
          </a:p>
        </p:txBody>
      </p:sp>
      <p:sp>
        <p:nvSpPr>
          <p:cNvPr id="9" name="Text 7"/>
          <p:cNvSpPr txBox="1"/>
          <p:nvPr/>
        </p:nvSpPr>
        <p:spPr>
          <a:xfrm>
            <a:off x="969264" y="2121408"/>
            <a:ext cx="4434840" cy="173736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Grounding Copilot Chat in SharePoint policy libraries</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Regulatory and compliance knowledge for licensed staff</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Employee onboarding answers inside Teams and Copilot</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Custom instructions and suggested prompts</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Building, configuring and testing the agent</a:t>
            </a:r>
            <a:endParaRPr lang="en-US" sz="1050" dirty="0"/>
          </a:p>
        </p:txBody>
      </p:sp>
      <p:sp>
        <p:nvSpPr>
          <p:cNvPr id="10" name="Shape 8"/>
          <p:cNvSpPr/>
          <p:nvPr/>
        </p:nvSpPr>
        <p:spPr>
          <a:xfrm>
            <a:off x="6035040" y="1623060"/>
            <a:ext cx="4928616" cy="2436876"/>
          </a:xfrm>
          <a:prstGeom prst="rect">
            <a:avLst/>
          </a:prstGeom>
          <a:solidFill>
            <a:srgbClr val="FFF4F0"/>
          </a:solidFill>
          <a:ln w="12700">
            <a:solidFill>
              <a:srgbClr val="FF5C39"/>
            </a:solidFill>
            <a:prstDash val="solid"/>
          </a:ln>
        </p:spPr>
      </p:sp>
      <p:sp>
        <p:nvSpPr>
          <p:cNvPr id="11" name="Shape 9"/>
          <p:cNvSpPr/>
          <p:nvPr/>
        </p:nvSpPr>
        <p:spPr>
          <a:xfrm>
            <a:off x="6035040" y="1572768"/>
            <a:ext cx="4928616" cy="50292"/>
          </a:xfrm>
          <a:prstGeom prst="rect">
            <a:avLst/>
          </a:prstGeom>
          <a:solidFill>
            <a:srgbClr val="FF5C39"/>
          </a:solidFill>
          <a:ln/>
        </p:spPr>
      </p:sp>
      <p:sp>
        <p:nvSpPr>
          <p:cNvPr id="12" name="Text 10"/>
          <p:cNvSpPr txBox="1"/>
          <p:nvPr/>
        </p:nvSpPr>
        <p:spPr>
          <a:xfrm>
            <a:off x="6291072" y="1773936"/>
            <a:ext cx="4434840" cy="256032"/>
          </a:xfrm>
          <a:prstGeom prst="rect">
            <a:avLst/>
          </a:prstGeom>
          <a:noFill/>
          <a:ln/>
        </p:spPr>
        <p:txBody>
          <a:bodyPr wrap="square" lIns="0" tIns="0" rIns="0" bIns="0" rtlCol="0" anchor="ctr"/>
          <a:lstStyle/>
          <a:p>
            <a:pPr indent="0" marL="0">
              <a:buNone/>
            </a:pPr>
            <a:r>
              <a:rPr lang="en-US" sz="1250" b="1" dirty="0">
                <a:solidFill>
                  <a:srgbClr val="FF5C39"/>
                </a:solidFill>
                <a:latin typeface="Segoe Sans Display Semibold" pitchFamily="34" charset="0"/>
                <a:ea typeface="Segoe Sans Display Semibold" pitchFamily="34" charset="-122"/>
                <a:cs typeface="Segoe Sans Display Semibold" pitchFamily="34" charset="-120"/>
              </a:rPr>
              <a:t>Not covered — credits, or not possible at all</a:t>
            </a:r>
            <a:endParaRPr lang="en-US" sz="1250" dirty="0"/>
          </a:p>
        </p:txBody>
      </p:sp>
      <p:sp>
        <p:nvSpPr>
          <p:cNvPr id="13" name="Text 11"/>
          <p:cNvSpPr txBox="1"/>
          <p:nvPr/>
        </p:nvSpPr>
        <p:spPr>
          <a:xfrm>
            <a:off x="6291072" y="2121408"/>
            <a:ext cx="4434840" cy="173736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External customers — the harness cannot publish externally</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Users without a Microsoft 365 Copilot licence</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Anonymous or unauthenticated access</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Usage beyond fair-use limits</a:t>
            </a:r>
            <a:endParaRPr lang="en-US" sz="1050" dirty="0"/>
          </a:p>
          <a:p>
            <a:pPr marL="342900" indent="-342900">
              <a:spcAft>
                <a:spcPts val="7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Autonomous triggers, schedules and unattended runs</a:t>
            </a:r>
            <a:endParaRPr lang="en-US" sz="1050" dirty="0"/>
          </a:p>
        </p:txBody>
      </p:sp>
      <p:sp>
        <p:nvSpPr>
          <p:cNvPr id="14" name="Shape 12"/>
          <p:cNvSpPr/>
          <p:nvPr/>
        </p:nvSpPr>
        <p:spPr>
          <a:xfrm>
            <a:off x="713232" y="4293108"/>
            <a:ext cx="10250424" cy="1522476"/>
          </a:xfrm>
          <a:prstGeom prst="rect">
            <a:avLst/>
          </a:prstGeom>
          <a:solidFill>
            <a:srgbClr val="EFF7FD"/>
          </a:solidFill>
          <a:ln w="12700">
            <a:solidFill>
              <a:srgbClr val="8661C5"/>
            </a:solidFill>
            <a:prstDash val="solid"/>
          </a:ln>
        </p:spPr>
      </p:sp>
      <p:sp>
        <p:nvSpPr>
          <p:cNvPr id="15" name="Shape 13"/>
          <p:cNvSpPr/>
          <p:nvPr/>
        </p:nvSpPr>
        <p:spPr>
          <a:xfrm>
            <a:off x="713232" y="4242816"/>
            <a:ext cx="10250424" cy="50292"/>
          </a:xfrm>
          <a:prstGeom prst="rect">
            <a:avLst/>
          </a:prstGeom>
          <a:solidFill>
            <a:srgbClr val="8661C5"/>
          </a:solidFill>
          <a:ln/>
        </p:spPr>
      </p:sp>
      <p:sp>
        <p:nvSpPr>
          <p:cNvPr id="16" name="Text 14"/>
          <p:cNvSpPr txBox="1"/>
          <p:nvPr/>
        </p:nvSpPr>
        <p:spPr>
          <a:xfrm>
            <a:off x="969264" y="4462272"/>
            <a:ext cx="9784080" cy="274320"/>
          </a:xfrm>
          <a:prstGeom prst="rect">
            <a:avLst/>
          </a:prstGeom>
          <a:noFill/>
          <a:ln/>
        </p:spPr>
        <p:txBody>
          <a:bodyPr wrap="square" lIns="0" tIns="0" rIns="0" bIns="0" rtlCol="0" anchor="ctr"/>
          <a:lstStyle/>
          <a:p>
            <a:pPr indent="0" marL="0">
              <a:buNone/>
            </a:pPr>
            <a:r>
              <a:rPr lang="en-US" sz="1400" b="1" dirty="0">
                <a:solidFill>
                  <a:srgbClr val="091F2C"/>
                </a:solidFill>
                <a:latin typeface="Segoe Sans Display Semibold" pitchFamily="34" charset="0"/>
                <a:ea typeface="Segoe Sans Display Semibold" pitchFamily="34" charset="-122"/>
                <a:cs typeface="Segoe Sans Display Semibold" pitchFamily="34" charset="-120"/>
              </a:rPr>
              <a:t>The constraint that decides it before anything else</a:t>
            </a:r>
            <a:endParaRPr lang="en-US" sz="1400" dirty="0"/>
          </a:p>
        </p:txBody>
      </p:sp>
      <p:sp>
        <p:nvSpPr>
          <p:cNvPr id="17" name="Text 15"/>
          <p:cNvSpPr txBox="1"/>
          <p:nvPr/>
        </p:nvSpPr>
        <p:spPr>
          <a:xfrm>
            <a:off x="969264" y="4791456"/>
            <a:ext cx="9784080" cy="777240"/>
          </a:xfrm>
          <a:prstGeom prst="rect">
            <a:avLst/>
          </a:prstGeom>
          <a:noFill/>
          <a:ln/>
        </p:spPr>
        <p:txBody>
          <a:bodyPr wrap="square" lIns="0" tIns="0" rIns="0" bIns="0" rtlCol="0" anchor="ctr"/>
          <a:lstStyle/>
          <a:p>
            <a:pPr indent="0" marL="0">
              <a:lnSpc>
                <a:spcPts val="1600"/>
              </a:lnSpc>
              <a:buNone/>
            </a:pPr>
            <a:r>
              <a:rPr lang="en-US" sz="1150" dirty="0">
                <a:solidFill>
                  <a:srgbClr val="3B4A54"/>
                </a:solidFill>
                <a:latin typeface="Segoe Sans Display" pitchFamily="34" charset="0"/>
                <a:ea typeface="Segoe Sans Display" pitchFamily="34" charset="-122"/>
                <a:cs typeface="Segoe Sans Display" pitchFamily="34" charset="-120"/>
              </a:rPr>
              <a:t>The Copilot chat harness publishes to internal teams only. If the agent will ever face a customer, a partner portal or a public website, this harness is out — however well it fits on every other axis. That decision comes first, because the harness cannot be changed after the agent is created.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ONE TABLE TO SETTLE IT</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Coverage by harness and condition</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10</a:t>
            </a:r>
            <a:endParaRPr lang="en-US" sz="800" dirty="0"/>
          </a:p>
        </p:txBody>
      </p:sp>
      <p:sp>
        <p:nvSpPr>
          <p:cNvPr id="6" name="Shape 4"/>
          <p:cNvSpPr/>
          <p:nvPr/>
        </p:nvSpPr>
        <p:spPr>
          <a:xfrm>
            <a:off x="713232" y="1627632"/>
            <a:ext cx="10250424" cy="402336"/>
          </a:xfrm>
          <a:prstGeom prst="rect">
            <a:avLst/>
          </a:prstGeom>
          <a:solidFill>
            <a:srgbClr val="091F2C"/>
          </a:solidFill>
          <a:ln/>
        </p:spPr>
      </p:sp>
      <p:sp>
        <p:nvSpPr>
          <p:cNvPr id="7" name="Text 5"/>
          <p:cNvSpPr txBox="1"/>
          <p:nvPr/>
        </p:nvSpPr>
        <p:spPr>
          <a:xfrm>
            <a:off x="859536" y="1719072"/>
            <a:ext cx="3977640" cy="237744"/>
          </a:xfrm>
          <a:prstGeom prst="rect">
            <a:avLst/>
          </a:prstGeom>
          <a:noFill/>
          <a:ln/>
        </p:spPr>
        <p:txBody>
          <a:bodyPr wrap="square" lIns="0" tIns="0" rIns="0" bIns="0" rtlCol="0" anchor="ctr"/>
          <a:lstStyle/>
          <a:p>
            <a:pPr algn="l"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Scenario</a:t>
            </a:r>
            <a:endParaRPr lang="en-US" sz="1050" dirty="0"/>
          </a:p>
        </p:txBody>
      </p:sp>
      <p:sp>
        <p:nvSpPr>
          <p:cNvPr id="8" name="Text 6"/>
          <p:cNvSpPr txBox="1"/>
          <p:nvPr/>
        </p:nvSpPr>
        <p:spPr>
          <a:xfrm>
            <a:off x="5111496" y="1719072"/>
            <a:ext cx="1847088"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Copilot chat</a:t>
            </a:r>
            <a:endParaRPr lang="en-US" sz="1050" dirty="0"/>
          </a:p>
        </p:txBody>
      </p:sp>
      <p:sp>
        <p:nvSpPr>
          <p:cNvPr id="9" name="Text 7"/>
          <p:cNvSpPr txBox="1"/>
          <p:nvPr/>
        </p:nvSpPr>
        <p:spPr>
          <a:xfrm>
            <a:off x="7232904" y="1719072"/>
            <a:ext cx="1847088"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Standard</a:t>
            </a:r>
            <a:endParaRPr lang="en-US" sz="1050" dirty="0"/>
          </a:p>
        </p:txBody>
      </p:sp>
      <p:sp>
        <p:nvSpPr>
          <p:cNvPr id="10" name="Text 8"/>
          <p:cNvSpPr txBox="1"/>
          <p:nvPr/>
        </p:nvSpPr>
        <p:spPr>
          <a:xfrm>
            <a:off x="9354312" y="1719072"/>
            <a:ext cx="1481328"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Segoe Sans Display Semibold" pitchFamily="34" charset="0"/>
                <a:ea typeface="Segoe Sans Display Semibold" pitchFamily="34" charset="-122"/>
                <a:cs typeface="Segoe Sans Display Semibold" pitchFamily="34" charset="-120"/>
              </a:rPr>
              <a:t>GitHub Copilot</a:t>
            </a:r>
            <a:endParaRPr lang="en-US" sz="1050" dirty="0"/>
          </a:p>
        </p:txBody>
      </p:sp>
      <p:sp>
        <p:nvSpPr>
          <p:cNvPr id="11" name="Shape 9"/>
          <p:cNvSpPr/>
          <p:nvPr/>
        </p:nvSpPr>
        <p:spPr>
          <a:xfrm>
            <a:off x="713232" y="2029968"/>
            <a:ext cx="10250424" cy="420624"/>
          </a:xfrm>
          <a:prstGeom prst="rect">
            <a:avLst/>
          </a:prstGeom>
          <a:solidFill>
            <a:srgbClr val="FFFFFF"/>
          </a:solidFill>
          <a:ln w="12700">
            <a:solidFill>
              <a:srgbClr val="E3E8EB"/>
            </a:solidFill>
            <a:prstDash val="solid"/>
          </a:ln>
        </p:spPr>
      </p:sp>
      <p:sp>
        <p:nvSpPr>
          <p:cNvPr id="12" name="Text 10"/>
          <p:cNvSpPr txBox="1"/>
          <p:nvPr/>
        </p:nvSpPr>
        <p:spPr>
          <a:xfrm>
            <a:off x="859536" y="2139696"/>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Licensed user · Teams / SharePoint / Copilot</a:t>
            </a:r>
            <a:endParaRPr lang="en-US" sz="1000" dirty="0"/>
          </a:p>
        </p:txBody>
      </p:sp>
      <p:sp>
        <p:nvSpPr>
          <p:cNvPr id="13" name="Text 11"/>
          <p:cNvSpPr txBox="1"/>
          <p:nvPr/>
        </p:nvSpPr>
        <p:spPr>
          <a:xfrm>
            <a:off x="5111496" y="2139696"/>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Free</a:t>
            </a:r>
            <a:endParaRPr lang="en-US" sz="1000" dirty="0"/>
          </a:p>
        </p:txBody>
      </p:sp>
      <p:sp>
        <p:nvSpPr>
          <p:cNvPr id="14" name="Text 12"/>
          <p:cNvSpPr txBox="1"/>
          <p:nvPr/>
        </p:nvSpPr>
        <p:spPr>
          <a:xfrm>
            <a:off x="7232904" y="2139696"/>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Free</a:t>
            </a:r>
            <a:endParaRPr lang="en-US" sz="1000" dirty="0"/>
          </a:p>
        </p:txBody>
      </p:sp>
      <p:sp>
        <p:nvSpPr>
          <p:cNvPr id="15" name="Text 13"/>
          <p:cNvSpPr txBox="1"/>
          <p:nvPr/>
        </p:nvSpPr>
        <p:spPr>
          <a:xfrm>
            <a:off x="9354312" y="2139696"/>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16" name="Shape 14"/>
          <p:cNvSpPr/>
          <p:nvPr/>
        </p:nvSpPr>
        <p:spPr>
          <a:xfrm>
            <a:off x="713232" y="2450592"/>
            <a:ext cx="10250424" cy="420624"/>
          </a:xfrm>
          <a:prstGeom prst="rect">
            <a:avLst/>
          </a:prstGeom>
          <a:solidFill>
            <a:srgbClr val="FFF8F5"/>
          </a:solidFill>
          <a:ln w="12700">
            <a:solidFill>
              <a:srgbClr val="E3E8EB"/>
            </a:solidFill>
            <a:prstDash val="solid"/>
          </a:ln>
        </p:spPr>
      </p:sp>
      <p:sp>
        <p:nvSpPr>
          <p:cNvPr id="17" name="Text 15"/>
          <p:cNvSpPr txBox="1"/>
          <p:nvPr/>
        </p:nvSpPr>
        <p:spPr>
          <a:xfrm>
            <a:off x="859536" y="2560320"/>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Licensed user · external channel</a:t>
            </a:r>
            <a:endParaRPr lang="en-US" sz="1000" dirty="0"/>
          </a:p>
        </p:txBody>
      </p:sp>
      <p:sp>
        <p:nvSpPr>
          <p:cNvPr id="18" name="Text 16"/>
          <p:cNvSpPr txBox="1"/>
          <p:nvPr/>
        </p:nvSpPr>
        <p:spPr>
          <a:xfrm>
            <a:off x="5111496" y="2560320"/>
            <a:ext cx="1847088" cy="219456"/>
          </a:xfrm>
          <a:prstGeom prst="rect">
            <a:avLst/>
          </a:prstGeom>
          <a:noFill/>
          <a:ln/>
        </p:spPr>
        <p:txBody>
          <a:bodyPr wrap="square" lIns="0" tIns="0" rIns="0" bIns="0" rtlCol="0" anchor="ctr"/>
          <a:lstStyle/>
          <a:p>
            <a:pPr algn="ctr" indent="0" marL="0">
              <a:buNone/>
            </a:pPr>
            <a:r>
              <a:rPr lang="en-US" sz="1000" b="1" dirty="0">
                <a:solidFill>
                  <a:srgbClr val="6E7B85"/>
                </a:solidFill>
                <a:latin typeface="Segoe Sans Display" pitchFamily="34" charset="0"/>
                <a:ea typeface="Segoe Sans Display" pitchFamily="34" charset="-122"/>
                <a:cs typeface="Segoe Sans Display" pitchFamily="34" charset="-120"/>
              </a:rPr>
              <a:t>Not possible</a:t>
            </a:r>
            <a:endParaRPr lang="en-US" sz="1000" dirty="0"/>
          </a:p>
        </p:txBody>
      </p:sp>
      <p:sp>
        <p:nvSpPr>
          <p:cNvPr id="19" name="Text 17"/>
          <p:cNvSpPr txBox="1"/>
          <p:nvPr/>
        </p:nvSpPr>
        <p:spPr>
          <a:xfrm>
            <a:off x="7232904" y="2560320"/>
            <a:ext cx="184708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20" name="Text 18"/>
          <p:cNvSpPr txBox="1"/>
          <p:nvPr/>
        </p:nvSpPr>
        <p:spPr>
          <a:xfrm>
            <a:off x="9354312" y="2560320"/>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21" name="Shape 19"/>
          <p:cNvSpPr/>
          <p:nvPr/>
        </p:nvSpPr>
        <p:spPr>
          <a:xfrm>
            <a:off x="713232" y="2871216"/>
            <a:ext cx="10250424" cy="420624"/>
          </a:xfrm>
          <a:prstGeom prst="rect">
            <a:avLst/>
          </a:prstGeom>
          <a:solidFill>
            <a:srgbClr val="FFFFFF"/>
          </a:solidFill>
          <a:ln w="12700">
            <a:solidFill>
              <a:srgbClr val="E3E8EB"/>
            </a:solidFill>
            <a:prstDash val="solid"/>
          </a:ln>
        </p:spPr>
      </p:sp>
      <p:sp>
        <p:nvSpPr>
          <p:cNvPr id="22" name="Text 20"/>
          <p:cNvSpPr txBox="1"/>
          <p:nvPr/>
        </p:nvSpPr>
        <p:spPr>
          <a:xfrm>
            <a:off x="859536" y="2980944"/>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Unlicensed or anonymous user</a:t>
            </a:r>
            <a:endParaRPr lang="en-US" sz="1000" dirty="0"/>
          </a:p>
        </p:txBody>
      </p:sp>
      <p:sp>
        <p:nvSpPr>
          <p:cNvPr id="23" name="Text 21"/>
          <p:cNvSpPr txBox="1"/>
          <p:nvPr/>
        </p:nvSpPr>
        <p:spPr>
          <a:xfrm>
            <a:off x="5111496" y="2980944"/>
            <a:ext cx="184708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24" name="Text 22"/>
          <p:cNvSpPr txBox="1"/>
          <p:nvPr/>
        </p:nvSpPr>
        <p:spPr>
          <a:xfrm>
            <a:off x="7232904" y="2980944"/>
            <a:ext cx="184708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25" name="Text 23"/>
          <p:cNvSpPr txBox="1"/>
          <p:nvPr/>
        </p:nvSpPr>
        <p:spPr>
          <a:xfrm>
            <a:off x="9354312" y="2980944"/>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26" name="Shape 24"/>
          <p:cNvSpPr/>
          <p:nvPr/>
        </p:nvSpPr>
        <p:spPr>
          <a:xfrm>
            <a:off x="713232" y="3291840"/>
            <a:ext cx="10250424" cy="420624"/>
          </a:xfrm>
          <a:prstGeom prst="rect">
            <a:avLst/>
          </a:prstGeom>
          <a:solidFill>
            <a:srgbClr val="FFF8F5"/>
          </a:solidFill>
          <a:ln w="12700">
            <a:solidFill>
              <a:srgbClr val="E3E8EB"/>
            </a:solidFill>
            <a:prstDash val="solid"/>
          </a:ln>
        </p:spPr>
      </p:sp>
      <p:sp>
        <p:nvSpPr>
          <p:cNvPr id="27" name="Text 25"/>
          <p:cNvSpPr txBox="1"/>
          <p:nvPr/>
        </p:nvSpPr>
        <p:spPr>
          <a:xfrm>
            <a:off x="859536" y="3401568"/>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Autonomous trigger or schedule</a:t>
            </a:r>
            <a:endParaRPr lang="en-US" sz="1000" dirty="0"/>
          </a:p>
        </p:txBody>
      </p:sp>
      <p:sp>
        <p:nvSpPr>
          <p:cNvPr id="28" name="Text 26"/>
          <p:cNvSpPr txBox="1"/>
          <p:nvPr/>
        </p:nvSpPr>
        <p:spPr>
          <a:xfrm>
            <a:off x="5111496" y="3401568"/>
            <a:ext cx="184708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29" name="Text 27"/>
          <p:cNvSpPr txBox="1"/>
          <p:nvPr/>
        </p:nvSpPr>
        <p:spPr>
          <a:xfrm>
            <a:off x="7232904" y="3401568"/>
            <a:ext cx="184708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30" name="Text 28"/>
          <p:cNvSpPr txBox="1"/>
          <p:nvPr/>
        </p:nvSpPr>
        <p:spPr>
          <a:xfrm>
            <a:off x="9354312" y="3401568"/>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31" name="Shape 29"/>
          <p:cNvSpPr/>
          <p:nvPr/>
        </p:nvSpPr>
        <p:spPr>
          <a:xfrm>
            <a:off x="713232" y="3712464"/>
            <a:ext cx="10250424" cy="420624"/>
          </a:xfrm>
          <a:prstGeom prst="rect">
            <a:avLst/>
          </a:prstGeom>
          <a:solidFill>
            <a:srgbClr val="FFFFFF"/>
          </a:solidFill>
          <a:ln w="12700">
            <a:solidFill>
              <a:srgbClr val="E3E8EB"/>
            </a:solidFill>
            <a:prstDash val="solid"/>
          </a:ln>
        </p:spPr>
      </p:sp>
      <p:sp>
        <p:nvSpPr>
          <p:cNvPr id="32" name="Text 30"/>
          <p:cNvSpPr txBox="1"/>
          <p:nvPr/>
        </p:nvSpPr>
        <p:spPr>
          <a:xfrm>
            <a:off x="859536" y="3822192"/>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Computer-Using Agent (CUA)</a:t>
            </a:r>
            <a:endParaRPr lang="en-US" sz="1000" dirty="0"/>
          </a:p>
        </p:txBody>
      </p:sp>
      <p:sp>
        <p:nvSpPr>
          <p:cNvPr id="33" name="Text 31"/>
          <p:cNvSpPr txBox="1"/>
          <p:nvPr/>
        </p:nvSpPr>
        <p:spPr>
          <a:xfrm>
            <a:off x="5111496" y="3822192"/>
            <a:ext cx="1847088" cy="219456"/>
          </a:xfrm>
          <a:prstGeom prst="rect">
            <a:avLst/>
          </a:prstGeom>
          <a:noFill/>
          <a:ln/>
        </p:spPr>
        <p:txBody>
          <a:bodyPr wrap="square" lIns="0" tIns="0" rIns="0" bIns="0" rtlCol="0" anchor="ctr"/>
          <a:lstStyle/>
          <a:p>
            <a:pPr algn="ctr" indent="0" marL="0">
              <a:buNone/>
            </a:pPr>
            <a:r>
              <a:rPr lang="en-US" sz="1000" b="1" dirty="0">
                <a:solidFill>
                  <a:srgbClr val="6E7B85"/>
                </a:solidFill>
                <a:latin typeface="Segoe Sans Display" pitchFamily="34" charset="0"/>
                <a:ea typeface="Segoe Sans Display" pitchFamily="34" charset="-122"/>
                <a:cs typeface="Segoe Sans Display" pitchFamily="34" charset="-120"/>
              </a:rPr>
              <a:t>n/a</a:t>
            </a:r>
            <a:endParaRPr lang="en-US" sz="1000" dirty="0"/>
          </a:p>
        </p:txBody>
      </p:sp>
      <p:sp>
        <p:nvSpPr>
          <p:cNvPr id="34" name="Text 32"/>
          <p:cNvSpPr txBox="1"/>
          <p:nvPr/>
        </p:nvSpPr>
        <p:spPr>
          <a:xfrm>
            <a:off x="7232904" y="3822192"/>
            <a:ext cx="184708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35" name="Text 33"/>
          <p:cNvSpPr txBox="1"/>
          <p:nvPr/>
        </p:nvSpPr>
        <p:spPr>
          <a:xfrm>
            <a:off x="9354312" y="3822192"/>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36" name="Shape 34"/>
          <p:cNvSpPr/>
          <p:nvPr/>
        </p:nvSpPr>
        <p:spPr>
          <a:xfrm>
            <a:off x="713232" y="4133088"/>
            <a:ext cx="10250424" cy="420624"/>
          </a:xfrm>
          <a:prstGeom prst="rect">
            <a:avLst/>
          </a:prstGeom>
          <a:solidFill>
            <a:srgbClr val="FFF8F5"/>
          </a:solidFill>
          <a:ln w="12700">
            <a:solidFill>
              <a:srgbClr val="E3E8EB"/>
            </a:solidFill>
            <a:prstDash val="solid"/>
          </a:ln>
        </p:spPr>
      </p:sp>
      <p:sp>
        <p:nvSpPr>
          <p:cNvPr id="37" name="Text 35"/>
          <p:cNvSpPr txBox="1"/>
          <p:nvPr/>
        </p:nvSpPr>
        <p:spPr>
          <a:xfrm>
            <a:off x="859536" y="4242816"/>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Build, author and configure</a:t>
            </a:r>
            <a:endParaRPr lang="en-US" sz="1000" dirty="0"/>
          </a:p>
        </p:txBody>
      </p:sp>
      <p:sp>
        <p:nvSpPr>
          <p:cNvPr id="38" name="Text 36"/>
          <p:cNvSpPr txBox="1"/>
          <p:nvPr/>
        </p:nvSpPr>
        <p:spPr>
          <a:xfrm>
            <a:off x="5111496" y="4242816"/>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Free</a:t>
            </a:r>
            <a:endParaRPr lang="en-US" sz="1000" dirty="0"/>
          </a:p>
        </p:txBody>
      </p:sp>
      <p:sp>
        <p:nvSpPr>
          <p:cNvPr id="39" name="Text 37"/>
          <p:cNvSpPr txBox="1"/>
          <p:nvPr/>
        </p:nvSpPr>
        <p:spPr>
          <a:xfrm>
            <a:off x="7232904" y="4242816"/>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Free</a:t>
            </a:r>
            <a:endParaRPr lang="en-US" sz="1000" dirty="0"/>
          </a:p>
        </p:txBody>
      </p:sp>
      <p:sp>
        <p:nvSpPr>
          <p:cNvPr id="40" name="Text 38"/>
          <p:cNvSpPr txBox="1"/>
          <p:nvPr/>
        </p:nvSpPr>
        <p:spPr>
          <a:xfrm>
            <a:off x="9354312" y="4242816"/>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41" name="Shape 39"/>
          <p:cNvSpPr/>
          <p:nvPr/>
        </p:nvSpPr>
        <p:spPr>
          <a:xfrm>
            <a:off x="713232" y="4553712"/>
            <a:ext cx="10250424" cy="420624"/>
          </a:xfrm>
          <a:prstGeom prst="rect">
            <a:avLst/>
          </a:prstGeom>
          <a:solidFill>
            <a:srgbClr val="FFFFFF"/>
          </a:solidFill>
          <a:ln w="12700">
            <a:solidFill>
              <a:srgbClr val="E3E8EB"/>
            </a:solidFill>
            <a:prstDash val="solid"/>
          </a:ln>
        </p:spPr>
      </p:sp>
      <p:sp>
        <p:nvSpPr>
          <p:cNvPr id="42" name="Text 40"/>
          <p:cNvSpPr txBox="1"/>
          <p:nvPr/>
        </p:nvSpPr>
        <p:spPr>
          <a:xfrm>
            <a:off x="859536" y="4663440"/>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Preview, test and evaluate</a:t>
            </a:r>
            <a:endParaRPr lang="en-US" sz="1000" dirty="0"/>
          </a:p>
        </p:txBody>
      </p:sp>
      <p:sp>
        <p:nvSpPr>
          <p:cNvPr id="43" name="Text 41"/>
          <p:cNvSpPr txBox="1"/>
          <p:nvPr/>
        </p:nvSpPr>
        <p:spPr>
          <a:xfrm>
            <a:off x="5111496" y="4663440"/>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Free</a:t>
            </a:r>
            <a:endParaRPr lang="en-US" sz="1000" dirty="0"/>
          </a:p>
        </p:txBody>
      </p:sp>
      <p:sp>
        <p:nvSpPr>
          <p:cNvPr id="44" name="Text 42"/>
          <p:cNvSpPr txBox="1"/>
          <p:nvPr/>
        </p:nvSpPr>
        <p:spPr>
          <a:xfrm>
            <a:off x="7232904" y="4663440"/>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Free</a:t>
            </a:r>
            <a:endParaRPr lang="en-US" sz="1000" dirty="0"/>
          </a:p>
        </p:txBody>
      </p:sp>
      <p:sp>
        <p:nvSpPr>
          <p:cNvPr id="45" name="Text 43"/>
          <p:cNvSpPr txBox="1"/>
          <p:nvPr/>
        </p:nvSpPr>
        <p:spPr>
          <a:xfrm>
            <a:off x="9354312" y="4663440"/>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Credits</a:t>
            </a:r>
            <a:endParaRPr lang="en-US" sz="1000" dirty="0"/>
          </a:p>
        </p:txBody>
      </p:sp>
      <p:sp>
        <p:nvSpPr>
          <p:cNvPr id="46" name="Shape 44"/>
          <p:cNvSpPr/>
          <p:nvPr/>
        </p:nvSpPr>
        <p:spPr>
          <a:xfrm>
            <a:off x="713232" y="4974336"/>
            <a:ext cx="10250424" cy="420624"/>
          </a:xfrm>
          <a:prstGeom prst="rect">
            <a:avLst/>
          </a:prstGeom>
          <a:solidFill>
            <a:srgbClr val="FFF8F5"/>
          </a:solidFill>
          <a:ln w="12700">
            <a:solidFill>
              <a:srgbClr val="E3E8EB"/>
            </a:solidFill>
            <a:prstDash val="solid"/>
          </a:ln>
        </p:spPr>
      </p:sp>
      <p:sp>
        <p:nvSpPr>
          <p:cNvPr id="47" name="Text 45"/>
          <p:cNvSpPr txBox="1"/>
          <p:nvPr/>
        </p:nvSpPr>
        <p:spPr>
          <a:xfrm>
            <a:off x="859536" y="5084064"/>
            <a:ext cx="3977640" cy="219456"/>
          </a:xfrm>
          <a:prstGeom prst="rect">
            <a:avLst/>
          </a:prstGeom>
          <a:noFill/>
          <a:ln/>
        </p:spPr>
        <p:txBody>
          <a:bodyPr wrap="square" lIns="0" tIns="0" rIns="0" bIns="0" rtlCol="0" anchor="ctr"/>
          <a:lstStyle/>
          <a:p>
            <a:pPr algn="l" indent="0" marL="0">
              <a:buNone/>
            </a:pPr>
            <a:r>
              <a:rPr lang="en-US" sz="1000" dirty="0">
                <a:solidFill>
                  <a:srgbClr val="091F2C"/>
                </a:solidFill>
                <a:latin typeface="Segoe Sans Display" pitchFamily="34" charset="0"/>
                <a:ea typeface="Segoe Sans Display" pitchFamily="34" charset="-122"/>
                <a:cs typeface="Segoe Sans Display" pitchFamily="34" charset="-120"/>
              </a:rPr>
              <a:t>Fair-use inclusion applies?</a:t>
            </a:r>
            <a:endParaRPr lang="en-US" sz="1000" dirty="0"/>
          </a:p>
        </p:txBody>
      </p:sp>
      <p:sp>
        <p:nvSpPr>
          <p:cNvPr id="48" name="Text 46"/>
          <p:cNvSpPr txBox="1"/>
          <p:nvPr/>
        </p:nvSpPr>
        <p:spPr>
          <a:xfrm>
            <a:off x="5111496" y="5084064"/>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Yes, limited</a:t>
            </a:r>
            <a:endParaRPr lang="en-US" sz="1000" dirty="0"/>
          </a:p>
        </p:txBody>
      </p:sp>
      <p:sp>
        <p:nvSpPr>
          <p:cNvPr id="49" name="Text 47"/>
          <p:cNvSpPr txBox="1"/>
          <p:nvPr/>
        </p:nvSpPr>
        <p:spPr>
          <a:xfrm>
            <a:off x="7232904" y="5084064"/>
            <a:ext cx="1847088" cy="219456"/>
          </a:xfrm>
          <a:prstGeom prst="rect">
            <a:avLst/>
          </a:prstGeom>
          <a:noFill/>
          <a:ln/>
        </p:spPr>
        <p:txBody>
          <a:bodyPr wrap="square" lIns="0" tIns="0" rIns="0" bIns="0" rtlCol="0" anchor="ctr"/>
          <a:lstStyle/>
          <a:p>
            <a:pPr algn="ctr" indent="0" marL="0">
              <a:buNone/>
            </a:pPr>
            <a:r>
              <a:rPr lang="en-US" sz="1000" b="1" dirty="0">
                <a:solidFill>
                  <a:srgbClr val="107C41"/>
                </a:solidFill>
                <a:latin typeface="Segoe Sans Display" pitchFamily="34" charset="0"/>
                <a:ea typeface="Segoe Sans Display" pitchFamily="34" charset="-122"/>
                <a:cs typeface="Segoe Sans Display" pitchFamily="34" charset="-120"/>
              </a:rPr>
              <a:t>Yes, limited</a:t>
            </a:r>
            <a:endParaRPr lang="en-US" sz="1000" dirty="0"/>
          </a:p>
        </p:txBody>
      </p:sp>
      <p:sp>
        <p:nvSpPr>
          <p:cNvPr id="50" name="Text 48"/>
          <p:cNvSpPr txBox="1"/>
          <p:nvPr/>
        </p:nvSpPr>
        <p:spPr>
          <a:xfrm>
            <a:off x="9354312" y="5084064"/>
            <a:ext cx="1481328" cy="219456"/>
          </a:xfrm>
          <a:prstGeom prst="rect">
            <a:avLst/>
          </a:prstGeom>
          <a:noFill/>
          <a:ln/>
        </p:spPr>
        <p:txBody>
          <a:bodyPr wrap="square" lIns="0" tIns="0" rIns="0" bIns="0" rtlCol="0" anchor="ctr"/>
          <a:lstStyle/>
          <a:p>
            <a:pPr algn="ct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No</a:t>
            </a:r>
            <a:endParaRPr lang="en-US" sz="1000" dirty="0"/>
          </a:p>
        </p:txBody>
      </p:sp>
      <p:sp>
        <p:nvSpPr>
          <p:cNvPr id="51" name="Text 49"/>
          <p:cNvSpPr txBox="1"/>
          <p:nvPr/>
        </p:nvSpPr>
        <p:spPr>
          <a:xfrm>
            <a:off x="713232" y="5504688"/>
            <a:ext cx="10241280" cy="256032"/>
          </a:xfrm>
          <a:prstGeom prst="rect">
            <a:avLst/>
          </a:prstGeom>
          <a:noFill/>
          <a:ln/>
        </p:spPr>
        <p:txBody>
          <a:bodyPr wrap="square" lIns="0" tIns="0" rIns="0" bIns="0" rtlCol="0" anchor="ctr"/>
          <a:lstStyle/>
          <a:p>
            <a:pPr indent="0" marL="0">
              <a:buNone/>
            </a:pPr>
            <a:r>
              <a:rPr lang="en-US" sz="1050" i="1" dirty="0">
                <a:solidFill>
                  <a:srgbClr val="6E7B85"/>
                </a:solidFill>
                <a:latin typeface="Segoe Sans Display" pitchFamily="34" charset="0"/>
                <a:ea typeface="Segoe Sans Display" pitchFamily="34" charset="-122"/>
                <a:cs typeface="Segoe Sans Display" pitchFamily="34" charset="-120"/>
              </a:rPr>
              <a:t>"Free" means included in the Microsoft 365 Copilot USL under fair use. Every free cell depends on all four conditions holding.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FINANCIAL SERVICES</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Four scenarios, four answers</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11</a:t>
            </a:r>
            <a:endParaRPr lang="en-US" sz="800" dirty="0"/>
          </a:p>
        </p:txBody>
      </p:sp>
      <p:sp>
        <p:nvSpPr>
          <p:cNvPr id="6" name="Shape 4"/>
          <p:cNvSpPr/>
          <p:nvPr/>
        </p:nvSpPr>
        <p:spPr>
          <a:xfrm>
            <a:off x="713232" y="1609344"/>
            <a:ext cx="10250424" cy="1005840"/>
          </a:xfrm>
          <a:prstGeom prst="rect">
            <a:avLst/>
          </a:prstGeom>
          <a:solidFill>
            <a:srgbClr val="FFFFFF"/>
          </a:solidFill>
          <a:ln w="12700">
            <a:solidFill>
              <a:srgbClr val="E3E8EB"/>
            </a:solidFill>
            <a:prstDash val="solid"/>
          </a:ln>
        </p:spPr>
      </p:sp>
      <p:sp>
        <p:nvSpPr>
          <p:cNvPr id="7" name="Shape 5"/>
          <p:cNvSpPr/>
          <p:nvPr/>
        </p:nvSpPr>
        <p:spPr>
          <a:xfrm>
            <a:off x="713232" y="1609344"/>
            <a:ext cx="50292" cy="1005840"/>
          </a:xfrm>
          <a:prstGeom prst="rect">
            <a:avLst/>
          </a:prstGeom>
          <a:solidFill>
            <a:srgbClr val="0078D4"/>
          </a:solidFill>
          <a:ln/>
        </p:spPr>
      </p:sp>
      <p:sp>
        <p:nvSpPr>
          <p:cNvPr id="8" name="Text 6"/>
          <p:cNvSpPr txBox="1"/>
          <p:nvPr/>
        </p:nvSpPr>
        <p:spPr>
          <a:xfrm>
            <a:off x="950976" y="1728216"/>
            <a:ext cx="740664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1.  Compliance FAQ for internal advisors</a:t>
            </a:r>
            <a:endParaRPr lang="en-US" sz="1300" dirty="0"/>
          </a:p>
        </p:txBody>
      </p:sp>
      <p:sp>
        <p:nvSpPr>
          <p:cNvPr id="9" name="Text 7"/>
          <p:cNvSpPr txBox="1"/>
          <p:nvPr/>
        </p:nvSpPr>
        <p:spPr>
          <a:xfrm>
            <a:off x="950976" y="2002536"/>
            <a:ext cx="7406640" cy="219456"/>
          </a:xfrm>
          <a:prstGeom prst="rect">
            <a:avLst/>
          </a:prstGeom>
          <a:noFill/>
          <a:ln/>
        </p:spPr>
        <p:txBody>
          <a:bodyPr wrap="square" lIns="0" tIns="0" rIns="0" bIns="0" rtlCol="0" anchor="ctr"/>
          <a:lstStyle/>
          <a:p>
            <a:pPr indent="0" marL="0">
              <a:buNone/>
            </a:pPr>
            <a:r>
              <a:rPr lang="en-US" sz="1000" b="1" dirty="0">
                <a:solidFill>
                  <a:srgbClr val="0078D4"/>
                </a:solidFill>
                <a:latin typeface="Segoe Sans Display" pitchFamily="34" charset="0"/>
                <a:ea typeface="Segoe Sans Display" pitchFamily="34" charset="-122"/>
                <a:cs typeface="Segoe Sans Display" pitchFamily="34" charset="-120"/>
              </a:rPr>
              <a:t>Standard harness · Teams · 200 licensed advisors · user-invoked</a:t>
            </a:r>
            <a:endParaRPr lang="en-US" sz="1000" dirty="0"/>
          </a:p>
        </p:txBody>
      </p:sp>
      <p:sp>
        <p:nvSpPr>
          <p:cNvPr id="10" name="Text 8"/>
          <p:cNvSpPr txBox="1"/>
          <p:nvPr/>
        </p:nvSpPr>
        <p:spPr>
          <a:xfrm>
            <a:off x="950976" y="2240280"/>
            <a:ext cx="7406640" cy="292608"/>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All four conditions hold. This is the shape of agent the licence was written for.</a:t>
            </a:r>
            <a:endParaRPr lang="en-US" sz="950" dirty="0"/>
          </a:p>
        </p:txBody>
      </p:sp>
      <p:sp>
        <p:nvSpPr>
          <p:cNvPr id="11" name="Shape 9"/>
          <p:cNvSpPr/>
          <p:nvPr/>
        </p:nvSpPr>
        <p:spPr>
          <a:xfrm>
            <a:off x="8577072" y="1883664"/>
            <a:ext cx="2148840" cy="457200"/>
          </a:xfrm>
          <a:prstGeom prst="rect">
            <a:avLst/>
          </a:prstGeom>
          <a:solidFill>
            <a:srgbClr val="FFFFFF"/>
          </a:solidFill>
          <a:ln w="12700">
            <a:solidFill>
              <a:srgbClr val="107C41"/>
            </a:solidFill>
            <a:prstDash val="solid"/>
          </a:ln>
        </p:spPr>
      </p:sp>
      <p:sp>
        <p:nvSpPr>
          <p:cNvPr id="12" name="Text 10"/>
          <p:cNvSpPr txBox="1"/>
          <p:nvPr/>
        </p:nvSpPr>
        <p:spPr>
          <a:xfrm>
            <a:off x="8577072" y="2002536"/>
            <a:ext cx="2148840" cy="237744"/>
          </a:xfrm>
          <a:prstGeom prst="rect">
            <a:avLst/>
          </a:prstGeom>
          <a:noFill/>
          <a:ln/>
        </p:spPr>
        <p:txBody>
          <a:bodyPr wrap="square" lIns="0" tIns="0" rIns="0" bIns="0" rtlCol="0" anchor="ctr"/>
          <a:lstStyle/>
          <a:p>
            <a:pPr algn="ctr" indent="0" marL="0">
              <a:buNone/>
            </a:pPr>
            <a:r>
              <a:rPr lang="en-US" sz="1200" b="1" dirty="0">
                <a:solidFill>
                  <a:srgbClr val="107C41"/>
                </a:solidFill>
                <a:latin typeface="Segoe Sans Display Semibold" pitchFamily="34" charset="0"/>
                <a:ea typeface="Segoe Sans Display Semibold" pitchFamily="34" charset="-122"/>
                <a:cs typeface="Segoe Sans Display Semibold" pitchFamily="34" charset="-120"/>
              </a:rPr>
              <a:t>No charge</a:t>
            </a:r>
            <a:endParaRPr lang="en-US" sz="1200" dirty="0"/>
          </a:p>
        </p:txBody>
      </p:sp>
      <p:sp>
        <p:nvSpPr>
          <p:cNvPr id="13" name="Shape 11"/>
          <p:cNvSpPr/>
          <p:nvPr/>
        </p:nvSpPr>
        <p:spPr>
          <a:xfrm>
            <a:off x="713232" y="2688336"/>
            <a:ext cx="10250424" cy="1005840"/>
          </a:xfrm>
          <a:prstGeom prst="rect">
            <a:avLst/>
          </a:prstGeom>
          <a:solidFill>
            <a:srgbClr val="FFF8F5"/>
          </a:solidFill>
          <a:ln w="12700">
            <a:solidFill>
              <a:srgbClr val="E3E8EB"/>
            </a:solidFill>
            <a:prstDash val="solid"/>
          </a:ln>
        </p:spPr>
      </p:sp>
      <p:sp>
        <p:nvSpPr>
          <p:cNvPr id="14" name="Shape 12"/>
          <p:cNvSpPr/>
          <p:nvPr/>
        </p:nvSpPr>
        <p:spPr>
          <a:xfrm>
            <a:off x="713232" y="2688336"/>
            <a:ext cx="50292" cy="1005840"/>
          </a:xfrm>
          <a:prstGeom prst="rect">
            <a:avLst/>
          </a:prstGeom>
          <a:solidFill>
            <a:srgbClr val="C03BC4"/>
          </a:solidFill>
          <a:ln/>
        </p:spPr>
      </p:sp>
      <p:sp>
        <p:nvSpPr>
          <p:cNvPr id="15" name="Text 13"/>
          <p:cNvSpPr txBox="1"/>
          <p:nvPr/>
        </p:nvSpPr>
        <p:spPr>
          <a:xfrm>
            <a:off x="950976" y="2807208"/>
            <a:ext cx="740664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2.  The same agent, opened to external advisors</a:t>
            </a:r>
            <a:endParaRPr lang="en-US" sz="1300" dirty="0"/>
          </a:p>
        </p:txBody>
      </p:sp>
      <p:sp>
        <p:nvSpPr>
          <p:cNvPr id="16" name="Text 14"/>
          <p:cNvSpPr txBox="1"/>
          <p:nvPr/>
        </p:nvSpPr>
        <p:spPr>
          <a:xfrm>
            <a:off x="950976" y="3081528"/>
            <a:ext cx="7406640" cy="219456"/>
          </a:xfrm>
          <a:prstGeom prst="rect">
            <a:avLst/>
          </a:prstGeom>
          <a:noFill/>
          <a:ln/>
        </p:spPr>
        <p:txBody>
          <a:bodyPr wrap="square" lIns="0" tIns="0" rIns="0" bIns="0" rtlCol="0" anchor="ctr"/>
          <a:lstStyle/>
          <a:p>
            <a:pPr indent="0" marL="0">
              <a:buNone/>
            </a:pPr>
            <a:r>
              <a:rPr lang="en-US" sz="1000" b="1" dirty="0">
                <a:solidFill>
                  <a:srgbClr val="C03BC4"/>
                </a:solidFill>
                <a:latin typeface="Segoe Sans Display" pitchFamily="34" charset="0"/>
                <a:ea typeface="Segoe Sans Display" pitchFamily="34" charset="-122"/>
                <a:cs typeface="Segoe Sans Display" pitchFamily="34" charset="-120"/>
              </a:rPr>
              <a:t>Standard harness · web channel · 50 unlicensed contractors</a:t>
            </a:r>
            <a:endParaRPr lang="en-US" sz="1000" dirty="0"/>
          </a:p>
        </p:txBody>
      </p:sp>
      <p:sp>
        <p:nvSpPr>
          <p:cNvPr id="17" name="Text 15"/>
          <p:cNvSpPr txBox="1"/>
          <p:nvPr/>
        </p:nvSpPr>
        <p:spPr>
          <a:xfrm>
            <a:off x="950976" y="3319272"/>
            <a:ext cx="7406640" cy="292608"/>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External channel and unlicensed users. Compare the credit run-rate against simply licensing the contractors.</a:t>
            </a:r>
            <a:endParaRPr lang="en-US" sz="950" dirty="0"/>
          </a:p>
        </p:txBody>
      </p:sp>
      <p:sp>
        <p:nvSpPr>
          <p:cNvPr id="18" name="Shape 16"/>
          <p:cNvSpPr/>
          <p:nvPr/>
        </p:nvSpPr>
        <p:spPr>
          <a:xfrm>
            <a:off x="8577072" y="2962656"/>
            <a:ext cx="2148840" cy="457200"/>
          </a:xfrm>
          <a:prstGeom prst="rect">
            <a:avLst/>
          </a:prstGeom>
          <a:solidFill>
            <a:srgbClr val="FFFFFF"/>
          </a:solidFill>
          <a:ln w="12700">
            <a:solidFill>
              <a:srgbClr val="FF5C39"/>
            </a:solidFill>
            <a:prstDash val="solid"/>
          </a:ln>
        </p:spPr>
      </p:sp>
      <p:sp>
        <p:nvSpPr>
          <p:cNvPr id="19" name="Text 17"/>
          <p:cNvSpPr txBox="1"/>
          <p:nvPr/>
        </p:nvSpPr>
        <p:spPr>
          <a:xfrm>
            <a:off x="8577072" y="3081528"/>
            <a:ext cx="2148840" cy="237744"/>
          </a:xfrm>
          <a:prstGeom prst="rect">
            <a:avLst/>
          </a:prstGeom>
          <a:noFill/>
          <a:ln/>
        </p:spPr>
        <p:txBody>
          <a:bodyPr wrap="square" lIns="0" tIns="0" rIns="0" bIns="0" rtlCol="0" anchor="ctr"/>
          <a:lstStyle/>
          <a:p>
            <a:pPr algn="ctr" indent="0" marL="0">
              <a:buNone/>
            </a:pPr>
            <a:r>
              <a:rPr lang="en-US" sz="1200" b="1" dirty="0">
                <a:solidFill>
                  <a:srgbClr val="FF5C39"/>
                </a:solidFill>
                <a:latin typeface="Segoe Sans Display Semibold" pitchFamily="34" charset="0"/>
                <a:ea typeface="Segoe Sans Display Semibold" pitchFamily="34" charset="-122"/>
                <a:cs typeface="Segoe Sans Display Semibold" pitchFamily="34" charset="-120"/>
              </a:rPr>
              <a:t>Rate card</a:t>
            </a:r>
            <a:endParaRPr lang="en-US" sz="1200" dirty="0"/>
          </a:p>
        </p:txBody>
      </p:sp>
      <p:sp>
        <p:nvSpPr>
          <p:cNvPr id="20" name="Shape 18"/>
          <p:cNvSpPr/>
          <p:nvPr/>
        </p:nvSpPr>
        <p:spPr>
          <a:xfrm>
            <a:off x="713232" y="3767328"/>
            <a:ext cx="10250424" cy="1005840"/>
          </a:xfrm>
          <a:prstGeom prst="rect">
            <a:avLst/>
          </a:prstGeom>
          <a:solidFill>
            <a:srgbClr val="FFFFFF"/>
          </a:solidFill>
          <a:ln w="12700">
            <a:solidFill>
              <a:srgbClr val="E3E8EB"/>
            </a:solidFill>
            <a:prstDash val="solid"/>
          </a:ln>
        </p:spPr>
      </p:sp>
      <p:sp>
        <p:nvSpPr>
          <p:cNvPr id="21" name="Shape 19"/>
          <p:cNvSpPr/>
          <p:nvPr/>
        </p:nvSpPr>
        <p:spPr>
          <a:xfrm>
            <a:off x="713232" y="3767328"/>
            <a:ext cx="50292" cy="1005840"/>
          </a:xfrm>
          <a:prstGeom prst="rect">
            <a:avLst/>
          </a:prstGeom>
          <a:solidFill>
            <a:srgbClr val="FF5C39"/>
          </a:solidFill>
          <a:ln/>
        </p:spPr>
      </p:sp>
      <p:sp>
        <p:nvSpPr>
          <p:cNvPr id="22" name="Text 20"/>
          <p:cNvSpPr txBox="1"/>
          <p:nvPr/>
        </p:nvSpPr>
        <p:spPr>
          <a:xfrm>
            <a:off x="950976" y="3886200"/>
            <a:ext cx="740664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3.  Overnight AML screening run</a:t>
            </a:r>
            <a:endParaRPr lang="en-US" sz="1300" dirty="0"/>
          </a:p>
        </p:txBody>
      </p:sp>
      <p:sp>
        <p:nvSpPr>
          <p:cNvPr id="23" name="Text 21"/>
          <p:cNvSpPr txBox="1"/>
          <p:nvPr/>
        </p:nvSpPr>
        <p:spPr>
          <a:xfrm>
            <a:off x="950976" y="4160520"/>
            <a:ext cx="7406640" cy="219456"/>
          </a:xfrm>
          <a:prstGeom prst="rect">
            <a:avLst/>
          </a:prstGeom>
          <a:noFill/>
          <a:ln/>
        </p:spPr>
        <p:txBody>
          <a:bodyPr wrap="square" lIns="0" tIns="0" rIns="0" bIns="0" rtlCol="0" anchor="ctr"/>
          <a:lstStyle/>
          <a:p>
            <a:pPr indent="0" marL="0">
              <a:buNone/>
            </a:pPr>
            <a:r>
              <a:rPr lang="en-US" sz="1000" b="1" dirty="0">
                <a:solidFill>
                  <a:srgbClr val="FF5C39"/>
                </a:solidFill>
                <a:latin typeface="Segoe Sans Display" pitchFamily="34" charset="0"/>
                <a:ea typeface="Segoe Sans Display" pitchFamily="34" charset="-122"/>
                <a:cs typeface="Segoe Sans Display" pitchFamily="34" charset="-120"/>
              </a:rPr>
              <a:t>Standard harness · scheduled trigger · no user session</a:t>
            </a:r>
            <a:endParaRPr lang="en-US" sz="1000" dirty="0"/>
          </a:p>
        </p:txBody>
      </p:sp>
      <p:sp>
        <p:nvSpPr>
          <p:cNvPr id="24" name="Text 22"/>
          <p:cNvSpPr txBox="1"/>
          <p:nvPr/>
        </p:nvSpPr>
        <p:spPr>
          <a:xfrm>
            <a:off x="950976" y="4398264"/>
            <a:ext cx="7406640" cy="292608"/>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The autonomous case. Same harness as scenario 1, yet it meters on every action.</a:t>
            </a:r>
            <a:endParaRPr lang="en-US" sz="950" dirty="0"/>
          </a:p>
        </p:txBody>
      </p:sp>
      <p:sp>
        <p:nvSpPr>
          <p:cNvPr id="25" name="Shape 23"/>
          <p:cNvSpPr/>
          <p:nvPr/>
        </p:nvSpPr>
        <p:spPr>
          <a:xfrm>
            <a:off x="8577072" y="4041648"/>
            <a:ext cx="2148840" cy="457200"/>
          </a:xfrm>
          <a:prstGeom prst="rect">
            <a:avLst/>
          </a:prstGeom>
          <a:solidFill>
            <a:srgbClr val="FFFFFF"/>
          </a:solidFill>
          <a:ln w="12700">
            <a:solidFill>
              <a:srgbClr val="FF5C39"/>
            </a:solidFill>
            <a:prstDash val="solid"/>
          </a:ln>
        </p:spPr>
      </p:sp>
      <p:sp>
        <p:nvSpPr>
          <p:cNvPr id="26" name="Text 24"/>
          <p:cNvSpPr txBox="1"/>
          <p:nvPr/>
        </p:nvSpPr>
        <p:spPr>
          <a:xfrm>
            <a:off x="8577072" y="4160520"/>
            <a:ext cx="2148840" cy="237744"/>
          </a:xfrm>
          <a:prstGeom prst="rect">
            <a:avLst/>
          </a:prstGeom>
          <a:noFill/>
          <a:ln/>
        </p:spPr>
        <p:txBody>
          <a:bodyPr wrap="square" lIns="0" tIns="0" rIns="0" bIns="0" rtlCol="0" anchor="ctr"/>
          <a:lstStyle/>
          <a:p>
            <a:pPr algn="ctr" indent="0" marL="0">
              <a:buNone/>
            </a:pPr>
            <a:r>
              <a:rPr lang="en-US" sz="1200" b="1" dirty="0">
                <a:solidFill>
                  <a:srgbClr val="FF5C39"/>
                </a:solidFill>
                <a:latin typeface="Segoe Sans Display Semibold" pitchFamily="34" charset="0"/>
                <a:ea typeface="Segoe Sans Display Semibold" pitchFamily="34" charset="-122"/>
                <a:cs typeface="Segoe Sans Display Semibold" pitchFamily="34" charset="-120"/>
              </a:rPr>
              <a:t>Rate card</a:t>
            </a:r>
            <a:endParaRPr lang="en-US" sz="1200" dirty="0"/>
          </a:p>
        </p:txBody>
      </p:sp>
      <p:sp>
        <p:nvSpPr>
          <p:cNvPr id="27" name="Shape 25"/>
          <p:cNvSpPr/>
          <p:nvPr/>
        </p:nvSpPr>
        <p:spPr>
          <a:xfrm>
            <a:off x="713232" y="4846320"/>
            <a:ext cx="10250424" cy="1005840"/>
          </a:xfrm>
          <a:prstGeom prst="rect">
            <a:avLst/>
          </a:prstGeom>
          <a:solidFill>
            <a:srgbClr val="FFF8F5"/>
          </a:solidFill>
          <a:ln w="12700">
            <a:solidFill>
              <a:srgbClr val="E3E8EB"/>
            </a:solidFill>
            <a:prstDash val="solid"/>
          </a:ln>
        </p:spPr>
      </p:sp>
      <p:sp>
        <p:nvSpPr>
          <p:cNvPr id="28" name="Shape 26"/>
          <p:cNvSpPr/>
          <p:nvPr/>
        </p:nvSpPr>
        <p:spPr>
          <a:xfrm>
            <a:off x="713232" y="4846320"/>
            <a:ext cx="50292" cy="1005840"/>
          </a:xfrm>
          <a:prstGeom prst="rect">
            <a:avLst/>
          </a:prstGeom>
          <a:solidFill>
            <a:srgbClr val="8661C5"/>
          </a:solidFill>
          <a:ln/>
        </p:spPr>
      </p:sp>
      <p:sp>
        <p:nvSpPr>
          <p:cNvPr id="29" name="Text 27"/>
          <p:cNvSpPr txBox="1"/>
          <p:nvPr/>
        </p:nvSpPr>
        <p:spPr>
          <a:xfrm>
            <a:off x="950976" y="4965192"/>
            <a:ext cx="740664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4.  Invoice matching and exception routing</a:t>
            </a:r>
            <a:endParaRPr lang="en-US" sz="1300" dirty="0"/>
          </a:p>
        </p:txBody>
      </p:sp>
      <p:sp>
        <p:nvSpPr>
          <p:cNvPr id="30" name="Text 28"/>
          <p:cNvSpPr txBox="1"/>
          <p:nvPr/>
        </p:nvSpPr>
        <p:spPr>
          <a:xfrm>
            <a:off x="950976" y="5239512"/>
            <a:ext cx="7406640" cy="219456"/>
          </a:xfrm>
          <a:prstGeom prst="rect">
            <a:avLst/>
          </a:prstGeom>
          <a:noFill/>
          <a:ln/>
        </p:spPr>
        <p:txBody>
          <a:bodyPr wrap="square" lIns="0" tIns="0" rIns="0" bIns="0" rtlCol="0" anchor="ctr"/>
          <a:lstStyle/>
          <a:p>
            <a:pPr indent="0" marL="0">
              <a:buNone/>
            </a:pPr>
            <a:r>
              <a:rPr lang="en-US" sz="1000" b="1" dirty="0">
                <a:solidFill>
                  <a:srgbClr val="8661C5"/>
                </a:solidFill>
                <a:latin typeface="Segoe Sans Display" pitchFamily="34" charset="0"/>
                <a:ea typeface="Segoe Sans Display" pitchFamily="34" charset="-122"/>
                <a:cs typeface="Segoe Sans Display" pitchFamily="34" charset="-120"/>
              </a:rPr>
              <a:t>GitHub Copilot harness · reads documents, plans, recovers</a:t>
            </a:r>
            <a:endParaRPr lang="en-US" sz="1000" dirty="0"/>
          </a:p>
        </p:txBody>
      </p:sp>
      <p:sp>
        <p:nvSpPr>
          <p:cNvPr id="31" name="Text 29"/>
          <p:cNvSpPr txBox="1"/>
          <p:nvPr/>
        </p:nvSpPr>
        <p:spPr>
          <a:xfrm>
            <a:off x="950976" y="5477256"/>
            <a:ext cx="7406640" cy="292608"/>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The only harness that can do this work. Budget from the first build session, not from go-live.</a:t>
            </a:r>
            <a:endParaRPr lang="en-US" sz="950" dirty="0"/>
          </a:p>
        </p:txBody>
      </p:sp>
      <p:sp>
        <p:nvSpPr>
          <p:cNvPr id="32" name="Shape 30"/>
          <p:cNvSpPr/>
          <p:nvPr/>
        </p:nvSpPr>
        <p:spPr>
          <a:xfrm>
            <a:off x="8577072" y="5120640"/>
            <a:ext cx="2148840" cy="457200"/>
          </a:xfrm>
          <a:prstGeom prst="rect">
            <a:avLst/>
          </a:prstGeom>
          <a:solidFill>
            <a:srgbClr val="FFFFFF"/>
          </a:solidFill>
          <a:ln w="12700">
            <a:solidFill>
              <a:srgbClr val="FF5C39"/>
            </a:solidFill>
            <a:prstDash val="solid"/>
          </a:ln>
        </p:spPr>
      </p:sp>
      <p:sp>
        <p:nvSpPr>
          <p:cNvPr id="33" name="Text 31"/>
          <p:cNvSpPr txBox="1"/>
          <p:nvPr/>
        </p:nvSpPr>
        <p:spPr>
          <a:xfrm>
            <a:off x="8577072" y="5239512"/>
            <a:ext cx="2148840" cy="237744"/>
          </a:xfrm>
          <a:prstGeom prst="rect">
            <a:avLst/>
          </a:prstGeom>
          <a:noFill/>
          <a:ln/>
        </p:spPr>
        <p:txBody>
          <a:bodyPr wrap="square" lIns="0" tIns="0" rIns="0" bIns="0" rtlCol="0" anchor="ctr"/>
          <a:lstStyle/>
          <a:p>
            <a:pPr algn="ctr" indent="0" marL="0">
              <a:buNone/>
            </a:pPr>
            <a:r>
              <a:rPr lang="en-US" sz="1200" b="1" dirty="0">
                <a:solidFill>
                  <a:srgbClr val="FF5C39"/>
                </a:solidFill>
                <a:latin typeface="Segoe Sans Display Semibold" pitchFamily="34" charset="0"/>
                <a:ea typeface="Segoe Sans Display Semibold" pitchFamily="34" charset="-122"/>
                <a:cs typeface="Segoe Sans Display Semibold" pitchFamily="34" charset="-120"/>
              </a:rPr>
              <a:t>Usage-based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BEFORE YOU SCALE</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Governance and cost control</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12</a:t>
            </a:r>
            <a:endParaRPr lang="en-US" sz="800" dirty="0"/>
          </a:p>
        </p:txBody>
      </p:sp>
      <p:sp>
        <p:nvSpPr>
          <p:cNvPr id="6" name="Shape 4"/>
          <p:cNvSpPr/>
          <p:nvPr/>
        </p:nvSpPr>
        <p:spPr>
          <a:xfrm>
            <a:off x="713232" y="1623060"/>
            <a:ext cx="4928616" cy="2921508"/>
          </a:xfrm>
          <a:prstGeom prst="rect">
            <a:avLst/>
          </a:prstGeom>
          <a:solidFill>
            <a:srgbClr val="FFFFFF"/>
          </a:solidFill>
          <a:ln w="12700">
            <a:solidFill>
              <a:srgbClr val="0078D4"/>
            </a:solidFill>
            <a:prstDash val="solid"/>
          </a:ln>
        </p:spPr>
      </p:sp>
      <p:sp>
        <p:nvSpPr>
          <p:cNvPr id="7" name="Shape 5"/>
          <p:cNvSpPr/>
          <p:nvPr/>
        </p:nvSpPr>
        <p:spPr>
          <a:xfrm>
            <a:off x="713232" y="1572768"/>
            <a:ext cx="4928616" cy="50292"/>
          </a:xfrm>
          <a:prstGeom prst="rect">
            <a:avLst/>
          </a:prstGeom>
          <a:solidFill>
            <a:srgbClr val="0078D4"/>
          </a:solidFill>
          <a:ln/>
        </p:spPr>
      </p:sp>
      <p:sp>
        <p:nvSpPr>
          <p:cNvPr id="8" name="Text 6"/>
          <p:cNvSpPr txBox="1"/>
          <p:nvPr/>
        </p:nvSpPr>
        <p:spPr>
          <a:xfrm>
            <a:off x="969264" y="1773936"/>
            <a:ext cx="4434840" cy="256032"/>
          </a:xfrm>
          <a:prstGeom prst="rect">
            <a:avLst/>
          </a:prstGeom>
          <a:noFill/>
          <a:ln/>
        </p:spPr>
        <p:txBody>
          <a:bodyPr wrap="square" lIns="0" tIns="0" rIns="0" bIns="0" rtlCol="0" anchor="ctr"/>
          <a:lstStyle/>
          <a:p>
            <a:pPr indent="0" marL="0">
              <a:buNone/>
            </a:pPr>
            <a:r>
              <a:rPr lang="en-US" sz="1300" b="1" dirty="0">
                <a:solidFill>
                  <a:srgbClr val="107C41"/>
                </a:solidFill>
                <a:latin typeface="Segoe Sans Display Semibold" pitchFamily="34" charset="0"/>
                <a:ea typeface="Segoe Sans Display Semibold" pitchFamily="34" charset="-122"/>
                <a:cs typeface="Segoe Sans Display Semibold" pitchFamily="34" charset="-120"/>
              </a:rPr>
              <a:t>Do this</a:t>
            </a:r>
            <a:endParaRPr lang="en-US" sz="1300" dirty="0"/>
          </a:p>
        </p:txBody>
      </p:sp>
      <p:sp>
        <p:nvSpPr>
          <p:cNvPr id="9" name="Text 7"/>
          <p:cNvSpPr txBox="1"/>
          <p:nvPr/>
        </p:nvSpPr>
        <p:spPr>
          <a:xfrm>
            <a:off x="969264" y="2139696"/>
            <a:ext cx="4434840" cy="224028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Inventory every agent and record its harness</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Flag which agents carry a schedule or event trigger — those are your metered ones</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Set per-agent monthly limits with the hard stop in the Power Platform admin centre</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Model with the Copilot Studio usage estimator before you commit</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Get written fair-use scope for your top three scenarios at renewal</a:t>
            </a:r>
            <a:endParaRPr lang="en-US" sz="1050" dirty="0"/>
          </a:p>
        </p:txBody>
      </p:sp>
      <p:sp>
        <p:nvSpPr>
          <p:cNvPr id="10" name="Shape 8"/>
          <p:cNvSpPr/>
          <p:nvPr/>
        </p:nvSpPr>
        <p:spPr>
          <a:xfrm>
            <a:off x="6035040" y="1623060"/>
            <a:ext cx="4928616" cy="2921508"/>
          </a:xfrm>
          <a:prstGeom prst="rect">
            <a:avLst/>
          </a:prstGeom>
          <a:solidFill>
            <a:srgbClr val="FFF4F0"/>
          </a:solidFill>
          <a:ln w="12700">
            <a:solidFill>
              <a:srgbClr val="FF5C39"/>
            </a:solidFill>
            <a:prstDash val="solid"/>
          </a:ln>
        </p:spPr>
      </p:sp>
      <p:sp>
        <p:nvSpPr>
          <p:cNvPr id="11" name="Shape 9"/>
          <p:cNvSpPr/>
          <p:nvPr/>
        </p:nvSpPr>
        <p:spPr>
          <a:xfrm>
            <a:off x="6035040" y="1572768"/>
            <a:ext cx="4928616" cy="50292"/>
          </a:xfrm>
          <a:prstGeom prst="rect">
            <a:avLst/>
          </a:prstGeom>
          <a:solidFill>
            <a:srgbClr val="FF5C39"/>
          </a:solidFill>
          <a:ln/>
        </p:spPr>
      </p:sp>
      <p:sp>
        <p:nvSpPr>
          <p:cNvPr id="12" name="Text 10"/>
          <p:cNvSpPr txBox="1"/>
          <p:nvPr/>
        </p:nvSpPr>
        <p:spPr>
          <a:xfrm>
            <a:off x="6291072" y="1773936"/>
            <a:ext cx="4434840" cy="256032"/>
          </a:xfrm>
          <a:prstGeom prst="rect">
            <a:avLst/>
          </a:prstGeom>
          <a:noFill/>
          <a:ln/>
        </p:spPr>
        <p:txBody>
          <a:bodyPr wrap="square" lIns="0" tIns="0" rIns="0" bIns="0" rtlCol="0" anchor="ctr"/>
          <a:lstStyle/>
          <a:p>
            <a:pPr indent="0" marL="0">
              <a:buNone/>
            </a:pPr>
            <a:r>
              <a:rPr lang="en-US" sz="1300" b="1" dirty="0">
                <a:solidFill>
                  <a:srgbClr val="FF5C39"/>
                </a:solidFill>
                <a:latin typeface="Segoe Sans Display Semibold" pitchFamily="34" charset="0"/>
                <a:ea typeface="Segoe Sans Display Semibold" pitchFamily="34" charset="-122"/>
                <a:cs typeface="Segoe Sans Display Semibold" pitchFamily="34" charset="-120"/>
              </a:rPr>
              <a:t>Avoid this</a:t>
            </a:r>
            <a:endParaRPr lang="en-US" sz="1300" dirty="0"/>
          </a:p>
        </p:txBody>
      </p:sp>
      <p:sp>
        <p:nvSpPr>
          <p:cNvPr id="13" name="Text 11"/>
          <p:cNvSpPr txBox="1"/>
          <p:nvPr/>
        </p:nvSpPr>
        <p:spPr>
          <a:xfrm>
            <a:off x="6291072" y="2139696"/>
            <a:ext cx="4434840" cy="224028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Assuming "internal agent" means "free agent" — the trigger decides, not the audience</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Planning a customer-facing agent on the Copilot chat harness</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Treating alerts as caps — only deny and the per-agent hard stop actually stop spend</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Letting new environments draw on the tenant pool unchecked</a:t>
            </a:r>
            <a:endParaRPr lang="en-US" sz="1050" dirty="0"/>
          </a:p>
          <a:p>
            <a:pPr marL="342900" indent="-342900">
              <a:spcAft>
                <a:spcPts val="800"/>
              </a:spcAft>
              <a:buSzPct val="100000"/>
              <a:buChar char="•"/>
            </a:pPr>
            <a:r>
              <a:rPr lang="en-US" sz="1050" dirty="0">
                <a:solidFill>
                  <a:srgbClr val="3B4A54"/>
                </a:solidFill>
                <a:latin typeface="Segoe Sans Display" pitchFamily="34" charset="0"/>
                <a:ea typeface="Segoe Sans Display" pitchFamily="34" charset="-122"/>
                <a:cs typeface="Segoe Sans Display" pitchFamily="34" charset="-120"/>
              </a:rPr>
              <a:t>Quoting a per-run price for the GitHub Copilot harness before you have piloted it</a:t>
            </a:r>
            <a:endParaRPr lang="en-US" sz="1050" dirty="0"/>
          </a:p>
        </p:txBody>
      </p:sp>
      <p:sp>
        <p:nvSpPr>
          <p:cNvPr id="14" name="Shape 12"/>
          <p:cNvSpPr/>
          <p:nvPr/>
        </p:nvSpPr>
        <p:spPr>
          <a:xfrm>
            <a:off x="713232" y="4777740"/>
            <a:ext cx="10250424" cy="1001268"/>
          </a:xfrm>
          <a:prstGeom prst="rect">
            <a:avLst/>
          </a:prstGeom>
          <a:solidFill>
            <a:srgbClr val="FFF8F5"/>
          </a:solidFill>
          <a:ln w="12700">
            <a:solidFill>
              <a:srgbClr val="C03BC4"/>
            </a:solidFill>
            <a:prstDash val="solid"/>
          </a:ln>
        </p:spPr>
      </p:sp>
      <p:sp>
        <p:nvSpPr>
          <p:cNvPr id="15" name="Shape 13"/>
          <p:cNvSpPr/>
          <p:nvPr/>
        </p:nvSpPr>
        <p:spPr>
          <a:xfrm>
            <a:off x="713232" y="4727448"/>
            <a:ext cx="10250424" cy="50292"/>
          </a:xfrm>
          <a:prstGeom prst="rect">
            <a:avLst/>
          </a:prstGeom>
          <a:solidFill>
            <a:srgbClr val="C03BC4"/>
          </a:solidFill>
          <a:ln/>
        </p:spPr>
      </p:sp>
      <p:sp>
        <p:nvSpPr>
          <p:cNvPr id="16" name="Text 14"/>
          <p:cNvSpPr txBox="1"/>
          <p:nvPr/>
        </p:nvSpPr>
        <p:spPr>
          <a:xfrm>
            <a:off x="969264" y="4901184"/>
            <a:ext cx="9784080" cy="256032"/>
          </a:xfrm>
          <a:prstGeom prst="rect">
            <a:avLst/>
          </a:prstGeom>
          <a:noFill/>
          <a:ln/>
        </p:spPr>
        <p:txBody>
          <a:bodyPr wrap="square" lIns="0" tIns="0" rIns="0" bIns="0" rtlCol="0" anchor="ctr"/>
          <a:lstStyle/>
          <a:p>
            <a:pPr indent="0" marL="0">
              <a:buNone/>
            </a:pPr>
            <a:r>
              <a:rPr lang="en-US" sz="1250" b="1" dirty="0">
                <a:solidFill>
                  <a:srgbClr val="091F2C"/>
                </a:solidFill>
                <a:latin typeface="Segoe Sans Display Semibold" pitchFamily="34" charset="0"/>
                <a:ea typeface="Segoe Sans Display Semibold" pitchFamily="34" charset="-122"/>
                <a:cs typeface="Segoe Sans Display Semibold" pitchFamily="34" charset="-120"/>
              </a:rPr>
              <a:t>Watch the calendar</a:t>
            </a:r>
            <a:endParaRPr lang="en-US" sz="1250" dirty="0"/>
          </a:p>
        </p:txBody>
      </p:sp>
      <p:sp>
        <p:nvSpPr>
          <p:cNvPr id="17" name="Text 15"/>
          <p:cNvSpPr txBox="1"/>
          <p:nvPr/>
        </p:nvSpPr>
        <p:spPr>
          <a:xfrm>
            <a:off x="969264" y="5175504"/>
            <a:ext cx="9784080" cy="502920"/>
          </a:xfrm>
          <a:prstGeom prst="rect">
            <a:avLst/>
          </a:prstGeom>
          <a:noFill/>
          <a:ln/>
        </p:spPr>
        <p:txBody>
          <a:bodyPr wrap="square" lIns="0" tIns="0" rIns="0" bIns="0" rtlCol="0" anchor="ctr"/>
          <a:lstStyle/>
          <a:p>
            <a:pPr indent="0" marL="0">
              <a:lnSpc>
                <a:spcPts val="1400"/>
              </a:lnSpc>
              <a:buNone/>
            </a:pPr>
            <a:r>
              <a:rPr lang="en-US" sz="1050" dirty="0">
                <a:solidFill>
                  <a:srgbClr val="3B4A54"/>
                </a:solidFill>
                <a:latin typeface="Segoe Sans Display" pitchFamily="34" charset="0"/>
                <a:ea typeface="Segoe Sans Display" pitchFamily="34" charset="-122"/>
                <a:cs typeface="Segoe Sans Display" pitchFamily="34" charset="-120"/>
              </a:rPr>
              <a:t>Developer and trial environments move to usage-based billing on 1 September 2026. Overage enforcement disables custom agents at 125% of prepaid capacity — for conversational and autonomously triggered usage alike. Agent-flow enforcement blocks new runs while leaving the parent agent answering.</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TAKE THIS AWAY</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Five things that decide the bill</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13</a:t>
            </a:r>
            <a:endParaRPr lang="en-US" sz="800" dirty="0"/>
          </a:p>
        </p:txBody>
      </p:sp>
      <p:sp>
        <p:nvSpPr>
          <p:cNvPr id="6" name="Shape 4"/>
          <p:cNvSpPr/>
          <p:nvPr/>
        </p:nvSpPr>
        <p:spPr>
          <a:xfrm>
            <a:off x="713232" y="1645920"/>
            <a:ext cx="10250424" cy="786384"/>
          </a:xfrm>
          <a:prstGeom prst="rect">
            <a:avLst/>
          </a:prstGeom>
          <a:solidFill>
            <a:srgbClr val="FFFFFF"/>
          </a:solidFill>
          <a:ln w="12700">
            <a:solidFill>
              <a:srgbClr val="E3E8EB"/>
            </a:solidFill>
            <a:prstDash val="solid"/>
          </a:ln>
        </p:spPr>
      </p:sp>
      <p:sp>
        <p:nvSpPr>
          <p:cNvPr id="7" name="Shape 5"/>
          <p:cNvSpPr/>
          <p:nvPr/>
        </p:nvSpPr>
        <p:spPr>
          <a:xfrm>
            <a:off x="713232" y="1645920"/>
            <a:ext cx="50292" cy="786384"/>
          </a:xfrm>
          <a:prstGeom prst="rect">
            <a:avLst/>
          </a:prstGeom>
          <a:solidFill>
            <a:srgbClr val="0078D4"/>
          </a:solidFill>
          <a:ln/>
        </p:spPr>
      </p:sp>
      <p:sp>
        <p:nvSpPr>
          <p:cNvPr id="8" name="Text 6"/>
          <p:cNvSpPr txBox="1"/>
          <p:nvPr/>
        </p:nvSpPr>
        <p:spPr>
          <a:xfrm>
            <a:off x="932688" y="1865376"/>
            <a:ext cx="365760" cy="347472"/>
          </a:xfrm>
          <a:prstGeom prst="rect">
            <a:avLst/>
          </a:prstGeom>
          <a:noFill/>
          <a:ln/>
        </p:spPr>
        <p:txBody>
          <a:bodyPr wrap="square" lIns="0" tIns="0" rIns="0" bIns="0" rtlCol="0" anchor="ctr"/>
          <a:lstStyle/>
          <a:p>
            <a:pPr indent="0" marL="0">
              <a:buNone/>
            </a:pPr>
            <a:r>
              <a:rPr lang="en-US" sz="2000" b="1" dirty="0">
                <a:solidFill>
                  <a:srgbClr val="0078D4"/>
                </a:solidFill>
                <a:latin typeface="Segoe Sans Display Semibold" pitchFamily="34" charset="0"/>
                <a:ea typeface="Segoe Sans Display Semibold" pitchFamily="34" charset="-122"/>
                <a:cs typeface="Segoe Sans Display Semibold" pitchFamily="34" charset="-120"/>
              </a:rPr>
              <a:t>1</a:t>
            </a:r>
            <a:endParaRPr lang="en-US" sz="2000" dirty="0"/>
          </a:p>
        </p:txBody>
      </p:sp>
      <p:sp>
        <p:nvSpPr>
          <p:cNvPr id="9" name="Text 7"/>
          <p:cNvSpPr txBox="1"/>
          <p:nvPr/>
        </p:nvSpPr>
        <p:spPr>
          <a:xfrm>
            <a:off x="1389888" y="1773936"/>
            <a:ext cx="9326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The harness is a one-way door</a:t>
            </a:r>
            <a:endParaRPr lang="en-US" sz="1300" dirty="0"/>
          </a:p>
        </p:txBody>
      </p:sp>
      <p:sp>
        <p:nvSpPr>
          <p:cNvPr id="10" name="Text 8"/>
          <p:cNvSpPr txBox="1"/>
          <p:nvPr/>
        </p:nvSpPr>
        <p:spPr>
          <a:xfrm>
            <a:off x="1389888" y="2048256"/>
            <a:ext cx="9326880" cy="292608"/>
          </a:xfrm>
          <a:prstGeom prst="rect">
            <a:avLst/>
          </a:prstGeom>
          <a:noFill/>
          <a:ln/>
        </p:spPr>
        <p:txBody>
          <a:bodyPr wrap="square" lIns="0" tIns="0" rIns="0" bIns="0" rtlCol="0" anchor="ctr"/>
          <a:lstStyle/>
          <a:p>
            <a:pPr indent="0" marL="0">
              <a:buNone/>
            </a:pPr>
            <a:r>
              <a:rPr lang="en-US" sz="1000" dirty="0">
                <a:solidFill>
                  <a:srgbClr val="3B4A54"/>
                </a:solidFill>
                <a:latin typeface="Segoe Sans Display" pitchFamily="34" charset="0"/>
                <a:ea typeface="Segoe Sans Display" pitchFamily="34" charset="-122"/>
                <a:cs typeface="Segoe Sans Display" pitchFamily="34" charset="-120"/>
              </a:rPr>
              <a:t>Chosen at creation and unchangeable. Variables, Power Fx and topic Adaptive Cards are standard-harness only.</a:t>
            </a:r>
            <a:endParaRPr lang="en-US" sz="1000" dirty="0"/>
          </a:p>
        </p:txBody>
      </p:sp>
      <p:sp>
        <p:nvSpPr>
          <p:cNvPr id="11" name="Shape 9"/>
          <p:cNvSpPr/>
          <p:nvPr/>
        </p:nvSpPr>
        <p:spPr>
          <a:xfrm>
            <a:off x="713232" y="2505456"/>
            <a:ext cx="10250424" cy="786384"/>
          </a:xfrm>
          <a:prstGeom prst="rect">
            <a:avLst/>
          </a:prstGeom>
          <a:solidFill>
            <a:srgbClr val="FFF8F5"/>
          </a:solidFill>
          <a:ln w="12700">
            <a:solidFill>
              <a:srgbClr val="E3E8EB"/>
            </a:solidFill>
            <a:prstDash val="solid"/>
          </a:ln>
        </p:spPr>
      </p:sp>
      <p:sp>
        <p:nvSpPr>
          <p:cNvPr id="12" name="Shape 10"/>
          <p:cNvSpPr/>
          <p:nvPr/>
        </p:nvSpPr>
        <p:spPr>
          <a:xfrm>
            <a:off x="713232" y="2505456"/>
            <a:ext cx="50292" cy="786384"/>
          </a:xfrm>
          <a:prstGeom prst="rect">
            <a:avLst/>
          </a:prstGeom>
          <a:solidFill>
            <a:srgbClr val="0078D4"/>
          </a:solidFill>
          <a:ln/>
        </p:spPr>
      </p:sp>
      <p:sp>
        <p:nvSpPr>
          <p:cNvPr id="13" name="Text 11"/>
          <p:cNvSpPr txBox="1"/>
          <p:nvPr/>
        </p:nvSpPr>
        <p:spPr>
          <a:xfrm>
            <a:off x="932688" y="2724912"/>
            <a:ext cx="365760" cy="347472"/>
          </a:xfrm>
          <a:prstGeom prst="rect">
            <a:avLst/>
          </a:prstGeom>
          <a:noFill/>
          <a:ln/>
        </p:spPr>
        <p:txBody>
          <a:bodyPr wrap="square" lIns="0" tIns="0" rIns="0" bIns="0" rtlCol="0" anchor="ctr"/>
          <a:lstStyle/>
          <a:p>
            <a:pPr indent="0" marL="0">
              <a:buNone/>
            </a:pPr>
            <a:r>
              <a:rPr lang="en-US" sz="2000" b="1" dirty="0">
                <a:solidFill>
                  <a:srgbClr val="0078D4"/>
                </a:solidFill>
                <a:latin typeface="Segoe Sans Display Semibold" pitchFamily="34" charset="0"/>
                <a:ea typeface="Segoe Sans Display Semibold" pitchFamily="34" charset="-122"/>
                <a:cs typeface="Segoe Sans Display Semibold" pitchFamily="34" charset="-120"/>
              </a:rPr>
              <a:t>2</a:t>
            </a:r>
            <a:endParaRPr lang="en-US" sz="2000" dirty="0"/>
          </a:p>
        </p:txBody>
      </p:sp>
      <p:sp>
        <p:nvSpPr>
          <p:cNvPr id="14" name="Text 12"/>
          <p:cNvSpPr txBox="1"/>
          <p:nvPr/>
        </p:nvSpPr>
        <p:spPr>
          <a:xfrm>
            <a:off x="1389888" y="2633472"/>
            <a:ext cx="9326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Standard and Copilot chat are conditionally free</a:t>
            </a:r>
            <a:endParaRPr lang="en-US" sz="1300" dirty="0"/>
          </a:p>
        </p:txBody>
      </p:sp>
      <p:sp>
        <p:nvSpPr>
          <p:cNvPr id="15" name="Text 13"/>
          <p:cNvSpPr txBox="1"/>
          <p:nvPr/>
        </p:nvSpPr>
        <p:spPr>
          <a:xfrm>
            <a:off x="1389888" y="2907792"/>
            <a:ext cx="9326880" cy="292608"/>
          </a:xfrm>
          <a:prstGeom prst="rect">
            <a:avLst/>
          </a:prstGeom>
          <a:noFill/>
          <a:ln/>
        </p:spPr>
        <p:txBody>
          <a:bodyPr wrap="square" lIns="0" tIns="0" rIns="0" bIns="0" rtlCol="0" anchor="ctr"/>
          <a:lstStyle/>
          <a:p>
            <a:pPr indent="0" marL="0">
              <a:buNone/>
            </a:pPr>
            <a:r>
              <a:rPr lang="en-US" sz="1000" dirty="0">
                <a:solidFill>
                  <a:srgbClr val="3B4A54"/>
                </a:solidFill>
                <a:latin typeface="Segoe Sans Display" pitchFamily="34" charset="0"/>
                <a:ea typeface="Segoe Sans Display" pitchFamily="34" charset="-122"/>
                <a:cs typeface="Segoe Sans Display" pitchFamily="34" charset="-120"/>
              </a:rPr>
              <a:t>Building and testing cost nothing. Runtime is included only while all four fair-use conditions hold.</a:t>
            </a:r>
            <a:endParaRPr lang="en-US" sz="1000" dirty="0"/>
          </a:p>
        </p:txBody>
      </p:sp>
      <p:sp>
        <p:nvSpPr>
          <p:cNvPr id="16" name="Shape 14"/>
          <p:cNvSpPr/>
          <p:nvPr/>
        </p:nvSpPr>
        <p:spPr>
          <a:xfrm>
            <a:off x="713232" y="3364992"/>
            <a:ext cx="10250424" cy="786384"/>
          </a:xfrm>
          <a:prstGeom prst="rect">
            <a:avLst/>
          </a:prstGeom>
          <a:solidFill>
            <a:srgbClr val="FFFFFF"/>
          </a:solidFill>
          <a:ln w="12700">
            <a:solidFill>
              <a:srgbClr val="E3E8EB"/>
            </a:solidFill>
            <a:prstDash val="solid"/>
          </a:ln>
        </p:spPr>
      </p:sp>
      <p:sp>
        <p:nvSpPr>
          <p:cNvPr id="17" name="Shape 15"/>
          <p:cNvSpPr/>
          <p:nvPr/>
        </p:nvSpPr>
        <p:spPr>
          <a:xfrm>
            <a:off x="713232" y="3364992"/>
            <a:ext cx="50292" cy="786384"/>
          </a:xfrm>
          <a:prstGeom prst="rect">
            <a:avLst/>
          </a:prstGeom>
          <a:solidFill>
            <a:srgbClr val="FF5C39"/>
          </a:solidFill>
          <a:ln/>
        </p:spPr>
      </p:sp>
      <p:sp>
        <p:nvSpPr>
          <p:cNvPr id="18" name="Text 16"/>
          <p:cNvSpPr txBox="1"/>
          <p:nvPr/>
        </p:nvSpPr>
        <p:spPr>
          <a:xfrm>
            <a:off x="932688" y="3584448"/>
            <a:ext cx="365760" cy="347472"/>
          </a:xfrm>
          <a:prstGeom prst="rect">
            <a:avLst/>
          </a:prstGeom>
          <a:noFill/>
          <a:ln/>
        </p:spPr>
        <p:txBody>
          <a:bodyPr wrap="square" lIns="0" tIns="0" rIns="0" bIns="0" rtlCol="0" anchor="ctr"/>
          <a:lstStyle/>
          <a:p>
            <a:pPr indent="0" marL="0">
              <a:buNone/>
            </a:pPr>
            <a:r>
              <a:rPr lang="en-US" sz="2000" b="1" dirty="0">
                <a:solidFill>
                  <a:srgbClr val="FF5C39"/>
                </a:solidFill>
                <a:latin typeface="Segoe Sans Display Semibold" pitchFamily="34" charset="0"/>
                <a:ea typeface="Segoe Sans Display Semibold" pitchFamily="34" charset="-122"/>
                <a:cs typeface="Segoe Sans Display Semibold" pitchFamily="34" charset="-120"/>
              </a:rPr>
              <a:t>3</a:t>
            </a:r>
            <a:endParaRPr lang="en-US" sz="2000" dirty="0"/>
          </a:p>
        </p:txBody>
      </p:sp>
      <p:sp>
        <p:nvSpPr>
          <p:cNvPr id="19" name="Text 17"/>
          <p:cNvSpPr txBox="1"/>
          <p:nvPr/>
        </p:nvSpPr>
        <p:spPr>
          <a:xfrm>
            <a:off x="1389888" y="3493008"/>
            <a:ext cx="9326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Autonomous runs are never included</a:t>
            </a:r>
            <a:endParaRPr lang="en-US" sz="1300" dirty="0"/>
          </a:p>
        </p:txBody>
      </p:sp>
      <p:sp>
        <p:nvSpPr>
          <p:cNvPr id="20" name="Text 18"/>
          <p:cNvSpPr txBox="1"/>
          <p:nvPr/>
        </p:nvSpPr>
        <p:spPr>
          <a:xfrm>
            <a:off x="1389888" y="3767328"/>
            <a:ext cx="9326880" cy="292608"/>
          </a:xfrm>
          <a:prstGeom prst="rect">
            <a:avLst/>
          </a:prstGeom>
          <a:noFill/>
          <a:ln/>
        </p:spPr>
        <p:txBody>
          <a:bodyPr wrap="square" lIns="0" tIns="0" rIns="0" bIns="0" rtlCol="0" anchor="ctr"/>
          <a:lstStyle/>
          <a:p>
            <a:pPr indent="0" marL="0">
              <a:buNone/>
            </a:pPr>
            <a:r>
              <a:rPr lang="en-US" sz="1000" dirty="0">
                <a:solidFill>
                  <a:srgbClr val="3B4A54"/>
                </a:solidFill>
                <a:latin typeface="Segoe Sans Display" pitchFamily="34" charset="0"/>
                <a:ea typeface="Segoe Sans Display" pitchFamily="34" charset="-122"/>
                <a:cs typeface="Segoe Sans Display" pitchFamily="34" charset="-120"/>
              </a:rPr>
              <a:t>Schedules, event triggers and unattended flows meter on every harness — including the two the licence otherwise covers.</a:t>
            </a:r>
            <a:endParaRPr lang="en-US" sz="1000" dirty="0"/>
          </a:p>
        </p:txBody>
      </p:sp>
      <p:sp>
        <p:nvSpPr>
          <p:cNvPr id="21" name="Shape 19"/>
          <p:cNvSpPr/>
          <p:nvPr/>
        </p:nvSpPr>
        <p:spPr>
          <a:xfrm>
            <a:off x="713232" y="4224528"/>
            <a:ext cx="10250424" cy="786384"/>
          </a:xfrm>
          <a:prstGeom prst="rect">
            <a:avLst/>
          </a:prstGeom>
          <a:solidFill>
            <a:srgbClr val="FFF8F5"/>
          </a:solidFill>
          <a:ln w="12700">
            <a:solidFill>
              <a:srgbClr val="E3E8EB"/>
            </a:solidFill>
            <a:prstDash val="solid"/>
          </a:ln>
        </p:spPr>
      </p:sp>
      <p:sp>
        <p:nvSpPr>
          <p:cNvPr id="22" name="Shape 20"/>
          <p:cNvSpPr/>
          <p:nvPr/>
        </p:nvSpPr>
        <p:spPr>
          <a:xfrm>
            <a:off x="713232" y="4224528"/>
            <a:ext cx="50292" cy="786384"/>
          </a:xfrm>
          <a:prstGeom prst="rect">
            <a:avLst/>
          </a:prstGeom>
          <a:solidFill>
            <a:srgbClr val="8661C5"/>
          </a:solidFill>
          <a:ln/>
        </p:spPr>
      </p:sp>
      <p:sp>
        <p:nvSpPr>
          <p:cNvPr id="23" name="Text 21"/>
          <p:cNvSpPr txBox="1"/>
          <p:nvPr/>
        </p:nvSpPr>
        <p:spPr>
          <a:xfrm>
            <a:off x="932688" y="4443984"/>
            <a:ext cx="365760" cy="347472"/>
          </a:xfrm>
          <a:prstGeom prst="rect">
            <a:avLst/>
          </a:prstGeom>
          <a:noFill/>
          <a:ln/>
        </p:spPr>
        <p:txBody>
          <a:bodyPr wrap="square" lIns="0" tIns="0" rIns="0" bIns="0" rtlCol="0" anchor="ctr"/>
          <a:lstStyle/>
          <a:p>
            <a:pPr indent="0" marL="0">
              <a:buNone/>
            </a:pPr>
            <a:r>
              <a:rPr lang="en-US" sz="2000" b="1" dirty="0">
                <a:solidFill>
                  <a:srgbClr val="8661C5"/>
                </a:solidFill>
                <a:latin typeface="Segoe Sans Display Semibold" pitchFamily="34" charset="0"/>
                <a:ea typeface="Segoe Sans Display Semibold" pitchFamily="34" charset="-122"/>
                <a:cs typeface="Segoe Sans Display Semibold" pitchFamily="34" charset="-120"/>
              </a:rPr>
              <a:t>4</a:t>
            </a:r>
            <a:endParaRPr lang="en-US" sz="2000" dirty="0"/>
          </a:p>
        </p:txBody>
      </p:sp>
      <p:sp>
        <p:nvSpPr>
          <p:cNvPr id="24" name="Text 22"/>
          <p:cNvSpPr txBox="1"/>
          <p:nvPr/>
        </p:nvSpPr>
        <p:spPr>
          <a:xfrm>
            <a:off x="1389888" y="4352544"/>
            <a:ext cx="9326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GitHub Copilot harness meters from the first build action</a:t>
            </a:r>
            <a:endParaRPr lang="en-US" sz="1300" dirty="0"/>
          </a:p>
        </p:txBody>
      </p:sp>
      <p:sp>
        <p:nvSpPr>
          <p:cNvPr id="25" name="Text 23"/>
          <p:cNvSpPr txBox="1"/>
          <p:nvPr/>
        </p:nvSpPr>
        <p:spPr>
          <a:xfrm>
            <a:off x="1389888" y="4626864"/>
            <a:ext cx="9326880" cy="292608"/>
          </a:xfrm>
          <a:prstGeom prst="rect">
            <a:avLst/>
          </a:prstGeom>
          <a:noFill/>
          <a:ln/>
        </p:spPr>
        <p:txBody>
          <a:bodyPr wrap="square" lIns="0" tIns="0" rIns="0" bIns="0" rtlCol="0" anchor="ctr"/>
          <a:lstStyle/>
          <a:p>
            <a:pPr indent="0" marL="0">
              <a:buNone/>
            </a:pPr>
            <a:r>
              <a:rPr lang="en-US" sz="1000" dirty="0">
                <a:solidFill>
                  <a:srgbClr val="3B4A54"/>
                </a:solidFill>
                <a:latin typeface="Segoe Sans Display" pitchFamily="34" charset="0"/>
                <a:ea typeface="Segoe Sans Display" pitchFamily="34" charset="-122"/>
                <a:cs typeface="Segoe Sans Display" pitchFamily="34" charset="-120"/>
              </a:rPr>
              <a:t>No licence covers it, and no fair-use carve-out exists. Reach for it when the work genuinely needs judgement.</a:t>
            </a:r>
            <a:endParaRPr lang="en-US" sz="1000" dirty="0"/>
          </a:p>
        </p:txBody>
      </p:sp>
      <p:sp>
        <p:nvSpPr>
          <p:cNvPr id="26" name="Shape 24"/>
          <p:cNvSpPr/>
          <p:nvPr/>
        </p:nvSpPr>
        <p:spPr>
          <a:xfrm>
            <a:off x="713232" y="5084064"/>
            <a:ext cx="10250424" cy="786384"/>
          </a:xfrm>
          <a:prstGeom prst="rect">
            <a:avLst/>
          </a:prstGeom>
          <a:solidFill>
            <a:srgbClr val="FFFFFF"/>
          </a:solidFill>
          <a:ln w="12700">
            <a:solidFill>
              <a:srgbClr val="E3E8EB"/>
            </a:solidFill>
            <a:prstDash val="solid"/>
          </a:ln>
        </p:spPr>
      </p:sp>
      <p:sp>
        <p:nvSpPr>
          <p:cNvPr id="27" name="Shape 25"/>
          <p:cNvSpPr/>
          <p:nvPr/>
        </p:nvSpPr>
        <p:spPr>
          <a:xfrm>
            <a:off x="713232" y="5084064"/>
            <a:ext cx="50292" cy="786384"/>
          </a:xfrm>
          <a:prstGeom prst="rect">
            <a:avLst/>
          </a:prstGeom>
          <a:solidFill>
            <a:srgbClr val="C03BC4"/>
          </a:solidFill>
          <a:ln/>
        </p:spPr>
      </p:sp>
      <p:sp>
        <p:nvSpPr>
          <p:cNvPr id="28" name="Text 26"/>
          <p:cNvSpPr txBox="1"/>
          <p:nvPr/>
        </p:nvSpPr>
        <p:spPr>
          <a:xfrm>
            <a:off x="932688" y="5303520"/>
            <a:ext cx="365760" cy="347472"/>
          </a:xfrm>
          <a:prstGeom prst="rect">
            <a:avLst/>
          </a:prstGeom>
          <a:noFill/>
          <a:ln/>
        </p:spPr>
        <p:txBody>
          <a:bodyPr wrap="square" lIns="0" tIns="0" rIns="0" bIns="0" rtlCol="0" anchor="ctr"/>
          <a:lstStyle/>
          <a:p>
            <a:pPr indent="0" marL="0">
              <a:buNone/>
            </a:pPr>
            <a:r>
              <a:rPr lang="en-US" sz="2000" b="1" dirty="0">
                <a:solidFill>
                  <a:srgbClr val="C03BC4"/>
                </a:solidFill>
                <a:latin typeface="Segoe Sans Display Semibold" pitchFamily="34" charset="0"/>
                <a:ea typeface="Segoe Sans Display Semibold" pitchFamily="34" charset="-122"/>
                <a:cs typeface="Segoe Sans Display Semibold" pitchFamily="34" charset="-120"/>
              </a:rPr>
              <a:t>5</a:t>
            </a:r>
            <a:endParaRPr lang="en-US" sz="2000" dirty="0"/>
          </a:p>
        </p:txBody>
      </p:sp>
      <p:sp>
        <p:nvSpPr>
          <p:cNvPr id="29" name="Text 27"/>
          <p:cNvSpPr txBox="1"/>
          <p:nvPr/>
        </p:nvSpPr>
        <p:spPr>
          <a:xfrm>
            <a:off x="1389888" y="5212080"/>
            <a:ext cx="9326880" cy="256032"/>
          </a:xfrm>
          <a:prstGeom prst="rect">
            <a:avLst/>
          </a:prstGeom>
          <a:noFill/>
          <a:ln/>
        </p:spPr>
        <p:txBody>
          <a:bodyPr wrap="square" lIns="0" tIns="0" rIns="0" bIns="0" rtlCol="0" anchor="ctr"/>
          <a:lstStyle/>
          <a:p>
            <a:pPr indent="0" marL="0">
              <a:buNone/>
            </a:pPr>
            <a:r>
              <a:rPr lang="en-US" sz="1300" b="1" dirty="0">
                <a:solidFill>
                  <a:srgbClr val="091F2C"/>
                </a:solidFill>
                <a:latin typeface="Segoe Sans Display Semibold" pitchFamily="34" charset="0"/>
                <a:ea typeface="Segoe Sans Display Semibold" pitchFamily="34" charset="-122"/>
                <a:cs typeface="Segoe Sans Display Semibold" pitchFamily="34" charset="-120"/>
              </a:rPr>
              <a:t>Fair use is undefined and revisable</a:t>
            </a:r>
            <a:endParaRPr lang="en-US" sz="1300" dirty="0"/>
          </a:p>
        </p:txBody>
      </p:sp>
      <p:sp>
        <p:nvSpPr>
          <p:cNvPr id="30" name="Text 28"/>
          <p:cNvSpPr txBox="1"/>
          <p:nvPr/>
        </p:nvSpPr>
        <p:spPr>
          <a:xfrm>
            <a:off x="1389888" y="5486400"/>
            <a:ext cx="9326880" cy="292608"/>
          </a:xfrm>
          <a:prstGeom prst="rect">
            <a:avLst/>
          </a:prstGeom>
          <a:noFill/>
          <a:ln/>
        </p:spPr>
        <p:txBody>
          <a:bodyPr wrap="square" lIns="0" tIns="0" rIns="0" bIns="0" rtlCol="0" anchor="ctr"/>
          <a:lstStyle/>
          <a:p>
            <a:pPr indent="0" marL="0">
              <a:buNone/>
            </a:pPr>
            <a:r>
              <a:rPr lang="en-US" sz="1000" dirty="0">
                <a:solidFill>
                  <a:srgbClr val="3B4A54"/>
                </a:solidFill>
                <a:latin typeface="Segoe Sans Display" pitchFamily="34" charset="0"/>
                <a:ea typeface="Segoe Sans Display" pitchFamily="34" charset="-122"/>
                <a:cs typeface="Segoe Sans Display" pitchFamily="34" charset="-120"/>
              </a:rPr>
              <a:t>Pilot a real workload, read the consumption report, then model. Do not quote a per-run price from a rate card alone.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566928"/>
            <a:ext cx="10789920" cy="219456"/>
          </a:xfrm>
          <a:prstGeom prst="rect">
            <a:avLst/>
          </a:prstGeom>
          <a:noFill/>
          <a:ln/>
        </p:spPr>
        <p:txBody>
          <a:bodyPr wrap="square" lIns="0" tIns="0" rIns="0" bIns="0" rtlCol="0" anchor="ctr"/>
          <a:lstStyle/>
          <a:p>
            <a:pPr indent="0" marL="0">
              <a:buNone/>
            </a:pPr>
            <a:r>
              <a:rPr lang="en-US" sz="1000" b="1" spc="110" kern="0" dirty="0">
                <a:solidFill>
                  <a:srgbClr val="0078D4"/>
                </a:solidFill>
                <a:latin typeface="Segoe Sans Display Semibold" pitchFamily="34" charset="0"/>
                <a:ea typeface="Segoe Sans Display Semibold" pitchFamily="34" charset="-122"/>
                <a:cs typeface="Segoe Sans Display Semibold" pitchFamily="34" charset="-120"/>
              </a:rPr>
              <a:t>VERIFY IT YOURSELF</a:t>
            </a:r>
            <a:endParaRPr lang="en-US" sz="1000" dirty="0"/>
          </a:p>
        </p:txBody>
      </p:sp>
      <p:sp>
        <p:nvSpPr>
          <p:cNvPr id="3" name="Text 1"/>
          <p:cNvSpPr txBox="1"/>
          <p:nvPr/>
        </p:nvSpPr>
        <p:spPr>
          <a:xfrm>
            <a:off x="713232" y="841248"/>
            <a:ext cx="10789920" cy="502920"/>
          </a:xfrm>
          <a:prstGeom prst="rect">
            <a:avLst/>
          </a:prstGeom>
          <a:noFill/>
          <a:ln/>
        </p:spPr>
        <p:txBody>
          <a:bodyPr wrap="square" lIns="0" tIns="0" rIns="0" bIns="0" rtlCol="0" anchor="ctr"/>
          <a:lstStyle/>
          <a:p>
            <a:pPr indent="0" marL="0">
              <a:buNone/>
            </a:pPr>
            <a:r>
              <a:rPr lang="en-US" sz="2700" b="1" dirty="0">
                <a:solidFill>
                  <a:srgbClr val="091F2C"/>
                </a:solidFill>
                <a:latin typeface="Segoe Sans Display Semibold" pitchFamily="34" charset="0"/>
                <a:ea typeface="Segoe Sans Display Semibold" pitchFamily="34" charset="-122"/>
                <a:cs typeface="Segoe Sans Display Semibold" pitchFamily="34" charset="-120"/>
              </a:rPr>
              <a:t>Sources</a:t>
            </a:r>
            <a:endParaRPr lang="en-US" sz="2700" dirty="0"/>
          </a:p>
        </p:txBody>
      </p:sp>
      <p:sp>
        <p:nvSpPr>
          <p:cNvPr id="4" name="Text 2"/>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5" name="Text 3"/>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14</a:t>
            </a:r>
            <a:endParaRPr lang="en-US" sz="800" dirty="0"/>
          </a:p>
        </p:txBody>
      </p:sp>
      <p:sp>
        <p:nvSpPr>
          <p:cNvPr id="6" name="Text 4"/>
          <p:cNvSpPr txBox="1"/>
          <p:nvPr/>
        </p:nvSpPr>
        <p:spPr>
          <a:xfrm>
            <a:off x="713232" y="1481328"/>
            <a:ext cx="10241280" cy="292608"/>
          </a:xfrm>
          <a:prstGeom prst="rect">
            <a:avLst/>
          </a:prstGeom>
          <a:noFill/>
          <a:ln/>
        </p:spPr>
        <p:txBody>
          <a:bodyPr wrap="square" lIns="0" tIns="0" rIns="0" bIns="0" rtlCol="0" anchor="ctr"/>
          <a:lstStyle/>
          <a:p>
            <a:pPr indent="0" marL="0">
              <a:buNone/>
            </a:pPr>
            <a:r>
              <a:rPr lang="en-US" sz="1150" dirty="0">
                <a:solidFill>
                  <a:srgbClr val="3B4A54"/>
                </a:solidFill>
                <a:latin typeface="Segoe Sans Display" pitchFamily="34" charset="0"/>
                <a:ea typeface="Segoe Sans Display" pitchFamily="34" charset="-122"/>
                <a:cs typeface="Segoe Sans Display" pitchFamily="34" charset="-120"/>
              </a:rPr>
              <a:t>Everything in this deck traces to Microsoft documentation. Confirm before you budget — this area is moving, and the GitHub Copilot harness reached general availability only on 3 August 2026.</a:t>
            </a:r>
            <a:endParaRPr lang="en-US" sz="1150" dirty="0"/>
          </a:p>
        </p:txBody>
      </p:sp>
      <p:sp>
        <p:nvSpPr>
          <p:cNvPr id="7" name="Shape 5"/>
          <p:cNvSpPr/>
          <p:nvPr/>
        </p:nvSpPr>
        <p:spPr>
          <a:xfrm>
            <a:off x="713232" y="1920240"/>
            <a:ext cx="10250424" cy="640080"/>
          </a:xfrm>
          <a:prstGeom prst="rect">
            <a:avLst/>
          </a:prstGeom>
          <a:solidFill>
            <a:srgbClr val="FFFFFF"/>
          </a:solidFill>
          <a:ln w="12700">
            <a:solidFill>
              <a:srgbClr val="E3E8EB"/>
            </a:solidFill>
            <a:prstDash val="solid"/>
          </a:ln>
        </p:spPr>
      </p:sp>
      <p:sp>
        <p:nvSpPr>
          <p:cNvPr id="8" name="Shape 6"/>
          <p:cNvSpPr/>
          <p:nvPr/>
        </p:nvSpPr>
        <p:spPr>
          <a:xfrm>
            <a:off x="713232" y="1920240"/>
            <a:ext cx="50292" cy="640080"/>
          </a:xfrm>
          <a:prstGeom prst="rect">
            <a:avLst/>
          </a:prstGeom>
          <a:solidFill>
            <a:srgbClr val="0078D4"/>
          </a:solidFill>
          <a:ln/>
        </p:spPr>
      </p:sp>
      <p:sp>
        <p:nvSpPr>
          <p:cNvPr id="9" name="Text 7"/>
          <p:cNvSpPr txBox="1"/>
          <p:nvPr/>
        </p:nvSpPr>
        <p:spPr>
          <a:xfrm>
            <a:off x="932688" y="2002536"/>
            <a:ext cx="393192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Billing rates and management</a:t>
            </a:r>
            <a:endParaRPr lang="en-US" sz="1100" dirty="0"/>
          </a:p>
        </p:txBody>
      </p:sp>
      <p:sp>
        <p:nvSpPr>
          <p:cNvPr id="10" name="Text 8"/>
          <p:cNvSpPr txBox="1"/>
          <p:nvPr/>
        </p:nvSpPr>
        <p:spPr>
          <a:xfrm>
            <a:off x="932688" y="2249424"/>
            <a:ext cx="3931920" cy="219456"/>
          </a:xfrm>
          <a:prstGeom prst="rect">
            <a:avLst/>
          </a:prstGeom>
          <a:noFill/>
          <a:ln/>
        </p:spPr>
        <p:txBody>
          <a:bodyPr wrap="square" lIns="0" tIns="0" rIns="0" bIns="0" rtlCol="0" anchor="ctr"/>
          <a:lstStyle/>
          <a:p>
            <a:pPr indent="0" marL="0">
              <a:buNone/>
            </a:pPr>
            <a:r>
              <a:rPr lang="en-US" sz="800" dirty="0">
                <a:solidFill>
                  <a:srgbClr val="0078D4"/>
                </a:solidFill>
                <a:latin typeface="Segoe Sans Display" pitchFamily="34" charset="0"/>
                <a:ea typeface="Segoe Sans Display" pitchFamily="34" charset="-122"/>
                <a:cs typeface="Segoe Sans Display" pitchFamily="34" charset="-120"/>
              </a:rPr>
              <a:t>learn.microsoft.com/microsoft-copilot-studio/requirements-messages-management</a:t>
            </a:r>
            <a:endParaRPr lang="en-US" sz="800" dirty="0"/>
          </a:p>
        </p:txBody>
      </p:sp>
      <p:sp>
        <p:nvSpPr>
          <p:cNvPr id="11" name="Text 9"/>
          <p:cNvSpPr txBox="1"/>
          <p:nvPr/>
        </p:nvSpPr>
        <p:spPr>
          <a:xfrm>
            <a:off x="5074920" y="2103120"/>
            <a:ext cx="5669280" cy="365760"/>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The rate card, the four-action worked example, footnotes 1 and 4, and the enforcement policy covering autonomously triggered usage.</a:t>
            </a:r>
            <a:endParaRPr lang="en-US" sz="950" dirty="0"/>
          </a:p>
        </p:txBody>
      </p:sp>
      <p:sp>
        <p:nvSpPr>
          <p:cNvPr id="12" name="Shape 10"/>
          <p:cNvSpPr/>
          <p:nvPr/>
        </p:nvSpPr>
        <p:spPr>
          <a:xfrm>
            <a:off x="713232" y="2633472"/>
            <a:ext cx="10250424" cy="640080"/>
          </a:xfrm>
          <a:prstGeom prst="rect">
            <a:avLst/>
          </a:prstGeom>
          <a:solidFill>
            <a:srgbClr val="FFF8F5"/>
          </a:solidFill>
          <a:ln w="12700">
            <a:solidFill>
              <a:srgbClr val="E3E8EB"/>
            </a:solidFill>
            <a:prstDash val="solid"/>
          </a:ln>
        </p:spPr>
      </p:sp>
      <p:sp>
        <p:nvSpPr>
          <p:cNvPr id="13" name="Shape 11"/>
          <p:cNvSpPr/>
          <p:nvPr/>
        </p:nvSpPr>
        <p:spPr>
          <a:xfrm>
            <a:off x="713232" y="2633472"/>
            <a:ext cx="50292" cy="640080"/>
          </a:xfrm>
          <a:prstGeom prst="rect">
            <a:avLst/>
          </a:prstGeom>
          <a:solidFill>
            <a:srgbClr val="0078D4"/>
          </a:solidFill>
          <a:ln/>
        </p:spPr>
      </p:sp>
      <p:sp>
        <p:nvSpPr>
          <p:cNvPr id="14" name="Text 12"/>
          <p:cNvSpPr txBox="1"/>
          <p:nvPr/>
        </p:nvSpPr>
        <p:spPr>
          <a:xfrm>
            <a:off x="932688" y="2715768"/>
            <a:ext cx="393192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Choose a harness</a:t>
            </a:r>
            <a:endParaRPr lang="en-US" sz="1100" dirty="0"/>
          </a:p>
        </p:txBody>
      </p:sp>
      <p:sp>
        <p:nvSpPr>
          <p:cNvPr id="15" name="Text 13"/>
          <p:cNvSpPr txBox="1"/>
          <p:nvPr/>
        </p:nvSpPr>
        <p:spPr>
          <a:xfrm>
            <a:off x="932688" y="2962656"/>
            <a:ext cx="3931920" cy="219456"/>
          </a:xfrm>
          <a:prstGeom prst="rect">
            <a:avLst/>
          </a:prstGeom>
          <a:noFill/>
          <a:ln/>
        </p:spPr>
        <p:txBody>
          <a:bodyPr wrap="square" lIns="0" tIns="0" rIns="0" bIns="0" rtlCol="0" anchor="ctr"/>
          <a:lstStyle/>
          <a:p>
            <a:pPr indent="0" marL="0">
              <a:buNone/>
            </a:pPr>
            <a:r>
              <a:rPr lang="en-US" sz="800" dirty="0">
                <a:solidFill>
                  <a:srgbClr val="0078D4"/>
                </a:solidFill>
                <a:latin typeface="Segoe Sans Display" pitchFamily="34" charset="0"/>
                <a:ea typeface="Segoe Sans Display" pitchFamily="34" charset="-122"/>
                <a:cs typeface="Segoe Sans Display" pitchFamily="34" charset="-120"/>
              </a:rPr>
              <a:t>learn.microsoft.com/microsoft-copilot-studio/harnesses-overview</a:t>
            </a:r>
            <a:endParaRPr lang="en-US" sz="800" dirty="0"/>
          </a:p>
        </p:txBody>
      </p:sp>
      <p:sp>
        <p:nvSpPr>
          <p:cNvPr id="16" name="Text 14"/>
          <p:cNvSpPr txBox="1"/>
          <p:nvPr/>
        </p:nvSpPr>
        <p:spPr>
          <a:xfrm>
            <a:off x="5074920" y="2816352"/>
            <a:ext cx="5669280" cy="365760"/>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The definition of a harness and the capability comparison across all three.</a:t>
            </a:r>
            <a:endParaRPr lang="en-US" sz="950" dirty="0"/>
          </a:p>
        </p:txBody>
      </p:sp>
      <p:sp>
        <p:nvSpPr>
          <p:cNvPr id="17" name="Shape 15"/>
          <p:cNvSpPr/>
          <p:nvPr/>
        </p:nvSpPr>
        <p:spPr>
          <a:xfrm>
            <a:off x="713232" y="3346704"/>
            <a:ext cx="10250424" cy="640080"/>
          </a:xfrm>
          <a:prstGeom prst="rect">
            <a:avLst/>
          </a:prstGeom>
          <a:solidFill>
            <a:srgbClr val="FFFFFF"/>
          </a:solidFill>
          <a:ln w="12700">
            <a:solidFill>
              <a:srgbClr val="E3E8EB"/>
            </a:solidFill>
            <a:prstDash val="solid"/>
          </a:ln>
        </p:spPr>
      </p:sp>
      <p:sp>
        <p:nvSpPr>
          <p:cNvPr id="18" name="Shape 16"/>
          <p:cNvSpPr/>
          <p:nvPr/>
        </p:nvSpPr>
        <p:spPr>
          <a:xfrm>
            <a:off x="713232" y="3346704"/>
            <a:ext cx="50292" cy="640080"/>
          </a:xfrm>
          <a:prstGeom prst="rect">
            <a:avLst/>
          </a:prstGeom>
          <a:solidFill>
            <a:srgbClr val="0078D4"/>
          </a:solidFill>
          <a:ln/>
        </p:spPr>
      </p:sp>
      <p:sp>
        <p:nvSpPr>
          <p:cNvPr id="19" name="Text 17"/>
          <p:cNvSpPr txBox="1"/>
          <p:nvPr/>
        </p:nvSpPr>
        <p:spPr>
          <a:xfrm>
            <a:off x="932688" y="3429000"/>
            <a:ext cx="393192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Standard harness licensing</a:t>
            </a:r>
            <a:endParaRPr lang="en-US" sz="1100" dirty="0"/>
          </a:p>
        </p:txBody>
      </p:sp>
      <p:sp>
        <p:nvSpPr>
          <p:cNvPr id="20" name="Text 18"/>
          <p:cNvSpPr txBox="1"/>
          <p:nvPr/>
        </p:nvSpPr>
        <p:spPr>
          <a:xfrm>
            <a:off x="932688" y="3675888"/>
            <a:ext cx="3931920" cy="219456"/>
          </a:xfrm>
          <a:prstGeom prst="rect">
            <a:avLst/>
          </a:prstGeom>
          <a:noFill/>
          <a:ln/>
        </p:spPr>
        <p:txBody>
          <a:bodyPr wrap="square" lIns="0" tIns="0" rIns="0" bIns="0" rtlCol="0" anchor="ctr"/>
          <a:lstStyle/>
          <a:p>
            <a:pPr indent="0" marL="0">
              <a:buNone/>
            </a:pPr>
            <a:r>
              <a:rPr lang="en-US" sz="800" dirty="0">
                <a:solidFill>
                  <a:srgbClr val="0078D4"/>
                </a:solidFill>
                <a:latin typeface="Segoe Sans Display" pitchFamily="34" charset="0"/>
                <a:ea typeface="Segoe Sans Display" pitchFamily="34" charset="-122"/>
                <a:cs typeface="Segoe Sans Display" pitchFamily="34" charset="-120"/>
              </a:rPr>
              <a:t>learn.microsoft.com/microsoft-copilot-studio/billing-licensing</a:t>
            </a:r>
            <a:endParaRPr lang="en-US" sz="800" dirty="0"/>
          </a:p>
        </p:txBody>
      </p:sp>
      <p:sp>
        <p:nvSpPr>
          <p:cNvPr id="21" name="Text 19"/>
          <p:cNvSpPr txBox="1"/>
          <p:nvPr/>
        </p:nvSpPr>
        <p:spPr>
          <a:xfrm>
            <a:off x="5074920" y="3529584"/>
            <a:ext cx="5669280" cy="365760"/>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Licence paths, credit mechanics and capacity enforcement.</a:t>
            </a:r>
            <a:endParaRPr lang="en-US" sz="950" dirty="0"/>
          </a:p>
        </p:txBody>
      </p:sp>
      <p:sp>
        <p:nvSpPr>
          <p:cNvPr id="22" name="Shape 20"/>
          <p:cNvSpPr/>
          <p:nvPr/>
        </p:nvSpPr>
        <p:spPr>
          <a:xfrm>
            <a:off x="713232" y="4059936"/>
            <a:ext cx="10250424" cy="640080"/>
          </a:xfrm>
          <a:prstGeom prst="rect">
            <a:avLst/>
          </a:prstGeom>
          <a:solidFill>
            <a:srgbClr val="FFF8F5"/>
          </a:solidFill>
          <a:ln w="12700">
            <a:solidFill>
              <a:srgbClr val="E3E8EB"/>
            </a:solidFill>
            <a:prstDash val="solid"/>
          </a:ln>
        </p:spPr>
      </p:sp>
      <p:sp>
        <p:nvSpPr>
          <p:cNvPr id="23" name="Shape 21"/>
          <p:cNvSpPr/>
          <p:nvPr/>
        </p:nvSpPr>
        <p:spPr>
          <a:xfrm>
            <a:off x="713232" y="4059936"/>
            <a:ext cx="50292" cy="640080"/>
          </a:xfrm>
          <a:prstGeom prst="rect">
            <a:avLst/>
          </a:prstGeom>
          <a:solidFill>
            <a:srgbClr val="0078D4"/>
          </a:solidFill>
          <a:ln/>
        </p:spPr>
      </p:sp>
      <p:sp>
        <p:nvSpPr>
          <p:cNvPr id="24" name="Text 22"/>
          <p:cNvSpPr txBox="1"/>
          <p:nvPr/>
        </p:nvSpPr>
        <p:spPr>
          <a:xfrm>
            <a:off x="932688" y="4142232"/>
            <a:ext cx="393192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FAQ for billing and licensing</a:t>
            </a:r>
            <a:endParaRPr lang="en-US" sz="1100" dirty="0"/>
          </a:p>
        </p:txBody>
      </p:sp>
      <p:sp>
        <p:nvSpPr>
          <p:cNvPr id="25" name="Text 23"/>
          <p:cNvSpPr txBox="1"/>
          <p:nvPr/>
        </p:nvSpPr>
        <p:spPr>
          <a:xfrm>
            <a:off x="932688" y="4389120"/>
            <a:ext cx="3931920" cy="219456"/>
          </a:xfrm>
          <a:prstGeom prst="rect">
            <a:avLst/>
          </a:prstGeom>
          <a:noFill/>
          <a:ln/>
        </p:spPr>
        <p:txBody>
          <a:bodyPr wrap="square" lIns="0" tIns="0" rIns="0" bIns="0" rtlCol="0" anchor="ctr"/>
          <a:lstStyle/>
          <a:p>
            <a:pPr indent="0" marL="0">
              <a:buNone/>
            </a:pPr>
            <a:r>
              <a:rPr lang="en-US" sz="800" dirty="0">
                <a:solidFill>
                  <a:srgbClr val="0078D4"/>
                </a:solidFill>
                <a:latin typeface="Segoe Sans Display" pitchFamily="34" charset="0"/>
                <a:ea typeface="Segoe Sans Display" pitchFamily="34" charset="-122"/>
                <a:cs typeface="Segoe Sans Display" pitchFamily="34" charset="-120"/>
              </a:rPr>
              <a:t>learn.microsoft.com/microsoft-copilot-studio/faq-billing-licensing</a:t>
            </a:r>
            <a:endParaRPr lang="en-US" sz="800" dirty="0"/>
          </a:p>
        </p:txBody>
      </p:sp>
      <p:sp>
        <p:nvSpPr>
          <p:cNvPr id="26" name="Text 24"/>
          <p:cNvSpPr txBox="1"/>
          <p:nvPr/>
        </p:nvSpPr>
        <p:spPr>
          <a:xfrm>
            <a:off x="5074920" y="4242816"/>
            <a:ext cx="5669280" cy="365760"/>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Proactive greetings, Teams-channel nuances and publishing prerequisites.</a:t>
            </a:r>
            <a:endParaRPr lang="en-US" sz="950" dirty="0"/>
          </a:p>
        </p:txBody>
      </p:sp>
      <p:sp>
        <p:nvSpPr>
          <p:cNvPr id="27" name="Shape 25"/>
          <p:cNvSpPr/>
          <p:nvPr/>
        </p:nvSpPr>
        <p:spPr>
          <a:xfrm>
            <a:off x="713232" y="4773168"/>
            <a:ext cx="10250424" cy="640080"/>
          </a:xfrm>
          <a:prstGeom prst="rect">
            <a:avLst/>
          </a:prstGeom>
          <a:solidFill>
            <a:srgbClr val="FFFFFF"/>
          </a:solidFill>
          <a:ln w="12700">
            <a:solidFill>
              <a:srgbClr val="E3E8EB"/>
            </a:solidFill>
            <a:prstDash val="solid"/>
          </a:ln>
        </p:spPr>
      </p:sp>
      <p:sp>
        <p:nvSpPr>
          <p:cNvPr id="28" name="Shape 26"/>
          <p:cNvSpPr/>
          <p:nvPr/>
        </p:nvSpPr>
        <p:spPr>
          <a:xfrm>
            <a:off x="713232" y="4773168"/>
            <a:ext cx="50292" cy="640080"/>
          </a:xfrm>
          <a:prstGeom prst="rect">
            <a:avLst/>
          </a:prstGeom>
          <a:solidFill>
            <a:srgbClr val="0078D4"/>
          </a:solidFill>
          <a:ln/>
        </p:spPr>
      </p:sp>
      <p:sp>
        <p:nvSpPr>
          <p:cNvPr id="29" name="Text 27"/>
          <p:cNvSpPr txBox="1"/>
          <p:nvPr/>
        </p:nvSpPr>
        <p:spPr>
          <a:xfrm>
            <a:off x="932688" y="4855464"/>
            <a:ext cx="393192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Usage-based billing overview</a:t>
            </a:r>
            <a:endParaRPr lang="en-US" sz="1100" dirty="0"/>
          </a:p>
        </p:txBody>
      </p:sp>
      <p:sp>
        <p:nvSpPr>
          <p:cNvPr id="30" name="Text 28"/>
          <p:cNvSpPr txBox="1"/>
          <p:nvPr/>
        </p:nvSpPr>
        <p:spPr>
          <a:xfrm>
            <a:off x="932688" y="5102352"/>
            <a:ext cx="3931920" cy="219456"/>
          </a:xfrm>
          <a:prstGeom prst="rect">
            <a:avLst/>
          </a:prstGeom>
          <a:noFill/>
          <a:ln/>
        </p:spPr>
        <p:txBody>
          <a:bodyPr wrap="square" lIns="0" tIns="0" rIns="0" bIns="0" rtlCol="0" anchor="ctr"/>
          <a:lstStyle/>
          <a:p>
            <a:pPr indent="0" marL="0">
              <a:buNone/>
            </a:pPr>
            <a:r>
              <a:rPr lang="en-US" sz="800" dirty="0">
                <a:solidFill>
                  <a:srgbClr val="0078D4"/>
                </a:solidFill>
                <a:latin typeface="Segoe Sans Display" pitchFamily="34" charset="0"/>
                <a:ea typeface="Segoe Sans Display" pitchFamily="34" charset="-122"/>
                <a:cs typeface="Segoe Sans Display" pitchFamily="34" charset="-120"/>
              </a:rPr>
              <a:t>learn.microsoft.com/microsoft-copilot-studio/agents-experience/billing-credit-overview</a:t>
            </a:r>
            <a:endParaRPr lang="en-US" sz="800" dirty="0"/>
          </a:p>
        </p:txBody>
      </p:sp>
      <p:sp>
        <p:nvSpPr>
          <p:cNvPr id="31" name="Text 29"/>
          <p:cNvSpPr txBox="1"/>
          <p:nvPr/>
        </p:nvSpPr>
        <p:spPr>
          <a:xfrm>
            <a:off x="5074920" y="4956048"/>
            <a:ext cx="5669280" cy="365760"/>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Why the GitHub Copilot harness bills from the first build action.</a:t>
            </a:r>
            <a:endParaRPr lang="en-US" sz="950" dirty="0"/>
          </a:p>
        </p:txBody>
      </p:sp>
      <p:sp>
        <p:nvSpPr>
          <p:cNvPr id="32" name="Shape 30"/>
          <p:cNvSpPr/>
          <p:nvPr/>
        </p:nvSpPr>
        <p:spPr>
          <a:xfrm>
            <a:off x="713232" y="5486400"/>
            <a:ext cx="10250424" cy="640080"/>
          </a:xfrm>
          <a:prstGeom prst="rect">
            <a:avLst/>
          </a:prstGeom>
          <a:solidFill>
            <a:srgbClr val="FFF8F5"/>
          </a:solidFill>
          <a:ln w="12700">
            <a:solidFill>
              <a:srgbClr val="E3E8EB"/>
            </a:solidFill>
            <a:prstDash val="solid"/>
          </a:ln>
        </p:spPr>
      </p:sp>
      <p:sp>
        <p:nvSpPr>
          <p:cNvPr id="33" name="Shape 31"/>
          <p:cNvSpPr/>
          <p:nvPr/>
        </p:nvSpPr>
        <p:spPr>
          <a:xfrm>
            <a:off x="713232" y="5486400"/>
            <a:ext cx="50292" cy="640080"/>
          </a:xfrm>
          <a:prstGeom prst="rect">
            <a:avLst/>
          </a:prstGeom>
          <a:solidFill>
            <a:srgbClr val="0078D4"/>
          </a:solidFill>
          <a:ln/>
        </p:spPr>
      </p:sp>
      <p:sp>
        <p:nvSpPr>
          <p:cNvPr id="34" name="Text 32"/>
          <p:cNvSpPr txBox="1"/>
          <p:nvPr/>
        </p:nvSpPr>
        <p:spPr>
          <a:xfrm>
            <a:off x="932688" y="5568696"/>
            <a:ext cx="3931920" cy="219456"/>
          </a:xfrm>
          <a:prstGeom prst="rect">
            <a:avLst/>
          </a:prstGeom>
          <a:noFill/>
          <a:ln/>
        </p:spPr>
        <p:txBody>
          <a:bodyPr wrap="square" lIns="0" tIns="0" rIns="0" bIns="0" rtlCol="0" anchor="ctr"/>
          <a:lstStyle/>
          <a:p>
            <a:pPr indent="0" marL="0">
              <a:buNone/>
            </a:pPr>
            <a:r>
              <a:rPr lang="en-US" sz="1100" b="1" dirty="0">
                <a:solidFill>
                  <a:srgbClr val="091F2C"/>
                </a:solidFill>
                <a:latin typeface="Segoe Sans Display Semibold" pitchFamily="34" charset="0"/>
                <a:ea typeface="Segoe Sans Display Semibold" pitchFamily="34" charset="-122"/>
                <a:cs typeface="Segoe Sans Display Semibold" pitchFamily="34" charset="-120"/>
              </a:rPr>
              <a:t>Copilot Studio Licensing Guide, August 2026</a:t>
            </a:r>
            <a:endParaRPr lang="en-US" sz="1100" dirty="0"/>
          </a:p>
        </p:txBody>
      </p:sp>
      <p:sp>
        <p:nvSpPr>
          <p:cNvPr id="35" name="Text 33"/>
          <p:cNvSpPr txBox="1"/>
          <p:nvPr/>
        </p:nvSpPr>
        <p:spPr>
          <a:xfrm>
            <a:off x="932688" y="5815584"/>
            <a:ext cx="3931920" cy="219456"/>
          </a:xfrm>
          <a:prstGeom prst="rect">
            <a:avLst/>
          </a:prstGeom>
          <a:noFill/>
          <a:ln/>
        </p:spPr>
        <p:txBody>
          <a:bodyPr wrap="square" lIns="0" tIns="0" rIns="0" bIns="0" rtlCol="0" anchor="ctr"/>
          <a:lstStyle/>
          <a:p>
            <a:pPr indent="0" marL="0">
              <a:buNone/>
            </a:pPr>
            <a:r>
              <a:rPr lang="en-US" sz="800" dirty="0">
                <a:solidFill>
                  <a:srgbClr val="0078D4"/>
                </a:solidFill>
                <a:latin typeface="Segoe Sans Display" pitchFamily="34" charset="0"/>
                <a:ea typeface="Segoe Sans Display" pitchFamily="34" charset="-122"/>
                <a:cs typeface="Segoe Sans Display" pitchFamily="34" charset="-120"/>
              </a:rPr>
              <a:t>go.microsoft.com/fwlink/?linkid=2320995</a:t>
            </a:r>
            <a:endParaRPr lang="en-US" sz="800" dirty="0"/>
          </a:p>
        </p:txBody>
      </p:sp>
      <p:sp>
        <p:nvSpPr>
          <p:cNvPr id="36" name="Text 34"/>
          <p:cNvSpPr txBox="1"/>
          <p:nvPr/>
        </p:nvSpPr>
        <p:spPr>
          <a:xfrm>
            <a:off x="5074920" y="5669280"/>
            <a:ext cx="5669280" cy="365760"/>
          </a:xfrm>
          <a:prstGeom prst="rect">
            <a:avLst/>
          </a:prstGeom>
          <a:noFill/>
          <a:ln/>
        </p:spPr>
        <p:txBody>
          <a:bodyPr wrap="square" lIns="0" tIns="0" rIns="0" bIns="0" rtlCol="0" anchor="ctr"/>
          <a:lstStyle/>
          <a:p>
            <a:pPr indent="0" marL="0">
              <a:buNone/>
            </a:pPr>
            <a:r>
              <a:rPr lang="en-US" sz="950" dirty="0">
                <a:solidFill>
                  <a:srgbClr val="3B4A54"/>
                </a:solidFill>
                <a:latin typeface="Segoe Sans Display" pitchFamily="34" charset="0"/>
                <a:ea typeface="Segoe Sans Display" pitchFamily="34" charset="-122"/>
                <a:cs typeface="Segoe Sans Display" pitchFamily="34" charset="-120"/>
              </a:rPr>
              <a:t>The authoritative billing matrix across all three harnesses.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31720"/>
            <a:ext cx="7315200" cy="822960"/>
          </a:xfrm>
          <a:prstGeom prst="rect">
            <a:avLst/>
          </a:prstGeom>
          <a:noFill/>
          <a:ln/>
        </p:spPr>
        <p:txBody>
          <a:bodyPr wrap="square" lIns="0" tIns="0" rIns="0" bIns="0" rtlCol="0" anchor="ctr"/>
          <a:lstStyle/>
          <a:p>
            <a:pPr indent="0" marL="0">
              <a:buNone/>
            </a:pPr>
            <a:r>
              <a:rPr lang="en-US" sz="4400" b="1" dirty="0">
                <a:solidFill>
                  <a:srgbClr val="0078D4"/>
                </a:solidFill>
                <a:latin typeface="Segoe Sans Display Semibold" pitchFamily="34" charset="0"/>
                <a:ea typeface="Segoe Sans Display Semibold" pitchFamily="34" charset="-122"/>
                <a:cs typeface="Segoe Sans Display Semibold" pitchFamily="34" charset="-120"/>
              </a:rPr>
              <a:t>Questions</a:t>
            </a:r>
            <a:endParaRPr lang="en-US" sz="4400" dirty="0"/>
          </a:p>
        </p:txBody>
      </p:sp>
      <p:sp>
        <p:nvSpPr>
          <p:cNvPr id="3" name="Shape 1"/>
          <p:cNvSpPr/>
          <p:nvPr/>
        </p:nvSpPr>
        <p:spPr>
          <a:xfrm>
            <a:off x="749808" y="3401568"/>
            <a:ext cx="50292" cy="1234440"/>
          </a:xfrm>
          <a:prstGeom prst="rect">
            <a:avLst/>
          </a:prstGeom>
          <a:solidFill>
            <a:srgbClr val="FF5C39"/>
          </a:solidFill>
          <a:ln/>
        </p:spPr>
      </p:sp>
      <p:sp>
        <p:nvSpPr>
          <p:cNvPr id="4" name="Text 2"/>
          <p:cNvSpPr txBox="1"/>
          <p:nvPr/>
        </p:nvSpPr>
        <p:spPr>
          <a:xfrm>
            <a:off x="1024128" y="3429000"/>
            <a:ext cx="7772400" cy="1188720"/>
          </a:xfrm>
          <a:prstGeom prst="rect">
            <a:avLst/>
          </a:prstGeom>
          <a:noFill/>
          <a:ln/>
        </p:spPr>
        <p:txBody>
          <a:bodyPr wrap="square" lIns="0" tIns="0" rIns="0" bIns="0" rtlCol="0" anchor="ctr"/>
          <a:lstStyle/>
          <a:p>
            <a:pPr indent="0" marL="0">
              <a:lnSpc>
                <a:spcPts val="2200"/>
              </a:lnSpc>
              <a:buNone/>
            </a:pPr>
            <a:r>
              <a:rPr lang="en-US" sz="1300" dirty="0">
                <a:solidFill>
                  <a:srgbClr val="091F2C"/>
                </a:solidFill>
                <a:latin typeface="Segoe Sans Display" pitchFamily="34" charset="0"/>
                <a:ea typeface="Segoe Sans Display" pitchFamily="34" charset="-122"/>
                <a:cs typeface="Segoe Sans Display" pitchFamily="34" charset="-120"/>
              </a:rPr>
              <a:t>Choose the harness before you build — it cannot be changed afterwards.</a:t>
            </a:r>
            <a:endParaRPr lang="en-US" sz="1300" dirty="0"/>
          </a:p>
          <a:p>
            <a:pPr indent="0" marL="0">
              <a:lnSpc>
                <a:spcPts val="2200"/>
              </a:lnSpc>
              <a:buNone/>
            </a:pPr>
            <a:r>
              <a:rPr lang="en-US" sz="1300" dirty="0">
                <a:solidFill>
                  <a:srgbClr val="091F2C"/>
                </a:solidFill>
                <a:latin typeface="Segoe Sans Display" pitchFamily="34" charset="0"/>
                <a:ea typeface="Segoe Sans Display" pitchFamily="34" charset="-122"/>
                <a:cs typeface="Segoe Sans Display" pitchFamily="34" charset="-120"/>
              </a:rPr>
              <a:t>And remember what the licence actually covers: a licensed person, on a Microsoft surface, driving the agent themselves.</a:t>
            </a:r>
            <a:endParaRPr lang="en-US" sz="1300" dirty="0"/>
          </a:p>
          <a:p>
            <a:pPr indent="0" marL="0">
              <a:lnSpc>
                <a:spcPts val="2200"/>
              </a:lnSpc>
              <a:buNone/>
            </a:pPr>
            <a:r>
              <a:rPr lang="en-US" sz="1300" dirty="0">
                <a:solidFill>
                  <a:srgbClr val="091F2C"/>
                </a:solidFill>
                <a:latin typeface="Segoe Sans Display" pitchFamily="34" charset="0"/>
                <a:ea typeface="Segoe Sans Display" pitchFamily="34" charset="-122"/>
                <a:cs typeface="Segoe Sans Display" pitchFamily="34" charset="-120"/>
              </a:rPr>
              <a:t>The moment something else starts the run, you are paying in credits.</a:t>
            </a:r>
            <a:endParaRPr lang="en-US" sz="1300" dirty="0"/>
          </a:p>
        </p:txBody>
      </p:sp>
      <p:sp>
        <p:nvSpPr>
          <p:cNvPr id="5" name="Shape 3"/>
          <p:cNvSpPr/>
          <p:nvPr/>
        </p:nvSpPr>
        <p:spPr>
          <a:xfrm rot="2700000">
            <a:off x="9189720" y="1051560"/>
            <a:ext cx="1600200" cy="1600200"/>
          </a:xfrm>
          <a:prstGeom prst="roundRect">
            <a:avLst>
              <a:gd name="adj" fmla="val 12571"/>
            </a:avLst>
          </a:prstGeom>
          <a:solidFill>
            <a:srgbClr val="F2F4F6"/>
          </a:solidFill>
          <a:ln/>
        </p:spPr>
      </p:sp>
      <p:sp>
        <p:nvSpPr>
          <p:cNvPr id="6" name="Shape 4"/>
          <p:cNvSpPr/>
          <p:nvPr/>
        </p:nvSpPr>
        <p:spPr>
          <a:xfrm rot="2700000">
            <a:off x="10378440" y="2423160"/>
            <a:ext cx="1325880" cy="1325880"/>
          </a:xfrm>
          <a:prstGeom prst="roundRect">
            <a:avLst>
              <a:gd name="adj" fmla="val 15172"/>
            </a:avLst>
          </a:prstGeom>
          <a:solidFill>
            <a:srgbClr val="F7F8F9"/>
          </a:solidFill>
          <a:ln/>
        </p:spPr>
      </p:sp>
      <p:sp>
        <p:nvSpPr>
          <p:cNvPr id="7" name="Shape 5"/>
          <p:cNvSpPr/>
          <p:nvPr/>
        </p:nvSpPr>
        <p:spPr>
          <a:xfrm rot="2700000">
            <a:off x="9098280" y="3611880"/>
            <a:ext cx="1645920" cy="1645920"/>
          </a:xfrm>
          <a:prstGeom prst="roundRect">
            <a:avLst>
              <a:gd name="adj" fmla="val 12222"/>
            </a:avLst>
          </a:prstGeom>
          <a:solidFill>
            <a:srgbClr val="F2F4F6"/>
          </a:solidFill>
          <a:ln/>
        </p:spPr>
      </p:sp>
      <p:sp>
        <p:nvSpPr>
          <p:cNvPr id="8" name="Shape 6"/>
          <p:cNvSpPr/>
          <p:nvPr/>
        </p:nvSpPr>
        <p:spPr>
          <a:xfrm rot="2700000">
            <a:off x="10515600" y="4709160"/>
            <a:ext cx="1371600" cy="1371600"/>
          </a:xfrm>
          <a:prstGeom prst="roundRect">
            <a:avLst>
              <a:gd name="adj" fmla="val 14667"/>
            </a:avLst>
          </a:prstGeom>
          <a:solidFill>
            <a:srgbClr val="F7F8F9"/>
          </a:solidFill>
          <a:ln/>
        </p:spPr>
      </p:sp>
      <p:sp>
        <p:nvSpPr>
          <p:cNvPr id="9" name="Text 7"/>
          <p:cNvSpPr txBox="1"/>
          <p:nvPr/>
        </p:nvSpPr>
        <p:spPr>
          <a:xfrm>
            <a:off x="713232" y="6345936"/>
            <a:ext cx="7315200" cy="219456"/>
          </a:xfrm>
          <a:prstGeom prst="rect">
            <a:avLst/>
          </a:prstGeom>
          <a:noFill/>
          <a:ln/>
        </p:spPr>
        <p:txBody>
          <a:bodyPr wrap="square" lIns="0" tIns="0" rIns="0" bIns="0" rtlCol="0" anchor="ctr"/>
          <a:lstStyle/>
          <a:p>
            <a:pPr indent="0" marL="0">
              <a:buNone/>
            </a:pPr>
            <a:r>
              <a:rPr lang="en-US" sz="800" dirty="0">
                <a:solidFill>
                  <a:srgbClr val="6E7B85"/>
                </a:solidFill>
                <a:latin typeface="Segoe Sans Display" pitchFamily="34" charset="0"/>
                <a:ea typeface="Segoe Sans Display" pitchFamily="34" charset="-122"/>
                <a:cs typeface="Segoe Sans Display" pitchFamily="34" charset="-120"/>
              </a:rPr>
              <a:t>Harnesses, Licensing &amp; Copilot Credits  ·  Vinod Dhanwe</a:t>
            </a:r>
            <a:endParaRPr lang="en-US" sz="800" dirty="0"/>
          </a:p>
        </p:txBody>
      </p:sp>
      <p:sp>
        <p:nvSpPr>
          <p:cNvPr id="10" name="Text 8"/>
          <p:cNvSpPr txBox="1"/>
          <p:nvPr/>
        </p:nvSpPr>
        <p:spPr>
          <a:xfrm>
            <a:off x="10049256" y="6345936"/>
            <a:ext cx="914400" cy="219456"/>
          </a:xfrm>
          <a:prstGeom prst="rect">
            <a:avLst/>
          </a:prstGeom>
          <a:noFill/>
          <a:ln/>
        </p:spPr>
        <p:txBody>
          <a:bodyPr wrap="square" lIns="0" tIns="0" rIns="0" bIns="0" rtlCol="0" anchor="ctr"/>
          <a:lstStyle/>
          <a:p>
            <a:pPr algn="r" indent="0" marL="0">
              <a:buNone/>
            </a:pPr>
            <a:r>
              <a:rPr lang="en-US" sz="800" dirty="0">
                <a:solidFill>
                  <a:srgbClr val="6E7B85"/>
                </a:solidFill>
                <a:latin typeface="Segoe Sans Display" pitchFamily="34" charset="0"/>
                <a:ea typeface="Segoe Sans Display" pitchFamily="34" charset="-122"/>
                <a:cs typeface="Segoe Sans Display"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Snr Solutions Architect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Harnesses, Licensing &amp; Credits</dc:title>
  <dc:subject>PptxGenJS Presentation</dc:subject>
  <dc:creator>Vinod Dhanwe</dc:creator>
  <cp:lastModifiedBy>Vinod Dhanwe</cp:lastModifiedBy>
  <cp:revision>1</cp:revision>
  <dcterms:created xsi:type="dcterms:W3CDTF">2026-08-30T02:20:54Z</dcterms:created>
  <dcterms:modified xsi:type="dcterms:W3CDTF">2026-08-30T02:20:54Z</dcterms:modified>
</cp:coreProperties>
</file>